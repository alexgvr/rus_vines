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_rels/presentation.xml.rels" ContentType="application/vnd.openxmlformats-package.relationships+xml"/>
  <Override PartName="/ppt/media/image31.png" ContentType="image/png"/>
  <Override PartName="/ppt/media/image30.png" ContentType="image/png"/>
  <Override PartName="/ppt/media/image4.png" ContentType="image/png"/>
  <Override PartName="/ppt/media/image2.png" ContentType="image/png"/>
  <Override PartName="/ppt/media/image34.png" ContentType="image/png"/>
  <Override PartName="/ppt/media/image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20.xml.rels" ContentType="application/vnd.openxmlformats-package.relationships+xml"/>
  <Override PartName="/ppt/slides/_rels/slide28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28.xml" ContentType="application/vnd.openxmlformats-officedocument.presentationml.slide+xml"/>
  <Override PartName="/ppt/slides/slide7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</p:sldMasterIdLst>
  <p:notesMasterIdLst>
    <p:notesMasterId r:id="rId25"/>
  </p:notesMasterIdLst>
  <p:sldIdLst>
    <p:sldId id="256" r:id="rId32"/>
    <p:sldId id="257" r:id="rId33"/>
    <p:sldId id="258" r:id="rId34"/>
    <p:sldId id="259" r:id="rId35"/>
    <p:sldId id="260" r:id="rId36"/>
    <p:sldId id="261" r:id="rId43"/>
    <p:sldId id="262" r:id="rId50"/>
    <p:sldId id="263" r:id="rId42"/>
    <p:sldId id="264" r:id="rId47"/>
    <p:sldId id="265" r:id="rId45"/>
    <p:sldId id="266" r:id="rId46"/>
    <p:sldId id="272" r:id="rId65"/>
    <p:sldId id="267" r:id="rId53"/>
    <p:sldId id="268" r:id="rId44"/>
    <p:sldId id="269" r:id="rId49"/>
    <p:sldId id="270" r:id="rId64"/>
    <p:sldId id="271" r:id="rId4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notesMaster" Target="notesMasters/notesMaster1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9" Type="http://schemas.openxmlformats.org/officeDocument/2006/relationships/slide" Target="slides/slide24.xml"/><Relationship Id="rId50" Type="http://schemas.openxmlformats.org/officeDocument/2006/relationships/slide" Target="slides/slide25.xml"/><Relationship Id="rId53" Type="http://schemas.openxmlformats.org/officeDocument/2006/relationships/slide" Target="slides/slide28.xml"/><Relationship Id="rId63" Type="http://schemas.openxmlformats.org/officeDocument/2006/relationships/presProps" Target="presProps.xml"/>
  <Relationship Id="rId64" Type="http://schemas.openxmlformats.org/officeDocument/2006/relationships/slide" Target="slides/slide38.xml"/>
  <Relationship Id="rId65" Type="http://schemas.openxmlformats.org/officeDocument/2006/relationships/slide" Target="slides/slide39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517155021287253"/>
          <c:y val="0.12693219923121"/>
          <c:w val="0.926058101677936"/>
          <c:h val="0.6674572667048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синтетика</c:v>
                </c:pt>
              </c:strCache>
            </c:strRef>
          </c:tx>
          <c:spPr>
            <a:solidFill>
              <a:srgbClr val="ff0053"/>
            </a:solidFill>
            <a:ln w="6336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top-1</c:v>
                </c:pt>
                <c:pt idx="1">
                  <c:v>top-5</c:v>
                </c:pt>
                <c:pt idx="2">
                  <c:v>F1 топ-1</c:v>
                </c:pt>
                <c:pt idx="3">
                  <c:v>F1 топ-5</c:v>
                </c:pt>
              </c:strCache>
            </c:strRef>
          </c:cat>
          <c:val>
            <c:numRef>
              <c:f>0</c:f>
              <c:numCache>
                <c:formatCode>0.0</c:formatCode>
                <c:ptCount val="4"/>
                <c:pt idx="0">
                  <c:v>87.5</c:v>
                </c:pt>
                <c:pt idx="1">
                  <c:v>94.8</c:v>
                </c:pt>
                <c:pt idx="2">
                  <c:v>89.3</c:v>
                </c:pt>
                <c:pt idx="3">
                  <c:v>94.7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съёмка организатора, test</c:v>
                </c:pt>
              </c:strCache>
            </c:strRef>
          </c:tx>
          <c:spPr>
            <a:solidFill>
              <a:srgbClr val="ffd6e3"/>
            </a:solidFill>
            <a:ln w="6336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top-1</c:v>
                </c:pt>
                <c:pt idx="1">
                  <c:v>top-5</c:v>
                </c:pt>
                <c:pt idx="2">
                  <c:v>F1 топ-1</c:v>
                </c:pt>
                <c:pt idx="3">
                  <c:v>F1 топ-5</c:v>
                </c:pt>
              </c:strCache>
            </c:strRef>
          </c:cat>
          <c:val>
            <c:numRef>
              <c:f>1</c:f>
              <c:numCache>
                <c:formatCode>0.0</c:formatCode>
                <c:ptCount val="4"/>
                <c:pt idx="0">
                  <c:v>93.1</c:v>
                </c:pt>
                <c:pt idx="1">
                  <c:v>96.6</c:v>
                </c:pt>
                <c:pt idx="2">
                  <c:v>86.7</c:v>
                </c:pt>
                <c:pt idx="3">
                  <c:v>90.0</c:v>
                </c:pt>
              </c:numCache>
            </c:numRef>
          </c:val>
        </c:ser>
        <c:gapWidth val="100"/>
        <c:overlap val="-20"/>
        <c:axId val="28872704"/>
        <c:axId val="90315484"/>
      </c:barChart>
      <c:catAx>
        <c:axId val="2887270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197" spc="-1" strike="noStrike">
                <a:solidFill>
                  <a:srgbClr val="ffffff"/>
                </a:solidFill>
                <a:latin typeface="Montserrat"/>
              </a:defRPr>
            </a:pPr>
          </a:p>
        </c:txPr>
        <c:crossAx val="90315484"/>
        <c:crosses val="autoZero"/>
        <c:auto val="1"/>
        <c:lblAlgn val="ctr"/>
        <c:lblOffset val="100"/>
        <c:noMultiLvlLbl val="0"/>
      </c:catAx>
      <c:valAx>
        <c:axId val="90315484"/>
        <c:scaling>
          <c:orientation val="minMax"/>
          <c:max val="100"/>
          <c:min val="0"/>
        </c:scaling>
        <c:delete val="0"/>
        <c:axPos val="l"/>
        <c:majorGridlines>
          <c:spPr>
            <a:ln w="9360">
              <a:solidFill>
                <a:srgbClr val="ffffff">
                  <a:alpha val="50000"/>
                </a:srgbClr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sz="1197" spc="-1" strike="noStrike">
                <a:solidFill>
                  <a:srgbClr val="ffffff"/>
                </a:solidFill>
                <a:latin typeface="Montserrat"/>
              </a:defRPr>
            </a:pPr>
          </a:p>
        </c:txPr>
        <c:crossAx val="28872704"/>
        <c:crosses val="autoZero"/>
        <c:crossBetween val="between"/>
        <c:majorUnit val="25"/>
      </c:valAx>
      <c:spPr>
        <a:noFill/>
        <a:ln w="25560">
          <a:noFill/>
        </a:ln>
      </c:spPr>
    </c:plotArea>
    <c:legend>
      <c:legendPos val="b"/>
      <c:layout>
        <c:manualLayout>
          <c:xMode val="edge"/>
          <c:yMode val="edge"/>
          <c:x val="0.030340673321854"/>
          <c:y val="0.938200742857347"/>
          <c:w val="0.947400558394266"/>
          <c:h val="0.0617992571426531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197" spc="-1" strike="noStrike">
              <a:solidFill>
                <a:srgbClr val="ffffff"/>
              </a:solidFill>
              <a:latin typeface="Montserrat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2"/>
          <c:y val="0.12693219923121"/>
          <c:w val="0.72"/>
          <c:h val="0.66745726670483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ffd6e3"/>
            </a:solidFill>
            <a:ln w="63360">
              <a:solidFill>
                <a:srgbClr val="ffd6e3"/>
              </a:solidFill>
              <a:round/>
            </a:ln>
          </c:spPr>
          <c:invertIfNegative val="0"/>
          <c:dPt>
            <c:idx val="0"/>
            <c:invertIfNegative val="0"/>
            <c:spPr>
              <a:solidFill>
                <a:srgbClr val="310F53"/>
              </a:solidFill>
              <a:ln w="63360">
                <a:noFill/>
              </a:ln>
            </c:spPr>
          </c:dPt>
          <c:dPt>
            <c:idx val="1"/>
            <c:invertIfNegative val="0"/>
            <c:spPr>
              <a:solidFill>
                <a:srgbClr val="8a83d1"/>
              </a:solidFill>
              <a:ln w="63360">
                <a:noFill/>
              </a:ln>
            </c:spPr>
          </c:dPt>
          <c:dPt>
            <c:idx val="2"/>
            <c:invertIfNegative val="0"/>
            <c:spPr>
              <a:solidFill>
                <a:srgbClr val="520977"/>
              </a:solidFill>
              <a:ln w="63360">
                <a:noFill/>
              </a:ln>
            </c:spPr>
          </c:dPt>
          <c:dPt>
            <c:idx val="3"/>
            <c:invertIfNegative val="0"/>
            <c:spPr>
              <a:solidFill>
                <a:srgbClr val="ff0053"/>
              </a:solidFill>
              <a:ln w="6336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Montserra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Montserra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Montserra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Montserra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Текст</c:v>
                </c:pt>
                <c:pt idx="1">
                  <c:v>2-й вид</c:v>
                </c:pt>
                <c:pt idx="2">
                  <c:v>Геометрия</c:v>
                </c:pt>
                <c:pt idx="3">
                  <c:v>Детекция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0.8</c:v>
                </c:pt>
                <c:pt idx="1">
                  <c:v>2.4</c:v>
                </c:pt>
                <c:pt idx="2">
                  <c:v>13.6</c:v>
                </c:pt>
                <c:pt idx="3">
                  <c:v>14.8</c:v>
                </c:pt>
              </c:numCache>
            </c:numRef>
          </c:val>
        </c:ser>
        <c:gapWidth val="100"/>
        <c:overlap val="0"/>
        <c:axId val="74712740"/>
        <c:axId val="41068648"/>
      </c:barChart>
      <c:catAx>
        <c:axId val="747127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197" spc="-1" strike="noStrike">
                <a:solidFill>
                  <a:srgbClr val="000000"/>
                </a:solidFill>
                <a:latin typeface="Montserrat"/>
              </a:defRPr>
            </a:pPr>
          </a:p>
        </c:txPr>
        <c:crossAx val="41068648"/>
        <c:crosses val="autoZero"/>
        <c:auto val="1"/>
        <c:lblAlgn val="ctr"/>
        <c:lblOffset val="100"/>
        <c:noMultiLvlLbl val="0"/>
      </c:catAx>
      <c:valAx>
        <c:axId val="41068648"/>
        <c:scaling>
          <c:orientation val="minMax"/>
        </c:scaling>
        <c:delete val="0"/>
        <c:axPos val="l"/>
        <c:majorGridlines>
          <c:spPr>
            <a:ln w="9360">
              <a:solidFill>
                <a:srgbClr val="000000">
                  <a:alpha val="50000"/>
                </a:srgbClr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sz="1197" spc="-1" strike="noStrike">
                <a:solidFill>
                  <a:srgbClr val="000000"/>
                </a:solidFill>
                <a:latin typeface="Montserrat"/>
              </a:defRPr>
            </a:pPr>
          </a:p>
        </c:txPr>
        <c:crossAx val="74712740"/>
        <c:crosses val="autoZero"/>
        <c:crossBetween val="between"/>
        <c:majorUnit val="5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chemeClr val="dk1"/>
                </a:solidFill>
                <a:latin typeface="Montserrat"/>
              </a:rPr>
              <a:t>Для перемещения страницы щёлкните мышью</a:t>
            </a:r>
            <a:endParaRPr b="0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dt" idx="6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 type="ftr" idx="6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6"/>
          <p:cNvSpPr>
            <a:spLocks noGrp="1"/>
          </p:cNvSpPr>
          <p:nvPr>
            <p:ph type="sldNum" idx="6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CB134ED-9F1C-42FF-866D-75C556C897FC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1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418E11-CF96-447A-A358-3EB3AD9F6B64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4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81DCE35-D137-4F38-9099-583DB60CE360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F2B5CB-0F4A-49C1-B235-48FD4141D0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15C998-2E7B-414F-B4B8-5832FB410A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286A8C0-2B3D-4C23-BC9E-2CF4FB0935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89BDB6F-BA15-48D8-8F7C-D267734776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3B12C49-FD59-4EC5-AB72-104FE91470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9573B7D-1F83-4BC0-BFEC-9978D0C0E2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E31DDA9-3FC3-4C7A-BA5F-EEF3989F8C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FF14215-3E8D-4BF8-B9D8-CEA6ACB2B5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B7F5028-F99B-4093-91B0-8E7803F2C9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EA24CAB1-DBE7-4E2D-B1A8-51171B2A0A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13612629-C075-454C-BD83-115C846556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1B9CC28-FA48-49D6-9F41-C87FE973AE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26B881B6-9E52-40B5-B921-0904BCC964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369AAA16-FF47-47CB-A21D-A05682D1DB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1D8CF33B-9141-4A30-B366-EFCD0A19BC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AF1A8A45-2FD2-4C77-BE08-ECB3D762ED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A3B76E2D-32AA-4E62-8668-3156F5FB37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1C55ADD8-0817-4D16-814C-71A9A26A41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87B303EA-C15A-49A8-ABEF-88FE857129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6792120" y="395280"/>
            <a:ext cx="5399640" cy="539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0" y="4323600"/>
            <a:ext cx="8930160" cy="82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578880">
              <a:lnSpc>
                <a:spcPct val="90000"/>
              </a:lnSpc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02800" y="2912040"/>
            <a:ext cx="3386520" cy="108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0" y="5149800"/>
            <a:ext cx="8930160" cy="75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dt" idx="1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2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title"/>
          </p:nvPr>
        </p:nvSpPr>
        <p:spPr>
          <a:xfrm>
            <a:off x="802800" y="3922560"/>
            <a:ext cx="5293080" cy="165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3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BBAB4CD8-992F-44F2-B96D-39882B057F49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2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2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2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dt" idx="4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5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6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C3C64EF-4720-4550-AA7F-59FB037FB443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1873440" y="1222560"/>
            <a:ext cx="386640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1873440" y="179028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body"/>
          </p:nvPr>
        </p:nvSpPr>
        <p:spPr>
          <a:xfrm>
            <a:off x="1854360" y="282672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5" name="PlaceHolder 7"/>
          <p:cNvSpPr>
            <a:spLocks noGrp="1"/>
          </p:cNvSpPr>
          <p:nvPr>
            <p:ph type="body"/>
          </p:nvPr>
        </p:nvSpPr>
        <p:spPr>
          <a:xfrm>
            <a:off x="1854360" y="337428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6" name="PlaceHolder 8"/>
          <p:cNvSpPr>
            <a:spLocks noGrp="1"/>
          </p:cNvSpPr>
          <p:nvPr>
            <p:ph type="body"/>
          </p:nvPr>
        </p:nvSpPr>
        <p:spPr>
          <a:xfrm>
            <a:off x="1854360" y="441072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7" name="PlaceHolder 9"/>
          <p:cNvSpPr>
            <a:spLocks noGrp="1"/>
          </p:cNvSpPr>
          <p:nvPr>
            <p:ph type="body"/>
          </p:nvPr>
        </p:nvSpPr>
        <p:spPr>
          <a:xfrm>
            <a:off x="1854360" y="495864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8" name="PlaceHolder 10"/>
          <p:cNvSpPr>
            <a:spLocks noGrp="1"/>
          </p:cNvSpPr>
          <p:nvPr>
            <p:ph type="body"/>
          </p:nvPr>
        </p:nvSpPr>
        <p:spPr>
          <a:xfrm>
            <a:off x="7546680" y="1222560"/>
            <a:ext cx="386640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9" name="PlaceHolder 11"/>
          <p:cNvSpPr>
            <a:spLocks noGrp="1"/>
          </p:cNvSpPr>
          <p:nvPr>
            <p:ph type="body"/>
          </p:nvPr>
        </p:nvSpPr>
        <p:spPr>
          <a:xfrm>
            <a:off x="7546680" y="179028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0" name="PlaceHolder 12"/>
          <p:cNvSpPr>
            <a:spLocks noGrp="1"/>
          </p:cNvSpPr>
          <p:nvPr>
            <p:ph type="body"/>
          </p:nvPr>
        </p:nvSpPr>
        <p:spPr>
          <a:xfrm>
            <a:off x="7527240" y="282672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1" name="PlaceHolder 13"/>
          <p:cNvSpPr>
            <a:spLocks noGrp="1"/>
          </p:cNvSpPr>
          <p:nvPr>
            <p:ph type="body"/>
          </p:nvPr>
        </p:nvSpPr>
        <p:spPr>
          <a:xfrm>
            <a:off x="7527240" y="337428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2" name="PlaceHolder 14"/>
          <p:cNvSpPr>
            <a:spLocks noGrp="1"/>
          </p:cNvSpPr>
          <p:nvPr>
            <p:ph type="body"/>
          </p:nvPr>
        </p:nvSpPr>
        <p:spPr>
          <a:xfrm>
            <a:off x="7527240" y="441072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3" name="PlaceHolder 15"/>
          <p:cNvSpPr>
            <a:spLocks noGrp="1"/>
          </p:cNvSpPr>
          <p:nvPr>
            <p:ph type="body"/>
          </p:nvPr>
        </p:nvSpPr>
        <p:spPr>
          <a:xfrm>
            <a:off x="7527240" y="495864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4" name="PlaceHolder 16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5" name="PlaceHolder 17"/>
          <p:cNvSpPr>
            <a:spLocks noGrp="1"/>
          </p:cNvSpPr>
          <p:nvPr>
            <p:ph type="body"/>
          </p:nvPr>
        </p:nvSpPr>
        <p:spPr>
          <a:xfrm>
            <a:off x="778320" y="1188000"/>
            <a:ext cx="77076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6" name="PlaceHolder 18"/>
          <p:cNvSpPr>
            <a:spLocks noGrp="1"/>
          </p:cNvSpPr>
          <p:nvPr>
            <p:ph type="body"/>
          </p:nvPr>
        </p:nvSpPr>
        <p:spPr>
          <a:xfrm>
            <a:off x="759240" y="279180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7" name="PlaceHolder 19"/>
          <p:cNvSpPr>
            <a:spLocks noGrp="1"/>
          </p:cNvSpPr>
          <p:nvPr>
            <p:ph type="body"/>
          </p:nvPr>
        </p:nvSpPr>
        <p:spPr>
          <a:xfrm>
            <a:off x="759240" y="437616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8" name="PlaceHolder 20"/>
          <p:cNvSpPr>
            <a:spLocks noGrp="1"/>
          </p:cNvSpPr>
          <p:nvPr>
            <p:ph type="body"/>
          </p:nvPr>
        </p:nvSpPr>
        <p:spPr>
          <a:xfrm>
            <a:off x="6451560" y="1188000"/>
            <a:ext cx="77076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29" name="PlaceHolder 21"/>
          <p:cNvSpPr>
            <a:spLocks noGrp="1"/>
          </p:cNvSpPr>
          <p:nvPr>
            <p:ph type="body"/>
          </p:nvPr>
        </p:nvSpPr>
        <p:spPr>
          <a:xfrm>
            <a:off x="6432120" y="279180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30" name="PlaceHolder 22"/>
          <p:cNvSpPr>
            <a:spLocks noGrp="1"/>
          </p:cNvSpPr>
          <p:nvPr>
            <p:ph type="body"/>
          </p:nvPr>
        </p:nvSpPr>
        <p:spPr>
          <a:xfrm>
            <a:off x="6432120" y="437616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dt" idx="7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8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9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8CD99B1A-7EA1-4B4D-8D4A-D9EEEE69F5EF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37260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7440120" y="1015920"/>
            <a:ext cx="4405320" cy="307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7440120" y="4389120"/>
            <a:ext cx="4405320" cy="181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345960" y="3223800"/>
            <a:ext cx="6805800" cy="297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body"/>
          </p:nvPr>
        </p:nvSpPr>
        <p:spPr>
          <a:xfrm>
            <a:off x="345960" y="1015920"/>
            <a:ext cx="6805800" cy="20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dt" idx="10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11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title"/>
          </p:nvPr>
        </p:nvSpPr>
        <p:spPr>
          <a:xfrm>
            <a:off x="36108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1994400" y="2973600"/>
            <a:ext cx="2190600" cy="91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662880" y="158796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6662880" y="244512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body"/>
          </p:nvPr>
        </p:nvSpPr>
        <p:spPr>
          <a:xfrm>
            <a:off x="6662880" y="330228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46" name="PlaceHolder 8"/>
          <p:cNvSpPr>
            <a:spLocks noGrp="1"/>
          </p:cNvSpPr>
          <p:nvPr>
            <p:ph type="body"/>
          </p:nvPr>
        </p:nvSpPr>
        <p:spPr>
          <a:xfrm>
            <a:off x="6662880" y="415908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47" name="PlaceHolder 9"/>
          <p:cNvSpPr>
            <a:spLocks noGrp="1"/>
          </p:cNvSpPr>
          <p:nvPr>
            <p:ph type="body"/>
          </p:nvPr>
        </p:nvSpPr>
        <p:spPr>
          <a:xfrm>
            <a:off x="6662880" y="501624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12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13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14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64E40B7-6488-4FF6-8B8C-95F3B784EBFD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36108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52" name="Текст 35"/>
          <p:cNvSpPr/>
          <p:nvPr/>
        </p:nvSpPr>
        <p:spPr>
          <a:xfrm>
            <a:off x="6683040" y="1026720"/>
            <a:ext cx="4789800" cy="16149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6683040" y="1626840"/>
            <a:ext cx="4789800" cy="101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54" name="Текст 35"/>
          <p:cNvSpPr/>
          <p:nvPr/>
        </p:nvSpPr>
        <p:spPr>
          <a:xfrm>
            <a:off x="6683040" y="2807640"/>
            <a:ext cx="4789800" cy="16149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body"/>
          </p:nvPr>
        </p:nvSpPr>
        <p:spPr>
          <a:xfrm>
            <a:off x="6683040" y="3407760"/>
            <a:ext cx="4789800" cy="101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56" name="Текст 35"/>
          <p:cNvSpPr/>
          <p:nvPr/>
        </p:nvSpPr>
        <p:spPr>
          <a:xfrm>
            <a:off x="6683040" y="4583880"/>
            <a:ext cx="4789800" cy="16149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body"/>
          </p:nvPr>
        </p:nvSpPr>
        <p:spPr>
          <a:xfrm>
            <a:off x="6683040" y="5184000"/>
            <a:ext cx="4789800" cy="101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dt" idx="15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16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17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DFE52A73-8DA5-45F5-B75D-646B6F92E92B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title"/>
          </p:nvPr>
        </p:nvSpPr>
        <p:spPr>
          <a:xfrm>
            <a:off x="3495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62" name="Текст 35"/>
          <p:cNvSpPr/>
          <p:nvPr/>
        </p:nvSpPr>
        <p:spPr>
          <a:xfrm>
            <a:off x="6683040" y="101592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6683040" y="139536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64" name="Текст 35"/>
          <p:cNvSpPr/>
          <p:nvPr/>
        </p:nvSpPr>
        <p:spPr>
          <a:xfrm>
            <a:off x="6683040" y="228456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ad2aef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body"/>
          </p:nvPr>
        </p:nvSpPr>
        <p:spPr>
          <a:xfrm>
            <a:off x="6683040" y="266400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66" name="Текст 35"/>
          <p:cNvSpPr/>
          <p:nvPr/>
        </p:nvSpPr>
        <p:spPr>
          <a:xfrm>
            <a:off x="6683040" y="355320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8a83d1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7"/>
          <p:cNvSpPr>
            <a:spLocks noGrp="1"/>
          </p:cNvSpPr>
          <p:nvPr>
            <p:ph type="body"/>
          </p:nvPr>
        </p:nvSpPr>
        <p:spPr>
          <a:xfrm>
            <a:off x="6683040" y="393264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68" name="Текст 35"/>
          <p:cNvSpPr/>
          <p:nvPr/>
        </p:nvSpPr>
        <p:spPr>
          <a:xfrm>
            <a:off x="6683040" y="482184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8"/>
          <p:cNvSpPr>
            <a:spLocks noGrp="1"/>
          </p:cNvSpPr>
          <p:nvPr>
            <p:ph type="body"/>
          </p:nvPr>
        </p:nvSpPr>
        <p:spPr>
          <a:xfrm>
            <a:off x="6683040" y="520128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dt" idx="18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19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20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2B2DA845-ED46-43E9-ABD1-E8E3A45ACFE6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title"/>
          </p:nvPr>
        </p:nvSpPr>
        <p:spPr>
          <a:xfrm>
            <a:off x="3675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74" name="Текст 35"/>
          <p:cNvSpPr/>
          <p:nvPr/>
        </p:nvSpPr>
        <p:spPr>
          <a:xfrm>
            <a:off x="6683040" y="101592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683040" y="139536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76" name="Текст 35"/>
          <p:cNvSpPr/>
          <p:nvPr/>
        </p:nvSpPr>
        <p:spPr>
          <a:xfrm>
            <a:off x="6683040" y="228456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ad2aef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6683040" y="266400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78" name="Текст 35"/>
          <p:cNvSpPr/>
          <p:nvPr/>
        </p:nvSpPr>
        <p:spPr>
          <a:xfrm>
            <a:off x="6683040" y="355320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8a83d1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body"/>
          </p:nvPr>
        </p:nvSpPr>
        <p:spPr>
          <a:xfrm>
            <a:off x="6683040" y="393264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80" name="Текст 35"/>
          <p:cNvSpPr/>
          <p:nvPr/>
        </p:nvSpPr>
        <p:spPr>
          <a:xfrm>
            <a:off x="6683040" y="482184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8"/>
          <p:cNvSpPr>
            <a:spLocks noGrp="1"/>
          </p:cNvSpPr>
          <p:nvPr>
            <p:ph type="body"/>
          </p:nvPr>
        </p:nvSpPr>
        <p:spPr>
          <a:xfrm>
            <a:off x="6683040" y="520128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dt" idx="21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 idx="22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23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6ED0148-970F-45E8-AFF9-C5F017157B0D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" name="Текст 35"/>
          <p:cNvSpPr/>
          <p:nvPr/>
        </p:nvSpPr>
        <p:spPr>
          <a:xfrm>
            <a:off x="345960" y="102492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345960" y="138096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87" name="Текст 35"/>
          <p:cNvSpPr/>
          <p:nvPr/>
        </p:nvSpPr>
        <p:spPr>
          <a:xfrm>
            <a:off x="4833000" y="102492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4833000" y="138096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89" name="Текст 35"/>
          <p:cNvSpPr/>
          <p:nvPr/>
        </p:nvSpPr>
        <p:spPr>
          <a:xfrm>
            <a:off x="9330840" y="102492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 type="body"/>
          </p:nvPr>
        </p:nvSpPr>
        <p:spPr>
          <a:xfrm>
            <a:off x="9330840" y="138096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91" name="Текст 35"/>
          <p:cNvSpPr/>
          <p:nvPr/>
        </p:nvSpPr>
        <p:spPr>
          <a:xfrm>
            <a:off x="2593440" y="435816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7"/>
          <p:cNvSpPr>
            <a:spLocks noGrp="1"/>
          </p:cNvSpPr>
          <p:nvPr>
            <p:ph type="body"/>
          </p:nvPr>
        </p:nvSpPr>
        <p:spPr>
          <a:xfrm>
            <a:off x="2593440" y="471420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93" name="Текст 35"/>
          <p:cNvSpPr/>
          <p:nvPr/>
        </p:nvSpPr>
        <p:spPr>
          <a:xfrm>
            <a:off x="7080480" y="435816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8"/>
          <p:cNvSpPr>
            <a:spLocks noGrp="1"/>
          </p:cNvSpPr>
          <p:nvPr>
            <p:ph type="body"/>
          </p:nvPr>
        </p:nvSpPr>
        <p:spPr>
          <a:xfrm>
            <a:off x="7080480" y="471420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95" name="PlaceHolder 9"/>
          <p:cNvSpPr>
            <a:spLocks noGrp="1"/>
          </p:cNvSpPr>
          <p:nvPr>
            <p:ph type="title"/>
          </p:nvPr>
        </p:nvSpPr>
        <p:spPr>
          <a:xfrm>
            <a:off x="38412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dt" idx="24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ftr" idx="25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26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2DC58AA2-0CD4-48DD-B30B-506F9CB2431D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title"/>
          </p:nvPr>
        </p:nvSpPr>
        <p:spPr>
          <a:xfrm>
            <a:off x="35748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00" name="Текст 35"/>
          <p:cNvSpPr/>
          <p:nvPr/>
        </p:nvSpPr>
        <p:spPr>
          <a:xfrm>
            <a:off x="516960" y="3810240"/>
            <a:ext cx="3263760" cy="2374920"/>
          </a:xfrm>
          <a:prstGeom prst="roundRect">
            <a:avLst>
              <a:gd name="adj" fmla="val 101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49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chemeClr val="lt1"/>
                </a:solidFill>
                <a:latin typeface="Montserrat"/>
              </a:rPr>
              <a:t>Описание проблемы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Текст 35"/>
          <p:cNvSpPr/>
          <p:nvPr/>
        </p:nvSpPr>
        <p:spPr>
          <a:xfrm>
            <a:off x="4464720" y="3810240"/>
            <a:ext cx="3263760" cy="2374920"/>
          </a:xfrm>
          <a:prstGeom prst="roundRect">
            <a:avLst>
              <a:gd name="adj" fmla="val 101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49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chemeClr val="lt1"/>
                </a:solidFill>
                <a:latin typeface="Montserrat"/>
              </a:rPr>
              <a:t>Примеры уже имеющихся способов решения данной проблемы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Текст 35"/>
          <p:cNvSpPr/>
          <p:nvPr/>
        </p:nvSpPr>
        <p:spPr>
          <a:xfrm>
            <a:off x="8385480" y="3810240"/>
            <a:ext cx="3263760" cy="2374920"/>
          </a:xfrm>
          <a:prstGeom prst="roundRect">
            <a:avLst>
              <a:gd name="adj" fmla="val 101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49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chemeClr val="lt1"/>
                </a:solidFill>
                <a:latin typeface="Montserrat"/>
              </a:rPr>
              <a:t>Ваше предложение решения данной проблемы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Текст 35"/>
          <p:cNvSpPr/>
          <p:nvPr/>
        </p:nvSpPr>
        <p:spPr>
          <a:xfrm>
            <a:off x="516960" y="3252240"/>
            <a:ext cx="3263760" cy="391320"/>
          </a:xfrm>
          <a:prstGeom prst="roundRect">
            <a:avLst>
              <a:gd name="adj" fmla="val 101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</a:rPr>
              <a:t>Проблема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Текст 35"/>
          <p:cNvSpPr/>
          <p:nvPr/>
        </p:nvSpPr>
        <p:spPr>
          <a:xfrm>
            <a:off x="4464720" y="3252240"/>
            <a:ext cx="3263760" cy="391320"/>
          </a:xfrm>
          <a:prstGeom prst="roundRect">
            <a:avLst>
              <a:gd name="adj" fmla="val 101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</a:rPr>
              <a:t>Альтернативные решения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Текст 35"/>
          <p:cNvSpPr/>
          <p:nvPr/>
        </p:nvSpPr>
        <p:spPr>
          <a:xfrm>
            <a:off x="8385480" y="3252240"/>
            <a:ext cx="3263760" cy="391320"/>
          </a:xfrm>
          <a:prstGeom prst="roundRect">
            <a:avLst>
              <a:gd name="adj" fmla="val 101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2"/>
                </a:solidFill>
                <a:latin typeface="Montserrat"/>
              </a:rPr>
              <a:t>Решение</a:t>
            </a:r>
            <a:endParaRPr b="0" lang="ru-RU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2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2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2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body"/>
          </p:nvPr>
        </p:nvSpPr>
        <p:spPr>
          <a:xfrm>
            <a:off x="4163040" y="1264320"/>
            <a:ext cx="3865680" cy="243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222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dt" idx="27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ftr" idx="28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sldNum" idx="29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B62BF7B7-BBF2-42B4-8606-E1BB442B79F8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45960" y="4656240"/>
            <a:ext cx="3626640" cy="154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4240440" y="4656240"/>
            <a:ext cx="3626640" cy="154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14" name="PlaceHolder 8"/>
          <p:cNvSpPr>
            <a:spLocks noGrp="1"/>
          </p:cNvSpPr>
          <p:nvPr>
            <p:ph type="body"/>
          </p:nvPr>
        </p:nvSpPr>
        <p:spPr>
          <a:xfrm>
            <a:off x="8230320" y="4656240"/>
            <a:ext cx="3626640" cy="154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body"/>
          </p:nvPr>
        </p:nvSpPr>
        <p:spPr>
          <a:xfrm>
            <a:off x="6894000" y="1044000"/>
            <a:ext cx="4962600" cy="222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345960" y="395280"/>
            <a:ext cx="1124424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dt" idx="30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ftr" idx="31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32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968F64B-5CA0-4561-8955-B77D0A2F3B28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title"/>
          </p:nvPr>
        </p:nvSpPr>
        <p:spPr>
          <a:xfrm>
            <a:off x="3531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1210680" y="4324320"/>
            <a:ext cx="4121280" cy="16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body"/>
          </p:nvPr>
        </p:nvSpPr>
        <p:spPr>
          <a:xfrm>
            <a:off x="6858000" y="4324320"/>
            <a:ext cx="4121280" cy="16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23" name="PlaceHolder 7"/>
          <p:cNvSpPr>
            <a:spLocks noGrp="1"/>
          </p:cNvSpPr>
          <p:nvPr>
            <p:ph type="body"/>
          </p:nvPr>
        </p:nvSpPr>
        <p:spPr>
          <a:xfrm>
            <a:off x="1210680" y="1577880"/>
            <a:ext cx="4121280" cy="228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24" name="PlaceHolder 8"/>
          <p:cNvSpPr>
            <a:spLocks noGrp="1"/>
          </p:cNvSpPr>
          <p:nvPr>
            <p:ph type="body"/>
          </p:nvPr>
        </p:nvSpPr>
        <p:spPr>
          <a:xfrm>
            <a:off x="6855480" y="1577880"/>
            <a:ext cx="4121280" cy="228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body"/>
          </p:nvPr>
        </p:nvSpPr>
        <p:spPr>
          <a:xfrm>
            <a:off x="5009760" y="1235880"/>
            <a:ext cx="2171880" cy="460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1111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26" name="Текст 35"/>
          <p:cNvSpPr/>
          <p:nvPr/>
        </p:nvSpPr>
        <p:spPr>
          <a:xfrm>
            <a:off x="356400" y="1641240"/>
            <a:ext cx="38124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65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356400" y="202068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28" name="Текст 35"/>
          <p:cNvSpPr/>
          <p:nvPr/>
        </p:nvSpPr>
        <p:spPr>
          <a:xfrm>
            <a:off x="8039880" y="1641240"/>
            <a:ext cx="38124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65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e4b8fa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8039880" y="202068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30" name="Текст 35"/>
          <p:cNvSpPr/>
          <p:nvPr/>
        </p:nvSpPr>
        <p:spPr>
          <a:xfrm>
            <a:off x="356400" y="3864600"/>
            <a:ext cx="38124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65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8a83d1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356400" y="424404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32" name="Текст 35"/>
          <p:cNvSpPr/>
          <p:nvPr/>
        </p:nvSpPr>
        <p:spPr>
          <a:xfrm>
            <a:off x="8039880" y="3864600"/>
            <a:ext cx="38124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65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d6e3"/>
              </a:buClr>
              <a:buFont typeface="Arial"/>
              <a:buChar char="•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body"/>
          </p:nvPr>
        </p:nvSpPr>
        <p:spPr>
          <a:xfrm>
            <a:off x="8039880" y="424404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cxnSp>
        <p:nvCxnSpPr>
          <p:cNvPr id="134" name="Google Shape;2799;p94"/>
          <p:cNvCxnSpPr/>
          <p:nvPr/>
        </p:nvCxnSpPr>
        <p:spPr>
          <a:xfrm>
            <a:off x="4244400" y="1870200"/>
            <a:ext cx="687240" cy="360"/>
          </a:xfrm>
          <a:prstGeom prst="straightConnector1">
            <a:avLst/>
          </a:prstGeom>
          <a:ln w="25400">
            <a:solidFill>
              <a:srgbClr val="ff0053"/>
            </a:solidFill>
            <a:round/>
          </a:ln>
        </p:spPr>
      </p:cxnSp>
      <p:cxnSp>
        <p:nvCxnSpPr>
          <p:cNvPr id="135" name="Google Shape;2799;p94"/>
          <p:cNvCxnSpPr/>
          <p:nvPr/>
        </p:nvCxnSpPr>
        <p:spPr>
          <a:xfrm>
            <a:off x="4244400" y="4094280"/>
            <a:ext cx="687240" cy="360"/>
          </a:xfrm>
          <a:prstGeom prst="straightConnector1">
            <a:avLst/>
          </a:prstGeom>
          <a:ln w="25400">
            <a:solidFill>
              <a:srgbClr val="520977"/>
            </a:solidFill>
            <a:round/>
          </a:ln>
        </p:spPr>
      </p:cxnSp>
      <p:cxnSp>
        <p:nvCxnSpPr>
          <p:cNvPr id="136" name="Google Shape;2799;p94"/>
          <p:cNvCxnSpPr/>
          <p:nvPr/>
        </p:nvCxnSpPr>
        <p:spPr>
          <a:xfrm>
            <a:off x="7250400" y="1870200"/>
            <a:ext cx="687240" cy="360"/>
          </a:xfrm>
          <a:prstGeom prst="straightConnector1">
            <a:avLst/>
          </a:prstGeom>
          <a:ln w="25400">
            <a:solidFill>
              <a:srgbClr val="520977">
                <a:lumMod val="20000"/>
                <a:lumOff val="80000"/>
              </a:srgbClr>
            </a:solidFill>
            <a:round/>
          </a:ln>
        </p:spPr>
      </p:cxnSp>
      <p:cxnSp>
        <p:nvCxnSpPr>
          <p:cNvPr id="137" name="Google Shape;2799;p94"/>
          <p:cNvCxnSpPr/>
          <p:nvPr/>
        </p:nvCxnSpPr>
        <p:spPr>
          <a:xfrm>
            <a:off x="7250400" y="4094280"/>
            <a:ext cx="687240" cy="360"/>
          </a:xfrm>
          <a:prstGeom prst="straightConnector1">
            <a:avLst/>
          </a:prstGeom>
          <a:ln w="25400">
            <a:solidFill>
              <a:srgbClr val="fc3777"/>
            </a:solidFill>
            <a:round/>
          </a:ln>
        </p:spPr>
      </p:cxnSp>
      <p:sp>
        <p:nvSpPr>
          <p:cNvPr id="138" name="PlaceHolder 6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39" name="PlaceHolder 7"/>
          <p:cNvSpPr>
            <a:spLocks noGrp="1"/>
          </p:cNvSpPr>
          <p:nvPr>
            <p:ph type="dt" idx="33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" name="PlaceHolder 8"/>
          <p:cNvSpPr>
            <a:spLocks noGrp="1"/>
          </p:cNvSpPr>
          <p:nvPr>
            <p:ph type="ftr" idx="34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" name="PlaceHolder 9"/>
          <p:cNvSpPr>
            <a:spLocks noGrp="1"/>
          </p:cNvSpPr>
          <p:nvPr>
            <p:ph type="sldNum" idx="35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0C6F9355-5D93-4E67-AA06-9294640A3B04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body"/>
          </p:nvPr>
        </p:nvSpPr>
        <p:spPr>
          <a:xfrm>
            <a:off x="1001520" y="1038240"/>
            <a:ext cx="1725840" cy="365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3831120" y="1038240"/>
            <a:ext cx="1725840" cy="365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6660720" y="1038240"/>
            <a:ext cx="1725840" cy="365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body"/>
          </p:nvPr>
        </p:nvSpPr>
        <p:spPr>
          <a:xfrm>
            <a:off x="9490320" y="1038240"/>
            <a:ext cx="1725840" cy="365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8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dt" idx="36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PlaceHolder 6"/>
          <p:cNvSpPr>
            <a:spLocks noGrp="1"/>
          </p:cNvSpPr>
          <p:nvPr>
            <p:ph type="ftr" idx="37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" name="PlaceHolder 7"/>
          <p:cNvSpPr>
            <a:spLocks noGrp="1"/>
          </p:cNvSpPr>
          <p:nvPr>
            <p:ph type="sldNum" idx="38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BD0283DB-3D24-465D-A471-8AD374506C91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PlaceHolder 8"/>
          <p:cNvSpPr>
            <a:spLocks noGrp="1"/>
          </p:cNvSpPr>
          <p:nvPr>
            <p:ph type="body"/>
          </p:nvPr>
        </p:nvSpPr>
        <p:spPr>
          <a:xfrm>
            <a:off x="345960" y="4929480"/>
            <a:ext cx="2738880" cy="127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50" name="PlaceHolder 9"/>
          <p:cNvSpPr>
            <a:spLocks noGrp="1"/>
          </p:cNvSpPr>
          <p:nvPr>
            <p:ph type="body"/>
          </p:nvPr>
        </p:nvSpPr>
        <p:spPr>
          <a:xfrm>
            <a:off x="3269520" y="4929480"/>
            <a:ext cx="2738880" cy="127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51" name="PlaceHolder 10"/>
          <p:cNvSpPr>
            <a:spLocks noGrp="1"/>
          </p:cNvSpPr>
          <p:nvPr>
            <p:ph type="body"/>
          </p:nvPr>
        </p:nvSpPr>
        <p:spPr>
          <a:xfrm>
            <a:off x="6193080" y="4929480"/>
            <a:ext cx="2738880" cy="127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52" name="PlaceHolder 11"/>
          <p:cNvSpPr>
            <a:spLocks noGrp="1"/>
          </p:cNvSpPr>
          <p:nvPr>
            <p:ph type="body"/>
          </p:nvPr>
        </p:nvSpPr>
        <p:spPr>
          <a:xfrm>
            <a:off x="9116640" y="4929480"/>
            <a:ext cx="2738880" cy="127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53" name="PlaceHolder 12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dt" idx="39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ftr" idx="40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41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88FA85A7-9665-42AB-8B1A-6E92C46E5D47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title"/>
          </p:nvPr>
        </p:nvSpPr>
        <p:spPr>
          <a:xfrm>
            <a:off x="345960" y="395280"/>
            <a:ext cx="1124424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body"/>
          </p:nvPr>
        </p:nvSpPr>
        <p:spPr>
          <a:xfrm>
            <a:off x="80640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59" name="PlaceHolder 6"/>
          <p:cNvSpPr>
            <a:spLocks noGrp="1"/>
          </p:cNvSpPr>
          <p:nvPr>
            <p:ph type="body"/>
          </p:nvPr>
        </p:nvSpPr>
        <p:spPr>
          <a:xfrm>
            <a:off x="301464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60" name="PlaceHolder 7"/>
          <p:cNvSpPr>
            <a:spLocks noGrp="1"/>
          </p:cNvSpPr>
          <p:nvPr>
            <p:ph type="body"/>
          </p:nvPr>
        </p:nvSpPr>
        <p:spPr>
          <a:xfrm>
            <a:off x="519120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61" name="PlaceHolder 8"/>
          <p:cNvSpPr>
            <a:spLocks noGrp="1"/>
          </p:cNvSpPr>
          <p:nvPr>
            <p:ph type="body"/>
          </p:nvPr>
        </p:nvSpPr>
        <p:spPr>
          <a:xfrm>
            <a:off x="736668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62" name="PlaceHolder 9"/>
          <p:cNvSpPr>
            <a:spLocks noGrp="1"/>
          </p:cNvSpPr>
          <p:nvPr>
            <p:ph type="body"/>
          </p:nvPr>
        </p:nvSpPr>
        <p:spPr>
          <a:xfrm>
            <a:off x="954216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dt" idx="42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ftr" idx="43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44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2592604-60DB-4AF0-BCAC-2B4873DF67AF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2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2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2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body"/>
          </p:nvPr>
        </p:nvSpPr>
        <p:spPr>
          <a:xfrm>
            <a:off x="315360" y="1016280"/>
            <a:ext cx="11561040" cy="516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dt" idx="45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ftr" idx="46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sldNum" idx="47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5DCEF68A-055F-4D4F-8DC0-9145558FCD22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body"/>
          </p:nvPr>
        </p:nvSpPr>
        <p:spPr>
          <a:xfrm>
            <a:off x="315360" y="1015920"/>
            <a:ext cx="5704200" cy="518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172200" y="1015920"/>
            <a:ext cx="5670000" cy="518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dt" idx="48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ftr" idx="49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 type="sldNum" idx="50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25D958A3-FBE8-428F-B845-1EEF5119A6DC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" name="PlaceHolder 6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body"/>
          </p:nvPr>
        </p:nvSpPr>
        <p:spPr>
          <a:xfrm>
            <a:off x="315360" y="1015560"/>
            <a:ext cx="5681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349200" y="1598760"/>
            <a:ext cx="5648040" cy="460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6172200" y="1015560"/>
            <a:ext cx="5684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body"/>
          </p:nvPr>
        </p:nvSpPr>
        <p:spPr>
          <a:xfrm>
            <a:off x="6172200" y="1598760"/>
            <a:ext cx="5670000" cy="460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45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89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9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dt" idx="51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" name="PlaceHolder 6"/>
          <p:cNvSpPr>
            <a:spLocks noGrp="1"/>
          </p:cNvSpPr>
          <p:nvPr>
            <p:ph type="ftr" idx="52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" name="PlaceHolder 7"/>
          <p:cNvSpPr>
            <a:spLocks noGrp="1"/>
          </p:cNvSpPr>
          <p:nvPr>
            <p:ph type="sldNum" idx="53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57FFDFAD-FB70-4988-A191-BC993A514193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" name="PlaceHolder 8"/>
          <p:cNvSpPr>
            <a:spLocks noGrp="1"/>
          </p:cNvSpPr>
          <p:nvPr>
            <p:ph type="title"/>
          </p:nvPr>
        </p:nvSpPr>
        <p:spPr>
          <a:xfrm>
            <a:off x="34920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000" spc="-1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dt" idx="54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55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56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6D7627DB-C684-4916-A8DB-5D336AB5D304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334800" y="1015920"/>
            <a:ext cx="4436640" cy="121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endParaRPr b="0" lang="ru-RU" sz="24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5183280" y="1015920"/>
            <a:ext cx="6673320" cy="504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endParaRPr b="0" lang="ru-RU" sz="177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1" marL="43416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52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2" marL="72360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26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3" marL="101268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14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  <a:p>
            <a:pPr lvl="4" marL="1302120" indent="-144720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endParaRPr b="0" lang="ru-RU" sz="114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334800" y="2428200"/>
            <a:ext cx="4436640" cy="363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578880">
              <a:lnSpc>
                <a:spcPct val="90000"/>
              </a:lnSpc>
              <a:spcBef>
                <a:spcPts val="632"/>
              </a:spcBef>
              <a:buNone/>
              <a:tabLst>
                <a:tab algn="l" pos="0"/>
              </a:tabLst>
            </a:pPr>
            <a:endParaRPr b="0" lang="ru-RU" sz="14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dt" idx="57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76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&lt;дата/время&gt;</a:t>
            </a:r>
            <a:endParaRPr b="0" lang="ru-RU" sz="76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ftr" idx="58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" name="PlaceHolder 6"/>
          <p:cNvSpPr>
            <a:spLocks noGrp="1"/>
          </p:cNvSpPr>
          <p:nvPr>
            <p:ph type="sldNum" idx="59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1A6F0826-3DEE-4EE3-A8B2-2DE44821C3EF}" type="slidenum">
              <a:rPr b="0" lang="ru-RU" sz="12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neardup.png"/><Relationship Id="rId3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0.png"/><Relationship Id="rId3" Type="http://schemas.openxmlformats.org/officeDocument/2006/relationships/image" Target="../media/image30.png"/><Relationship Id="rId4" Type="http://schemas.openxmlformats.org/officeDocument/2006/relationships/image" Target="../media/image30.png"/><Relationship Id="rId5" Type="http://schemas.openxmlformats.org/officeDocument/2006/relationships/image" Target="../media/image30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17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0.png"/><Relationship Id="rId3" Type="http://schemas.openxmlformats.org/officeDocument/2006/relationships/image" Target="../media/image30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4.xml"/>
<Relationship Id="rIdUiQ" Type="http://schemas.openxmlformats.org/officeDocument/2006/relationships/image" Target="../media/ui_sommelier_q.png"/><Relationship Id="rIdUiRec" Type="http://schemas.openxmlformats.org/officeDocument/2006/relationships/image" Target="../media/ui_sommelier_rec.png"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8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0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14.xml"/>
<Relationship Id="rIdUiCard" Type="http://schemas.openxmlformats.org/officeDocument/2006/relationships/image" Target="../media/ui_card.png"/>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3.xml"/>
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0" y="3894480"/>
            <a:ext cx="6271560" cy="170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1" lang="ru-RU" sz="2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СКАНЕР РОССИЙСКИХ ВИН</a:t>
            </a:r>
          </a:p>
          <a:p>
            <a:pPr indent="0">
              <a:buNone/>
            </a:pPr>
            <a:r>
              <a:rPr b="1" lang="ru-RU" sz="2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«СВОЁ ВИНО»</a:t>
            </a:r>
          </a:p>
        </p:txBody>
      </p:sp>
      <p:pic>
        <p:nvPicPr>
          <p:cNvPr id="293" name="Рисунок 3" descr=""/>
          <p:cNvPicPr/>
          <p:nvPr/>
        </p:nvPicPr>
        <p:blipFill>
          <a:blip r:embed="rId1"/>
          <a:stretch/>
        </p:blipFill>
        <p:spPr>
          <a:xfrm>
            <a:off x="566928" y="566928"/>
            <a:ext cx="2404872" cy="457200"/>
          </a:xfrm>
          <a:prstGeom prst="rect">
            <a:avLst/>
          </a:prstGeom>
          <a:ln w="0">
            <a:noFill/>
          </a:ln>
        </p:spPr>
      </p:pic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0" y="5659560"/>
            <a:ext cx="8930160" cy="75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8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Команда [НАЗВАНИЕ КОМАНДЫ]  ·  кейс РСХБ.Цифра  ·  ЛЦТ 2026</a:t>
            </a:r>
          </a:p>
        </p:txBody>
      </p:sp>
      <p:sp>
        <p:nvSpPr>
          <p:cNvPr id="295" name="Скругленный прямоугольник 1"/>
          <p:cNvSpPr/>
          <p:nvPr/>
        </p:nvSpPr>
        <p:spPr>
          <a:xfrm>
            <a:off x="-296640" y="-313920"/>
            <a:ext cx="6124680" cy="2285280"/>
          </a:xfrm>
          <a:prstGeom prst="roundRect">
            <a:avLst>
              <a:gd name="adj" fmla="val 9821"/>
            </a:avLst>
          </a:prstGeom>
          <a:noFill/>
          <a:ln w="9525">
            <a:solidFill>
              <a:srgbClr val="ffd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Прямоугольник 2"/>
          <p:cNvSpPr/>
          <p:nvPr/>
        </p:nvSpPr>
        <p:spPr>
          <a:xfrm>
            <a:off x="0" y="2971800"/>
            <a:ext cx="6455880" cy="3885840"/>
          </a:xfrm>
          <a:prstGeom prst="rect">
            <a:avLst/>
          </a:prstGeom>
          <a:solidFill>
            <a:srgbClr val="dccee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Montserrat"/>
            </a:endParaRPr>
          </a:p>
        </p:txBody>
      </p:sp>
      <p:pic>
        <p:nvPicPr>
          <p:cNvPr id="297" name="Рисунок 1" descr=""/>
          <p:cNvPicPr/>
          <p:nvPr/>
        </p:nvPicPr>
        <p:blipFill>
          <a:blip r:embed="rId2"/>
          <a:stretch/>
        </p:blipFill>
        <p:spPr>
          <a:xfrm>
            <a:off x="0" y="335160"/>
            <a:ext cx="6455880" cy="2971440"/>
          </a:xfrm>
          <a:prstGeom prst="rect">
            <a:avLst/>
          </a:prstGeom>
          <a:ln w="0">
            <a:noFill/>
          </a:ln>
        </p:spPr>
      </p:pic>
      <p:sp>
        <p:nvSpPr>
          <p:cNvPr id="298" name="Текст 8"/>
          <p:cNvSpPr/>
          <p:nvPr/>
        </p:nvSpPr>
        <p:spPr>
          <a:xfrm>
            <a:off x="6819840" y="2303280"/>
            <a:ext cx="4945320" cy="6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</a:rPr>
              <a:t>Краткое описание решения: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Текст 8"/>
          <p:cNvSpPr/>
          <p:nvPr/>
        </p:nvSpPr>
        <p:spPr>
          <a:xfrm>
            <a:off x="6836760" y="4876200"/>
            <a:ext cx="494532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Две ступени отвечают на два разных вопроса: «похожая ли этикетка» — эмбеддинг, «та же самая» — геометрия совпавших точек. Неуверенный ответ проверяет VLM. На 100 снимках организатора верная позиция первая в 53 из 62 кадров; отказ не декларируется, а измерен.</a:t>
            </a:r>
          </a:p>
        </p:txBody>
      </p:sp>
      <p:sp>
        <p:nvSpPr>
          <p:cNvPr id="300" name="Текст 8"/>
          <p:cNvSpPr/>
          <p:nvPr/>
        </p:nvSpPr>
        <p:spPr>
          <a:xfrm>
            <a:off x="334800" y="3882960"/>
            <a:ext cx="5629320" cy="239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44720" indent="-144720" defTabSz="578880">
              <a:lnSpc>
                <a:spcPct val="120000"/>
              </a:lnSpc>
              <a:buClr>
                <a:srgbClr val="ff0053"/>
              </a:buClr>
              <a:buFont typeface="Wingdings" charset="2"/>
              <a:buChar char=""/>
            </a:pPr>
            <a:r>
              <a:rPr b="1" lang="ru-RU" sz="1400" spc="-1" strike="noStrike">
                <a:solidFill>
                  <a:srgbClr val="520978"/>
                </a:solidFill>
                <a:latin typeface="Montserrat"/>
              </a:rPr>
              <a:t>Капитан: [ФИО, специальность]</a:t>
            </a:r>
          </a:p>
          <a:p>
            <a:pPr marL="144720" indent="-144720" defTabSz="578880">
              <a:lnSpc>
                <a:spcPct val="120000"/>
              </a:lnSpc>
              <a:buClr>
                <a:srgbClr val="ff0053"/>
              </a:buClr>
              <a:buFont typeface="Wingdings" charset="2"/>
              <a:buChar char=""/>
            </a:pPr>
            <a:r>
              <a:rPr b="0" lang="ru-RU" sz="1400" spc="-1" strike="noStrike">
                <a:solidFill>
                  <a:srgbClr val="310F53"/>
                </a:solidFill>
                <a:latin typeface="Montserrat"/>
              </a:rPr>
              <a:t>Кол-во участников: [__] человек</a:t>
            </a:r>
          </a:p>
          <a:p>
            <a:pPr marL="144720" indent="-144720" defTabSz="578880">
              <a:lnSpc>
                <a:spcPct val="120000"/>
              </a:lnSpc>
              <a:buClr>
                <a:srgbClr val="ff0053"/>
              </a:buClr>
              <a:buFont typeface="Wingdings" charset="2"/>
              <a:buChar char=""/>
            </a:pPr>
            <a:r>
              <a:rPr b="0" lang="ru-RU" sz="1400" spc="-1" strike="noStrike">
                <a:solidFill>
                  <a:srgbClr val="310F53"/>
                </a:solidFill>
                <a:latin typeface="Montserrat"/>
              </a:rPr>
              <a:t>Город и регион: [___]</a:t>
            </a:r>
          </a:p>
          <a:p>
            <a:pPr marL="144720" indent="-144720" defTabSz="578880">
              <a:lnSpc>
                <a:spcPct val="120000"/>
              </a:lnSpc>
              <a:buClr>
                <a:srgbClr val="ff0053"/>
              </a:buClr>
              <a:buFont typeface="Wingdings" charset="2"/>
              <a:buChar char=""/>
            </a:pPr>
            <a:r>
              <a:rPr b="0" lang="ru-RU" sz="1400" spc="-1" strike="noStrike">
                <a:solidFill>
                  <a:srgbClr val="310F53"/>
                </a:solidFill>
                <a:latin typeface="Montserrat"/>
              </a:rPr>
              <a:t>Как образовалась команда: [___]</a:t>
            </a:r>
          </a:p>
          <a:p>
            <a:pPr marL="144720" indent="-144720" defTabSz="578880">
              <a:lnSpc>
                <a:spcPct val="120000"/>
              </a:lnSpc>
              <a:buClr>
                <a:srgbClr val="ff0053"/>
              </a:buClr>
              <a:buFont typeface="Wingdings" charset="2"/>
              <a:buChar char=""/>
            </a:pPr>
            <a:r>
              <a:rPr b="0" lang="ru-RU" sz="1400" spc="-1" strike="noStrike">
                <a:solidFill>
                  <a:srgbClr val="310F53"/>
                </a:solidFill>
                <a:latin typeface="Montserrat"/>
              </a:rPr>
              <a:t>Место работы/учёбы участников: [___]</a:t>
            </a:r>
          </a:p>
        </p:txBody>
      </p:sp>
      <p:sp>
        <p:nvSpPr>
          <p:cNvPr id="301" name="Текст 8"/>
          <p:cNvSpPr/>
          <p:nvPr/>
        </p:nvSpPr>
        <p:spPr>
          <a:xfrm>
            <a:off x="334800" y="3484800"/>
            <a:ext cx="298980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</a:rPr>
              <a:t>О команде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6819840" y="1039320"/>
            <a:ext cx="3636360" cy="101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1" lang="ru-RU" sz="2000" spc="-1" strike="noStrike">
                <a:solidFill>
                  <a:srgbClr val="310F53"/>
                </a:solidFill>
                <a:latin typeface="Montserrat"/>
              </a:rPr>
              <a:t>РЕШЕНИЕ И КОМАНДА</a:t>
            </a:r>
          </a:p>
        </p:txBody>
      </p:sp>
      <p:cxnSp>
        <p:nvCxnSpPr>
          <p:cNvPr id="303" name="Прямая соединительная линия 6"/>
          <p:cNvCxnSpPr/>
          <p:nvPr/>
        </p:nvCxnSpPr>
        <p:spPr>
          <a:xfrm>
            <a:off x="6880680" y="2239920"/>
            <a:ext cx="4885200" cy="360"/>
          </a:xfrm>
          <a:prstGeom prst="straightConnector1">
            <a:avLst/>
          </a:prstGeom>
          <a:ln w="12700">
            <a:solidFill>
              <a:srgbClr val="520977"/>
            </a:solidFill>
          </a:ln>
        </p:spPr>
      </p:cxnSp>
      <p:cxnSp>
        <p:nvCxnSpPr>
          <p:cNvPr id="304" name="Прямая соединительная линия 15"/>
          <p:cNvCxnSpPr/>
          <p:nvPr/>
        </p:nvCxnSpPr>
        <p:spPr>
          <a:xfrm>
            <a:off x="6897240" y="4437720"/>
            <a:ext cx="4885200" cy="360"/>
          </a:xfrm>
          <a:prstGeom prst="straightConnector1">
            <a:avLst/>
          </a:prstGeom>
          <a:ln w="12700">
            <a:solidFill>
              <a:srgbClr val="520977"/>
            </a:solidFill>
          </a:ln>
        </p:spPr>
      </p:cxnSp>
      <p:cxnSp>
        <p:nvCxnSpPr>
          <p:cNvPr id="305" name="Прямая соединительная линия 16"/>
          <p:cNvCxnSpPr/>
          <p:nvPr/>
        </p:nvCxnSpPr>
        <p:spPr>
          <a:xfrm>
            <a:off x="395640" y="3448440"/>
            <a:ext cx="5700600" cy="360"/>
          </a:xfrm>
          <a:prstGeom prst="straightConnector1">
            <a:avLst/>
          </a:prstGeom>
          <a:ln>
            <a:solidFill>
              <a:srgbClr val="520977"/>
            </a:solidFill>
          </a:ln>
        </p:spPr>
      </p:cxnSp>
      <p:sp>
        <p:nvSpPr>
          <p:cNvPr id="306" name="Текст 8"/>
          <p:cNvSpPr/>
          <p:nvPr/>
        </p:nvSpPr>
        <p:spPr>
          <a:xfrm>
            <a:off x="6819840" y="4541760"/>
            <a:ext cx="4945320" cy="6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</a:rPr>
              <a:t>Уникальность решения: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Текст 8"/>
          <p:cNvSpPr/>
          <p:nvPr/>
        </p:nvSpPr>
        <p:spPr>
          <a:xfrm>
            <a:off x="6807960" y="2620080"/>
            <a:ext cx="494532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Фотография этикетки — карточка вина из каталога «Своё Вино» за полсекунды. Детектор находит бутылку, SigLIP 2 отбирает двадцать кандидатов по всему каталогу, локальные признаки решают, какой из них та же самая этикетка. Одна карточка — или честное «не удалось уверенно определить».</a:t>
            </a:r>
          </a:p>
        </p:txBody>
      </p:sp>
      <p:sp>
        <p:nvSpPr>
          <p:cNvPr id="308" name="Номер слайда 35"/>
          <p:cNvSpPr/>
          <p:nvPr/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fld id="{DCE5D0FF-6374-47F0-AB67-155F72E6DCF5}" type="slidenum">
              <a:rPr b="0" lang="ru-RU" sz="1200" spc="-1" strike="noStrike">
                <a:solidFill>
                  <a:schemeClr val="accent5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Скругленный прямоугольник 55"/>
          <p:cNvSpPr/>
          <p:nvPr/>
        </p:nvSpPr>
        <p:spPr>
          <a:xfrm>
            <a:off x="2651400" y="1522080"/>
            <a:ext cx="2192400" cy="4834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10" name="Текст 8"/>
          <p:cNvSpPr/>
          <p:nvPr/>
        </p:nvSpPr>
        <p:spPr>
          <a:xfrm>
            <a:off x="2823840" y="4250160"/>
            <a:ext cx="189396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Роль в команде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Ник в мессенджере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Номер телефона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Место работы/учёбы</a:t>
            </a:r>
          </a:p>
        </p:txBody>
      </p:sp>
      <p:sp>
        <p:nvSpPr>
          <p:cNvPr id="311" name="Текст 8"/>
          <p:cNvSpPr/>
          <p:nvPr/>
        </p:nvSpPr>
        <p:spPr>
          <a:xfrm>
            <a:off x="2823840" y="3621960"/>
            <a:ext cx="172224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</a:rPr>
              <a:t>Имя Фамилия</a:t>
            </a:r>
          </a:p>
        </p:txBody>
      </p:sp>
      <p:sp>
        <p:nvSpPr>
          <p:cNvPr id="312" name="Скругленный прямоугольник 58"/>
          <p:cNvSpPr/>
          <p:nvPr/>
        </p:nvSpPr>
        <p:spPr>
          <a:xfrm>
            <a:off x="4956840" y="1522080"/>
            <a:ext cx="2192400" cy="4834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13" name="Текст 8"/>
          <p:cNvSpPr/>
          <p:nvPr/>
        </p:nvSpPr>
        <p:spPr>
          <a:xfrm>
            <a:off x="5128920" y="4250160"/>
            <a:ext cx="189396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Роль в команде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Ник в мессенджере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Номер телефона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Место работы/учёбы</a:t>
            </a:r>
          </a:p>
        </p:txBody>
      </p:sp>
      <p:sp>
        <p:nvSpPr>
          <p:cNvPr id="314" name="Текст 8"/>
          <p:cNvSpPr/>
          <p:nvPr/>
        </p:nvSpPr>
        <p:spPr>
          <a:xfrm>
            <a:off x="5128920" y="3621960"/>
            <a:ext cx="172224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</a:rPr>
              <a:t>Имя Фамилия</a:t>
            </a:r>
          </a:p>
        </p:txBody>
      </p:sp>
      <p:sp>
        <p:nvSpPr>
          <p:cNvPr id="315" name="Скругленный прямоугольник 61"/>
          <p:cNvSpPr/>
          <p:nvPr/>
        </p:nvSpPr>
        <p:spPr>
          <a:xfrm>
            <a:off x="7261920" y="1522080"/>
            <a:ext cx="2192400" cy="4834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16" name="Текст 8"/>
          <p:cNvSpPr/>
          <p:nvPr/>
        </p:nvSpPr>
        <p:spPr>
          <a:xfrm>
            <a:off x="7434360" y="4250160"/>
            <a:ext cx="189396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Роль в команде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Ник в мессенджере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Номер телефона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Место работы/учёбы</a:t>
            </a:r>
          </a:p>
        </p:txBody>
      </p:sp>
      <p:sp>
        <p:nvSpPr>
          <p:cNvPr id="317" name="Текст 8"/>
          <p:cNvSpPr/>
          <p:nvPr/>
        </p:nvSpPr>
        <p:spPr>
          <a:xfrm>
            <a:off x="7434360" y="3621960"/>
            <a:ext cx="172224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</a:rPr>
              <a:t>Имя Фамилия</a:t>
            </a:r>
          </a:p>
        </p:txBody>
      </p:sp>
      <p:sp>
        <p:nvSpPr>
          <p:cNvPr id="318" name="Скругленный прямоугольник 64"/>
          <p:cNvSpPr/>
          <p:nvPr/>
        </p:nvSpPr>
        <p:spPr>
          <a:xfrm>
            <a:off x="9567360" y="1522080"/>
            <a:ext cx="2192400" cy="4834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19" name="Текст 8"/>
          <p:cNvSpPr/>
          <p:nvPr/>
        </p:nvSpPr>
        <p:spPr>
          <a:xfrm>
            <a:off x="9739800" y="4250160"/>
            <a:ext cx="189396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Роль в команде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Ник в мессенджере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Номер телефона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Место работы/учёбы</a:t>
            </a:r>
          </a:p>
        </p:txBody>
      </p:sp>
      <p:sp>
        <p:nvSpPr>
          <p:cNvPr id="320" name="Текст 8"/>
          <p:cNvSpPr/>
          <p:nvPr/>
        </p:nvSpPr>
        <p:spPr>
          <a:xfrm>
            <a:off x="9739800" y="3621960"/>
            <a:ext cx="172224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</a:rPr>
              <a:t>Имя Фамилия</a:t>
            </a:r>
          </a:p>
        </p:txBody>
      </p:sp>
      <p:sp>
        <p:nvSpPr>
          <p:cNvPr id="321" name="Скругленный прямоугольник 16"/>
          <p:cNvSpPr/>
          <p:nvPr/>
        </p:nvSpPr>
        <p:spPr>
          <a:xfrm>
            <a:off x="345960" y="1522080"/>
            <a:ext cx="2192400" cy="4834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22" name="Скругленный прямоугольник 12"/>
          <p:cNvSpPr/>
          <p:nvPr/>
        </p:nvSpPr>
        <p:spPr>
          <a:xfrm>
            <a:off x="345960" y="324720"/>
            <a:ext cx="395244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23" name="PlaceHolder 1"/>
          <p:cNvSpPr>
            <a:spLocks noGrp="1"/>
          </p:cNvSpPr>
          <p:nvPr>
            <p:ph type="sldNum" idx="67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5D613689-D963-480C-819A-7BBE32C7B8ED}" type="slidenum">
              <a:rPr b="0" lang="ru-RU" sz="1200" spc="-1" strike="noStrike">
                <a:solidFill>
                  <a:schemeClr val="lt1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24" name="Рисунок 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81400" y="1816200"/>
            <a:ext cx="1719072" cy="1563624"/>
          </a:xfrm>
          <a:prstGeom prst="rect">
            <a:avLst/>
          </a:prstGeom>
          <a:ln w="0">
            <a:noFill/>
          </a:ln>
        </p:spPr>
      </p:pic>
      <p:pic>
        <p:nvPicPr>
          <p:cNvPr id="325" name="Рисунок 2" descr=""/>
          <p:cNvPicPr/>
          <p:nvPr/>
        </p:nvPicPr>
        <p:blipFill>
          <a:blip r:embed="rId3"/>
          <a:stretch/>
        </p:blipFill>
        <p:spPr>
          <a:xfrm>
            <a:off x="2886480" y="1826640"/>
            <a:ext cx="1722240" cy="1541880"/>
          </a:xfrm>
          <a:prstGeom prst="rect">
            <a:avLst/>
          </a:prstGeom>
          <a:ln w="0">
            <a:noFill/>
          </a:ln>
        </p:spPr>
      </p:pic>
      <p:pic>
        <p:nvPicPr>
          <p:cNvPr id="326" name="Рисунок 3" descr=""/>
          <p:cNvPicPr/>
          <p:nvPr/>
        </p:nvPicPr>
        <p:blipFill>
          <a:blip r:embed="rId4"/>
          <a:stretch/>
        </p:blipFill>
        <p:spPr>
          <a:xfrm>
            <a:off x="5191920" y="1809360"/>
            <a:ext cx="1722240" cy="1559520"/>
          </a:xfrm>
          <a:prstGeom prst="rect">
            <a:avLst/>
          </a:prstGeom>
          <a:ln w="0">
            <a:noFill/>
          </a:ln>
        </p:spPr>
      </p:pic>
      <p:pic>
        <p:nvPicPr>
          <p:cNvPr id="327" name="Рисунок 4" descr=""/>
          <p:cNvPicPr/>
          <p:nvPr/>
        </p:nvPicPr>
        <p:blipFill>
          <a:blip r:embed="rId5"/>
          <a:stretch/>
        </p:blipFill>
        <p:spPr>
          <a:xfrm>
            <a:off x="7520040" y="1809360"/>
            <a:ext cx="1722240" cy="1559520"/>
          </a:xfrm>
          <a:prstGeom prst="rect">
            <a:avLst/>
          </a:prstGeom>
          <a:ln w="0">
            <a:noFill/>
          </a:ln>
        </p:spPr>
      </p:pic>
      <p:pic>
        <p:nvPicPr>
          <p:cNvPr id="328" name="Рисунок 5" descr=""/>
          <p:cNvPicPr/>
          <p:nvPr/>
        </p:nvPicPr>
        <p:blipFill>
          <a:blip r:embed="rId6"/>
          <a:stretch/>
        </p:blipFill>
        <p:spPr>
          <a:xfrm>
            <a:off x="9802440" y="1809360"/>
            <a:ext cx="1722240" cy="1559520"/>
          </a:xfrm>
          <a:prstGeom prst="rect">
            <a:avLst/>
          </a:prstGeom>
          <a:ln w="0">
            <a:noFill/>
          </a:ln>
        </p:spPr>
      </p:pic>
      <p:sp>
        <p:nvSpPr>
          <p:cNvPr id="329" name="PlaceHolder 2"/>
          <p:cNvSpPr>
            <a:spLocks noGrp="1"/>
          </p:cNvSpPr>
          <p:nvPr>
            <p:ph type="title"/>
          </p:nvPr>
        </p:nvSpPr>
        <p:spPr>
          <a:xfrm>
            <a:off x="518400" y="44964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КОМАНДА</a:t>
            </a:r>
          </a:p>
        </p:txBody>
      </p:sp>
      <p:sp>
        <p:nvSpPr>
          <p:cNvPr id="330" name="PlaceHolder 3"/>
          <p:cNvSpPr>
            <a:spLocks noGrp="1"/>
          </p:cNvSpPr>
          <p:nvPr>
            <p:ph/>
          </p:nvPr>
        </p:nvSpPr>
        <p:spPr>
          <a:xfrm>
            <a:off x="518400" y="4250160"/>
            <a:ext cx="1893960" cy="162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Роль в команде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Ник в мессенджере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Номер телефона</a:t>
            </a:r>
          </a:p>
          <a:p>
            <a:pPr marL="144720" indent="-144720" defTabSz="578880">
              <a:lnSpc>
                <a:spcPct val="90000"/>
              </a:lnSpc>
              <a:spcBef>
                <a:spcPts val="601"/>
              </a:spcBef>
              <a:buClr>
                <a:srgbClr val="ff0053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Montserrat"/>
              </a:rPr>
              <a:t>Место работы/учёбы</a:t>
            </a:r>
          </a:p>
        </p:txBody>
      </p:sp>
      <p:sp>
        <p:nvSpPr>
          <p:cNvPr id="331" name="Текст 8"/>
          <p:cNvSpPr/>
          <p:nvPr/>
        </p:nvSpPr>
        <p:spPr>
          <a:xfrm>
            <a:off x="518400" y="3621960"/>
            <a:ext cx="172224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5"/>
                </a:solidFill>
                <a:latin typeface="Montserrat"/>
              </a:rPr>
              <a:t>Имя Фамилия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Скругленный прямоугольник 1"/>
          <p:cNvSpPr/>
          <p:nvPr/>
        </p:nvSpPr>
        <p:spPr>
          <a:xfrm>
            <a:off x="345960" y="324720"/>
            <a:ext cx="395244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33" name="PlaceHolder 1"/>
          <p:cNvSpPr>
            <a:spLocks noGrp="1"/>
          </p:cNvSpPr>
          <p:nvPr>
            <p:ph type="sldNum" idx="68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6FAEBB61-EB98-4EAB-9913-CD9CBDF13DB6}" type="slidenum">
              <a:rPr b="0" lang="ru-RU" sz="1200" spc="-1" strike="noStrike">
                <a:solidFill>
                  <a:schemeClr val="accent5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title"/>
          </p:nvPr>
        </p:nvSpPr>
        <p:spPr>
          <a:xfrm>
            <a:off x="507960" y="44964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ЗАДАЧА И КОМАНДА</a:t>
            </a:r>
          </a:p>
        </p:txBody>
      </p:sp>
      <p:sp>
        <p:nvSpPr>
          <p:cNvPr id="335" name="PlaceHolder 3"/>
          <p:cNvSpPr>
            <a:spLocks noGrp="1"/>
          </p:cNvSpPr>
          <p:nvPr>
            <p:ph/>
          </p:nvPr>
        </p:nvSpPr>
        <p:spPr>
          <a:xfrm>
            <a:off x="533520" y="1602360"/>
            <a:ext cx="4425480" cy="93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578880">
              <a:lnSpc>
                <a:spcPct val="10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</a:rPr>
              <a:t>[Как собрались, участвовали ли вместе в прошлых хакатонах или проектах, интересные факты о команде.]</a:t>
            </a:r>
          </a:p>
        </p:txBody>
      </p:sp>
      <p:sp>
        <p:nvSpPr>
          <p:cNvPr id="336" name="Текст 8"/>
          <p:cNvSpPr/>
          <p:nvPr/>
        </p:nvSpPr>
        <p:spPr>
          <a:xfrm>
            <a:off x="533520" y="1279800"/>
            <a:ext cx="298980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chemeClr val="accent5"/>
                </a:solidFill>
                <a:latin typeface="Montserrat"/>
              </a:rPr>
              <a:t>Краткая история команды: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Текст 8"/>
          <p:cNvSpPr/>
          <p:nvPr/>
        </p:nvSpPr>
        <p:spPr>
          <a:xfrm>
            <a:off x="530352" y="5193792"/>
            <a:ext cx="10607040" cy="10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</a:rPr>
              <a:t>Главная сложность оказалась не в модели, а в честности измерения. Синтетика давала 91% top-1, первые реальные снимки — 38%: запрос из файла эталона легче настоящего кадра. Теперь меряем на съёмке организатора, делим по винам и фотосериям, пороги подбираем только на настроечной части.</a:t>
            </a:r>
          </a:p>
        </p:txBody>
      </p:sp>
      <p:sp>
        <p:nvSpPr>
          <p:cNvPr id="338" name="Текст 8"/>
          <p:cNvSpPr/>
          <p:nvPr/>
        </p:nvSpPr>
        <p:spPr>
          <a:xfrm>
            <a:off x="533520" y="4571640"/>
            <a:ext cx="6438240" cy="62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1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chemeClr val="accent5"/>
                </a:solidFill>
                <a:latin typeface="Montserrat"/>
              </a:rPr>
              <a:t>С какими основными сложностями или вызовами </a:t>
            </a:r>
            <a:br>
              <a:rPr sz="1400"/>
            </a:br>
            <a:r>
              <a:rPr b="1" lang="ru-RU" sz="1400" spc="-1" strike="noStrike">
                <a:solidFill>
                  <a:schemeClr val="accent5"/>
                </a:solidFill>
                <a:latin typeface="Montserrat"/>
              </a:rPr>
              <a:t>вы столкнулись и как их преодолели?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Текст 8"/>
          <p:cNvSpPr/>
          <p:nvPr/>
        </p:nvSpPr>
        <p:spPr>
          <a:xfrm>
            <a:off x="530352" y="3529584"/>
            <a:ext cx="1033272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</a:rPr>
              <a:t>Задача проверяемая: закрытая разметка, скрипт оценки и метрика, которую нельзя подкрутить рассказом. И редкий случай, когда near-duplicates не крайний случай, а сама суть кейса — 69 групп на 152 позиции каталога различаются годом, крепостью или вовсе ничем.</a:t>
            </a:r>
          </a:p>
        </p:txBody>
      </p:sp>
      <p:sp>
        <p:nvSpPr>
          <p:cNvPr id="340" name="Текст 8"/>
          <p:cNvSpPr/>
          <p:nvPr/>
        </p:nvSpPr>
        <p:spPr>
          <a:xfrm>
            <a:off x="533520" y="2900160"/>
            <a:ext cx="56293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chemeClr val="accent5"/>
                </a:solidFill>
                <a:latin typeface="Montserrat"/>
              </a:rPr>
              <a:t>Почему вы выбрали именно эту задачу </a:t>
            </a:r>
            <a:br>
              <a:rPr sz="1400"/>
            </a:br>
            <a:r>
              <a:rPr b="1" lang="ru-RU" sz="1400" spc="-1" strike="noStrike">
                <a:solidFill>
                  <a:schemeClr val="accent5"/>
                </a:solidFill>
                <a:latin typeface="Montserrat"/>
              </a:rPr>
              <a:t>из предложенных на хакатоне?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41" name="Прямая соединительная линия 4"/>
          <p:cNvCxnSpPr/>
          <p:nvPr/>
        </p:nvCxnSpPr>
        <p:spPr>
          <a:xfrm>
            <a:off x="623880" y="2745360"/>
            <a:ext cx="11233440" cy="360"/>
          </a:xfrm>
          <a:prstGeom prst="straightConnector1">
            <a:avLst/>
          </a:prstGeom>
          <a:ln>
            <a:solidFill>
              <a:srgbClr val="ff0053"/>
            </a:solidFill>
          </a:ln>
        </p:spPr>
      </p:cxnSp>
      <p:cxnSp>
        <p:nvCxnSpPr>
          <p:cNvPr id="342" name="Прямая соединительная линия 5"/>
          <p:cNvCxnSpPr/>
          <p:nvPr/>
        </p:nvCxnSpPr>
        <p:spPr>
          <a:xfrm>
            <a:off x="623880" y="4406760"/>
            <a:ext cx="11233440" cy="360"/>
          </a:xfrm>
          <a:prstGeom prst="straightConnector1">
            <a:avLst/>
          </a:prstGeom>
          <a:ln>
            <a:solidFill>
              <a:srgbClr val="ff0053"/>
            </a:solidFill>
          </a:ln>
        </p:spPr>
      </p:cxnSp>
      <p:cxnSp>
        <p:nvCxnSpPr>
          <p:cNvPr id="343" name="Прямая соединительная линия 7"/>
          <p:cNvCxnSpPr/>
          <p:nvPr/>
        </p:nvCxnSpPr>
        <p:spPr>
          <a:xfrm>
            <a:off x="623880" y="1109880"/>
            <a:ext cx="11233440" cy="360"/>
          </a:xfrm>
          <a:prstGeom prst="straightConnector1">
            <a:avLst/>
          </a:prstGeom>
          <a:ln>
            <a:solidFill>
              <a:srgbClr val="ff0053"/>
            </a:solidFill>
          </a:ln>
        </p:spPr>
      </p:cxnSp>
      <p:sp>
        <p:nvSpPr>
          <p:cNvPr id="344" name="Текст 8"/>
          <p:cNvSpPr/>
          <p:nvPr/>
        </p:nvSpPr>
        <p:spPr>
          <a:xfrm>
            <a:off x="11015640" y="1279800"/>
            <a:ext cx="95652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r"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chemeClr val="accent5"/>
                </a:solidFill>
                <a:latin typeface="Montserrat"/>
              </a:rPr>
              <a:t>01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Текст 8"/>
          <p:cNvSpPr/>
          <p:nvPr/>
        </p:nvSpPr>
        <p:spPr>
          <a:xfrm>
            <a:off x="11015640" y="2900160"/>
            <a:ext cx="9302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r"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chemeClr val="accent5"/>
                </a:solidFill>
                <a:latin typeface="Montserrat"/>
              </a:rPr>
              <a:t>02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Текст 8"/>
          <p:cNvSpPr/>
          <p:nvPr/>
        </p:nvSpPr>
        <p:spPr>
          <a:xfrm>
            <a:off x="11015640" y="4571640"/>
            <a:ext cx="930240" cy="5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r" defTabSz="578880">
              <a:lnSpc>
                <a:spcPct val="10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chemeClr val="accent5"/>
                </a:solidFill>
                <a:latin typeface="Montserrat"/>
              </a:rPr>
              <a:t>03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Скругленный прямоугольник 9"/>
          <p:cNvSpPr/>
          <p:nvPr/>
        </p:nvSpPr>
        <p:spPr>
          <a:xfrm>
            <a:off x="345960" y="324720"/>
            <a:ext cx="375048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48" name="Скругленный прямоугольник 23"/>
          <p:cNvSpPr/>
          <p:nvPr/>
        </p:nvSpPr>
        <p:spPr>
          <a:xfrm>
            <a:off x="6230880" y="1211400"/>
            <a:ext cx="5439960" cy="4989240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49" name="Скругленный прямоугольник 26"/>
          <p:cNvSpPr/>
          <p:nvPr/>
        </p:nvSpPr>
        <p:spPr>
          <a:xfrm>
            <a:off x="345960" y="1211400"/>
            <a:ext cx="5439960" cy="4989240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50" name="PlaceHolder 1"/>
          <p:cNvSpPr>
            <a:spLocks noGrp="1"/>
          </p:cNvSpPr>
          <p:nvPr>
            <p:ph type="sldNum" idx="69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FB187EA-27B0-4CF3-A215-5B6401153E55}" type="slidenum">
              <a:rPr b="0" lang="ru-RU" sz="1200" spc="-1" strike="noStrike">
                <a:solidFill>
                  <a:schemeClr val="lt1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589320" y="1920960"/>
            <a:ext cx="4929480" cy="386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</a:rPr>
              <a:t>YOLO11m находит бутылку: кадр идёт двумя видами — кропом и целиком</a:t>
            </a: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</a:rPr>
              <a:t>SigLIP 2 so400m-384, 1152 измерения: косинус против индекса каталога, топ-20</a:t>
            </a: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</a:rPr>
              <a:t>SIFT, тест Лоу и гомография RANSAC: сколько точек этикетки реально совпало</a:t>
            </a: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</a:rPr>
              <a:t>EasyOCR разводит близких лидеров, Qwen3-VL проверяет спорный ответ и соседей</a:t>
            </a: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</a:rPr>
              <a:t>Логистическая регрессия на семи признаках решает: карточка, оговорка или отказ</a:t>
            </a: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</a:rPr>
              <a:t>FastAPI, Nuxt и pgvector в Docker, медиана ответа 0.93 с</a:t>
            </a:r>
          </a:p>
        </p:txBody>
      </p:sp>
      <p:sp>
        <p:nvSpPr>
          <p:cNvPr id="352" name="PlaceHolder 3"/>
          <p:cNvSpPr>
            <a:spLocks noGrp="1"/>
          </p:cNvSpPr>
          <p:nvPr>
            <p:ph/>
          </p:nvPr>
        </p:nvSpPr>
        <p:spPr>
          <a:xfrm>
            <a:off x="6513480" y="1920960"/>
            <a:ext cx="4956840" cy="387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</a:rPr>
              <a:t>Одна карточка вместо экрана вариантов — то, ради чего в ТЗ и стоит F1</a:t>
            </a: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</a:rPr>
              <a:t>Отказ без вранья: «не удалось уверенно определить», а не «такого вина нет»</a:t>
            </a: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</a:rPr>
              <a:t>«Цифровой сомелье» и аналоги других виноделен — повод остаться в каталоге</a:t>
            </a: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</a:rPr>
              <a:t>Mobile-first модуль в стилистике портала: живёт внутри каталога, а не рядом</a:t>
            </a: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Montserrat"/>
              </a:rPr>
              <a:t>Эталоны — только фото из датасета кейса; переиндексация не трогает код</a:t>
            </a:r>
          </a:p>
        </p:txBody>
      </p:sp>
      <p:sp>
        <p:nvSpPr>
          <p:cNvPr id="353" name="PlaceHolder 4"/>
          <p:cNvSpPr>
            <a:spLocks noGrp="1"/>
          </p:cNvSpPr>
          <p:nvPr>
            <p:ph type="title"/>
          </p:nvPr>
        </p:nvSpPr>
        <p:spPr>
          <a:xfrm>
            <a:off x="525960" y="45684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78880">
              <a:lnSpc>
                <a:spcPct val="90000"/>
              </a:lnSpc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КОРОТКО О РЕШЕНИИ</a:t>
            </a:r>
          </a:p>
        </p:txBody>
      </p:sp>
      <p:sp>
        <p:nvSpPr>
          <p:cNvPr id="354" name="PlaceHolder 5"/>
          <p:cNvSpPr>
            <a:spLocks noGrp="1"/>
          </p:cNvSpPr>
          <p:nvPr>
            <p:ph/>
          </p:nvPr>
        </p:nvSpPr>
        <p:spPr>
          <a:xfrm>
            <a:off x="578160" y="1476720"/>
            <a:ext cx="4929480" cy="55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10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chemeClr val="accent5"/>
                </a:solidFill>
                <a:latin typeface="Montserrat"/>
              </a:rPr>
              <a:t>Техническая суть решения</a:t>
            </a:r>
          </a:p>
        </p:txBody>
      </p:sp>
      <p:sp>
        <p:nvSpPr>
          <p:cNvPr id="355" name="PlaceHolder 6"/>
          <p:cNvSpPr>
            <a:spLocks noGrp="1"/>
          </p:cNvSpPr>
          <p:nvPr>
            <p:ph/>
          </p:nvPr>
        </p:nvSpPr>
        <p:spPr>
          <a:xfrm>
            <a:off x="6513480" y="1476720"/>
            <a:ext cx="5214240" cy="56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78880">
              <a:lnSpc>
                <a:spcPct val="100000"/>
              </a:lnSpc>
              <a:spcBef>
                <a:spcPts val="632"/>
              </a:spcBef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chemeClr val="accent5"/>
                </a:solidFill>
                <a:latin typeface="Montserrat"/>
              </a:rPr>
              <a:t>Маркетинговая суть решения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Скругленный прямоугольник 9"/>
          <p:cNvSpPr/>
          <p:nvPr/>
        </p:nvSpPr>
        <p:spPr>
          <a:xfrm>
            <a:off x="345960" y="324720"/>
            <a:ext cx="311148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81" name="Скругленный прямоугольник 22"/>
          <p:cNvSpPr/>
          <p:nvPr/>
        </p:nvSpPr>
        <p:spPr>
          <a:xfrm>
            <a:off x="3288600" y="1522080"/>
            <a:ext cx="267228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82" name="Скругленный прямоугольник 23"/>
          <p:cNvSpPr/>
          <p:nvPr/>
        </p:nvSpPr>
        <p:spPr>
          <a:xfrm>
            <a:off x="6230880" y="1522080"/>
            <a:ext cx="267228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83" name="Скругленный прямоугольник 24"/>
          <p:cNvSpPr/>
          <p:nvPr/>
        </p:nvSpPr>
        <p:spPr>
          <a:xfrm>
            <a:off x="9173160" y="1522080"/>
            <a:ext cx="267228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84" name="Скругленный прямоугольник 26"/>
          <p:cNvSpPr/>
          <p:nvPr/>
        </p:nvSpPr>
        <p:spPr>
          <a:xfrm>
            <a:off x="345960" y="1522080"/>
            <a:ext cx="267228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385" name="PlaceHolder 1"/>
          <p:cNvSpPr>
            <a:spLocks noGrp="1"/>
          </p:cNvSpPr>
          <p:nvPr>
            <p:ph type="sldNum" idx="73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lt1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54F7B16-EC34-47CC-B993-255645DCB98B}" type="slidenum">
              <a:rPr b="0" lang="ru-RU" sz="1200" spc="-1" strike="noStrike">
                <a:solidFill>
                  <a:schemeClr val="lt1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/>
          </p:nvPr>
        </p:nvSpPr>
        <p:spPr>
          <a:xfrm>
            <a:off x="520920" y="2339640"/>
            <a:ext cx="228384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END-TO-END РАБОТАЕТ</a:t>
            </a:r>
          </a:p>
        </p:txBody>
      </p:sp>
      <p:sp>
        <p:nvSpPr>
          <p:cNvPr id="387" name="PlaceHolder 3"/>
          <p:cNvSpPr>
            <a:spLocks noGrp="1"/>
          </p:cNvSpPr>
          <p:nvPr>
            <p:ph/>
          </p:nvPr>
        </p:nvSpPr>
        <p:spPr>
          <a:xfrm>
            <a:off x="520920" y="3128760"/>
            <a:ext cx="2283840" cy="27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Загрузка фото → поиск → карточка в JSON. Скрипт оценки кейсодержателя отвечает по контракту {"slug": "..."}. Сборка воспроизводится с нуля на чужой машине.</a:t>
            </a:r>
          </a:p>
          <a:p>
            <a:pPr indent="0">
              <a:lnSpc>
                <a:spcPct val="90000"/>
              </a:lnSpc>
              <a:buNone/>
              <a:spcBef>
                <a:spcPts val="900"/>
              </a:spcBef>
            </a:pPr>
            <a:r>
              <a:rPr b="1" lang="ru-RU" sz="1450" spc="-1" strike="noStrike">
                <a:solidFill>
                  <a:srgbClr val="FF0053"/>
                </a:solidFill>
                <a:latin typeface="Montserrat"/>
              </a:rPr>
              <a:t>docker compose up</a:t>
            </a:r>
          </a:p>
        </p:txBody>
      </p:sp>
      <p:sp>
        <p:nvSpPr>
          <p:cNvPr id="388" name="PlaceHolder 4"/>
          <p:cNvSpPr>
            <a:spLocks noGrp="1"/>
          </p:cNvSpPr>
          <p:nvPr>
            <p:ph/>
          </p:nvPr>
        </p:nvSpPr>
        <p:spPr>
          <a:xfrm>
            <a:off x="3457800" y="2373480"/>
            <a:ext cx="233712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F1 ПОКАЗАН</a:t>
            </a:r>
          </a:p>
        </p:txBody>
      </p:sp>
      <p:sp>
        <p:nvSpPr>
          <p:cNvPr id="389" name="PlaceHolder 5"/>
          <p:cNvSpPr>
            <a:spLocks noGrp="1"/>
          </p:cNvSpPr>
          <p:nvPr>
            <p:ph/>
          </p:nvPr>
        </p:nvSpPr>
        <p:spPr>
          <a:xfrm>
            <a:off x="3457800" y="3134160"/>
            <a:ext cx="2337120" cy="27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F1 86.7% топ-1 и 90.0% топ-5 на съёмке организатора, 89.3% и 94.7% на синтетике. Сервис отдаёт метрики в quality каждого ответа и в /health.</a:t>
            </a:r>
          </a:p>
          <a:p>
            <a:pPr indent="0">
              <a:lnSpc>
                <a:spcPct val="90000"/>
              </a:lnSpc>
              <a:buNone/>
              <a:spcBef>
                <a:spcPts val="900"/>
              </a:spcBef>
            </a:pPr>
            <a:r>
              <a:rPr b="1" lang="ru-RU" sz="1450" spc="-1" strike="noStrike">
                <a:solidFill>
                  <a:srgbClr val="FF0053"/>
                </a:solidFill>
                <a:latin typeface="Montserrat"/>
              </a:rPr>
              <a:t>GET /health → quality</a:t>
            </a:r>
          </a:p>
        </p:txBody>
      </p:sp>
      <p:sp>
        <p:nvSpPr>
          <p:cNvPr id="390" name="PlaceHolder 6"/>
          <p:cNvSpPr>
            <a:spLocks noGrp="1"/>
          </p:cNvSpPr>
          <p:nvPr>
            <p:ph/>
          </p:nvPr>
        </p:nvSpPr>
        <p:spPr>
          <a:xfrm>
            <a:off x="6456240" y="2379600"/>
            <a:ext cx="226800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ОГРАНИЧЕНИЯ НАЗВАНЫ</a:t>
            </a:r>
          </a:p>
        </p:txBody>
      </p:sp>
      <p:sp>
        <p:nvSpPr>
          <p:cNvPr id="391" name="PlaceHolder 7"/>
          <p:cNvSpPr>
            <a:spLocks noGrp="1"/>
          </p:cNvSpPr>
          <p:nvPr>
            <p:ph/>
          </p:nvPr>
        </p:nvSpPr>
        <p:spPr>
          <a:xfrm>
            <a:off x="6456240" y="3136680"/>
            <a:ext cx="2268000" cy="27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12 позиций каталога без эталона в датасете. 41% почти-дублей различается крепостью, которой на лицевой этикетке нет. Это потолок для любого алгоритма по одному кадру.</a:t>
            </a:r>
          </a:p>
          <a:p>
            <a:pPr indent="0">
              <a:lnSpc>
                <a:spcPct val="90000"/>
              </a:lnSpc>
              <a:buNone/>
              <a:spcBef>
                <a:spcPts val="900"/>
              </a:spcBef>
            </a:pPr>
            <a:r>
              <a:rPr b="1" lang="ru-RU" sz="1450" spc="-1" strike="noStrike">
                <a:solidFill>
                  <a:srgbClr val="FF0053"/>
                </a:solidFill>
                <a:latin typeface="Montserrat"/>
              </a:rPr>
              <a:t>ARCHITECTURE.md</a:t>
            </a:r>
          </a:p>
        </p:txBody>
      </p:sp>
      <p:sp>
        <p:nvSpPr>
          <p:cNvPr id="392" name="PlaceHolder 8"/>
          <p:cNvSpPr>
            <a:spLocks noGrp="1"/>
          </p:cNvSpPr>
          <p:nvPr>
            <p:ph/>
          </p:nvPr>
        </p:nvSpPr>
        <p:spPr>
          <a:xfrm>
            <a:off x="9407520" y="2339640"/>
            <a:ext cx="226332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ЧИСЛА ЧЕСТНЫЕ</a:t>
            </a:r>
          </a:p>
        </p:txBody>
      </p:sp>
      <p:sp>
        <p:nvSpPr>
          <p:cNvPr id="393" name="PlaceHolder 9"/>
          <p:cNvSpPr>
            <a:spLocks noGrp="1"/>
          </p:cNvSpPr>
          <p:nvPr>
            <p:ph/>
          </p:nvPr>
        </p:nvSpPr>
        <p:spPr>
          <a:xfrm>
            <a:off x="9407520" y="3128760"/>
            <a:ext cx="2263320" cy="27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Синтетика и съёмка организатора сходятся в пределах 6 п.п.: 53 из 62. Приводим все числа, а не удобное.</a:t>
            </a:r>
          </a:p>
          <a:p>
            <a:pPr indent="0">
              <a:lnSpc>
                <a:spcPct val="90000"/>
              </a:lnSpc>
              <a:buNone/>
              <a:spcBef>
                <a:spcPts val="900"/>
              </a:spcBef>
            </a:pPr>
            <a:r>
              <a:rPr b="1" lang="ru-RU" sz="1450" spc="-1" strike="noStrike">
                <a:solidFill>
                  <a:srgbClr val="FF0053"/>
                </a:solidFill>
                <a:latin typeface="Montserrat"/>
              </a:rPr>
              <a:t>pipeline/eval_field.py</a:t>
            </a:r>
          </a:p>
        </p:txBody>
      </p:sp>
      <p:sp>
        <p:nvSpPr>
          <p:cNvPr id="394" name="PlaceHolder 10"/>
          <p:cNvSpPr>
            <a:spLocks noGrp="1"/>
          </p:cNvSpPr>
          <p:nvPr>
            <p:ph type="title"/>
          </p:nvPr>
        </p:nvSpPr>
        <p:spPr>
          <a:xfrm>
            <a:off x="52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ВЫВОДЫ</a:t>
            </a:r>
          </a:p>
        </p:txBody>
      </p:sp>
      <p:sp>
        <p:nvSpPr>
          <p:cNvPr id="395" name="PlaceHolder 11"/>
          <p:cNvSpPr>
            <a:spLocks noGrp="1"/>
          </p:cNvSpPr>
          <p:nvPr>
            <p:ph/>
          </p:nvPr>
        </p:nvSpPr>
        <p:spPr>
          <a:xfrm>
            <a:off x="520920" y="1772280"/>
            <a:ext cx="77076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396" name="PlaceHolder 12"/>
          <p:cNvSpPr>
            <a:spLocks noGrp="1"/>
          </p:cNvSpPr>
          <p:nvPr>
            <p:ph/>
          </p:nvPr>
        </p:nvSpPr>
        <p:spPr>
          <a:xfrm>
            <a:off x="3449880" y="176616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397" name="PlaceHolder 13"/>
          <p:cNvSpPr>
            <a:spLocks noGrp="1"/>
          </p:cNvSpPr>
          <p:nvPr>
            <p:ph/>
          </p:nvPr>
        </p:nvSpPr>
        <p:spPr>
          <a:xfrm>
            <a:off x="6456240" y="176616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98" name="PlaceHolder 14"/>
          <p:cNvSpPr>
            <a:spLocks noGrp="1"/>
          </p:cNvSpPr>
          <p:nvPr>
            <p:ph/>
          </p:nvPr>
        </p:nvSpPr>
        <p:spPr>
          <a:xfrm>
            <a:off x="9407520" y="1772280"/>
            <a:ext cx="77076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Скругленный прямоугольник 7"/>
          <p:cNvSpPr/>
          <p:nvPr/>
        </p:nvSpPr>
        <p:spPr>
          <a:xfrm>
            <a:off x="4419360" y="1522080"/>
            <a:ext cx="339912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00" name="Скругленный прямоугольник 8"/>
          <p:cNvSpPr/>
          <p:nvPr/>
        </p:nvSpPr>
        <p:spPr>
          <a:xfrm>
            <a:off x="8366040" y="1522080"/>
            <a:ext cx="324828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01" name="Скругленный прямоугольник 9"/>
          <p:cNvSpPr/>
          <p:nvPr/>
        </p:nvSpPr>
        <p:spPr>
          <a:xfrm>
            <a:off x="623880" y="1522080"/>
            <a:ext cx="324828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02" name="PlaceHolder 1"/>
          <p:cNvSpPr>
            <a:spLocks noGrp="1"/>
          </p:cNvSpPr>
          <p:nvPr>
            <p:ph type="sldNum" idx="74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023E0FE-5921-464B-BA8C-AF9FE6B22215}" type="slidenum">
              <a:rPr b="0" lang="ru-RU" sz="1200" spc="-1" strike="noStrike">
                <a:solidFill>
                  <a:schemeClr val="accent5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780480" y="2493000"/>
            <a:ext cx="296532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ТОЛЬКО SIGLIP</a:t>
            </a:r>
          </a:p>
        </p:txBody>
      </p:sp>
      <p:sp>
        <p:nvSpPr>
          <p:cNvPr id="404" name="PlaceHolder 3"/>
          <p:cNvSpPr>
            <a:spLocks noGrp="1"/>
          </p:cNvSpPr>
          <p:nvPr>
            <p:ph/>
          </p:nvPr>
        </p:nvSpPr>
        <p:spPr>
          <a:xfrm>
            <a:off x="780480" y="3128760"/>
            <a:ext cx="2965320" cy="27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Глобальный эмбеддинг отвечает на вопрос «похожая ли этикетка». У позиций одной серии совпадает макет, цвет и форма бутылки, а различает их мелкий шрифт, которого вектор не видит. На синтетических почти-дублях — 63.5% top-1.</a:t>
            </a:r>
          </a:p>
        </p:txBody>
      </p:sp>
      <p:sp>
        <p:nvSpPr>
          <p:cNvPr id="405" name="PlaceHolder 4"/>
          <p:cNvSpPr>
            <a:spLocks noGrp="1"/>
          </p:cNvSpPr>
          <p:nvPr>
            <p:ph/>
          </p:nvPr>
        </p:nvSpPr>
        <p:spPr>
          <a:xfrm>
            <a:off x="4623120" y="2493000"/>
            <a:ext cx="303444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ПЛЮС ГЕОМЕТРИЯ</a:t>
            </a:r>
          </a:p>
        </p:txBody>
      </p:sp>
      <p:sp>
        <p:nvSpPr>
          <p:cNvPr id="406" name="PlaceHolder 5"/>
          <p:cNvSpPr>
            <a:spLocks noGrp="1"/>
          </p:cNvSpPr>
          <p:nvPr>
            <p:ph/>
          </p:nvPr>
        </p:nvSpPr>
        <p:spPr>
          <a:xfrm>
            <a:off x="4623120" y="3128760"/>
            <a:ext cx="3034440" cy="27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Локальные признаки отвечают на другой вопрос — «та же самая этикетка». Они считают конкретные совпавшие точки и проверяют, ложатся ли те на одно преобразование. На почти-дублях 63.5% превращаются в 96.8%.</a:t>
            </a:r>
          </a:p>
        </p:txBody>
      </p:sp>
      <p:sp>
        <p:nvSpPr>
          <p:cNvPr id="407" name="PlaceHolder 6"/>
          <p:cNvSpPr>
            <a:spLocks noGrp="1"/>
          </p:cNvSpPr>
          <p:nvPr>
            <p:ph/>
          </p:nvPr>
        </p:nvSpPr>
        <p:spPr>
          <a:xfrm>
            <a:off x="8547840" y="2493000"/>
            <a:ext cx="29451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ЦЕНА ГЛУБИНЫ</a:t>
            </a:r>
          </a:p>
        </p:txBody>
      </p:sp>
      <p:sp>
        <p:nvSpPr>
          <p:cNvPr id="408" name="PlaceHolder 7"/>
          <p:cNvSpPr>
            <a:spLocks noGrp="1"/>
          </p:cNvSpPr>
          <p:nvPr>
            <p:ph/>
          </p:nvPr>
        </p:nvSpPr>
        <p:spPr>
          <a:xfrm>
            <a:off x="8547840" y="3128760"/>
            <a:ext cx="2945160" cy="27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Шортлист 20 → 100 стоит вчетверо дороже и приносит +1.0 п.п.: промахи отбора лежат не на границе, а глубоко — 30 из 35 ниже сотого места. Лечит их не глубина, а второй вид кадра: recall@20 вырос с 91.2% до 96.8%.</a:t>
            </a:r>
          </a:p>
        </p:txBody>
      </p:sp>
      <p:sp>
        <p:nvSpPr>
          <p:cNvPr id="409" name="PlaceHolder 8"/>
          <p:cNvSpPr>
            <a:spLocks noGrp="1"/>
          </p:cNvSpPr>
          <p:nvPr>
            <p:ph type="title"/>
          </p:nvPr>
        </p:nvSpPr>
        <p:spPr>
          <a:xfrm>
            <a:off x="525960" y="335520"/>
            <a:ext cx="113310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1" lang="ru-RU" sz="2000" spc="-1" strike="noStrike">
                <a:solidFill>
                  <a:srgbClr val="310F53"/>
                </a:solidFill>
                <a:latin typeface="Montserrat"/>
              </a:rPr>
              <a:t>ПОЧЕМУ ДВЕ СТУПЕНИ</a:t>
            </a:r>
          </a:p>
        </p:txBody>
      </p:sp>
      <p:sp>
        <p:nvSpPr>
          <p:cNvPr id="410" name="PlaceHolder 9"/>
          <p:cNvSpPr>
            <a:spLocks noGrp="1"/>
          </p:cNvSpPr>
          <p:nvPr>
            <p:ph/>
          </p:nvPr>
        </p:nvSpPr>
        <p:spPr>
          <a:xfrm>
            <a:off x="780480" y="1772280"/>
            <a:ext cx="1310760" cy="60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63.5%</a:t>
            </a:r>
          </a:p>
        </p:txBody>
      </p:sp>
      <p:sp>
        <p:nvSpPr>
          <p:cNvPr id="411" name="PlaceHolder 10"/>
          <p:cNvSpPr>
            <a:spLocks noGrp="1"/>
          </p:cNvSpPr>
          <p:nvPr>
            <p:ph/>
          </p:nvPr>
        </p:nvSpPr>
        <p:spPr>
          <a:xfrm>
            <a:off x="4615200" y="1766160"/>
            <a:ext cx="131076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96.8%</a:t>
            </a:r>
          </a:p>
        </p:txBody>
      </p:sp>
      <p:sp>
        <p:nvSpPr>
          <p:cNvPr id="412" name="PlaceHolder 11"/>
          <p:cNvSpPr>
            <a:spLocks noGrp="1"/>
          </p:cNvSpPr>
          <p:nvPr>
            <p:ph/>
          </p:nvPr>
        </p:nvSpPr>
        <p:spPr>
          <a:xfrm>
            <a:off x="8547840" y="1766160"/>
            <a:ext cx="131076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×4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Скругленный прямоугольник 22"/>
          <p:cNvSpPr/>
          <p:nvPr/>
        </p:nvSpPr>
        <p:spPr>
          <a:xfrm>
            <a:off x="345960" y="324720"/>
            <a:ext cx="311148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14" name="PlaceHolder 1"/>
          <p:cNvSpPr>
            <a:spLocks noGrp="1"/>
          </p:cNvSpPr>
          <p:nvPr>
            <p:ph type="sldNum" idx="75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8EBC2BD0-A85E-45EF-BB8A-DDB818593FCD}" type="slidenum">
              <a:rPr b="0" lang="ru-RU" sz="1200" spc="-1" strike="noStrike">
                <a:solidFill>
                  <a:schemeClr val="accent5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/>
          </p:nvPr>
        </p:nvSpPr>
        <p:spPr>
          <a:xfrm>
            <a:off x="1616040" y="1428840"/>
            <a:ext cx="386640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У ПОЛКИ</a:t>
            </a:r>
          </a:p>
        </p:txBody>
      </p:sp>
      <p:sp>
        <p:nvSpPr>
          <p:cNvPr id="416" name="PlaceHolder 3"/>
          <p:cNvSpPr>
            <a:spLocks noGrp="1"/>
          </p:cNvSpPr>
          <p:nvPr>
            <p:ph/>
          </p:nvPr>
        </p:nvSpPr>
        <p:spPr>
          <a:xfrm>
            <a:off x="1616040" y="199656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Два десятка российских бутылок, о которых международные приложения не знают ничего.</a:t>
            </a:r>
          </a:p>
        </p:txBody>
      </p:sp>
      <p:sp>
        <p:nvSpPr>
          <p:cNvPr id="417" name="PlaceHolder 4"/>
          <p:cNvSpPr>
            <a:spLocks noGrp="1"/>
          </p:cNvSpPr>
          <p:nvPr>
            <p:ph/>
          </p:nvPr>
        </p:nvSpPr>
        <p:spPr>
          <a:xfrm>
            <a:off x="1596600" y="303264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ОДНА КАРТОЧКА</a:t>
            </a:r>
          </a:p>
        </p:txBody>
      </p:sp>
      <p:sp>
        <p:nvSpPr>
          <p:cNvPr id="418" name="PlaceHolder 5"/>
          <p:cNvSpPr>
            <a:spLocks noGrp="1"/>
          </p:cNvSpPr>
          <p:nvPr>
            <p:ph/>
          </p:nvPr>
        </p:nvSpPr>
        <p:spPr>
          <a:xfrm>
            <a:off x="1596600" y="358056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Не экран вариантов. Ради этого в ТЗ и стоит F1: высокий отрыв убирает экран выбора.</a:t>
            </a:r>
          </a:p>
        </p:txBody>
      </p:sp>
      <p:sp>
        <p:nvSpPr>
          <p:cNvPr id="419" name="PlaceHolder 6"/>
          <p:cNvSpPr>
            <a:spLocks noGrp="1"/>
          </p:cNvSpPr>
          <p:nvPr>
            <p:ph/>
          </p:nvPr>
        </p:nvSpPr>
        <p:spPr>
          <a:xfrm>
            <a:off x="1596600" y="461700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ЧЕСТНЫЙ ОТКАЗ</a:t>
            </a:r>
          </a:p>
        </p:txBody>
      </p:sp>
      <p:sp>
        <p:nvSpPr>
          <p:cNvPr id="420" name="PlaceHolder 7"/>
          <p:cNvSpPr>
            <a:spLocks noGrp="1"/>
          </p:cNvSpPr>
          <p:nvPr>
            <p:ph/>
          </p:nvPr>
        </p:nvSpPr>
        <p:spPr>
          <a:xfrm>
            <a:off x="1596600" y="516456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«Не удалось уверенно определить» — сервис говорит ровно то, что знает, и не больше.</a:t>
            </a:r>
          </a:p>
        </p:txBody>
      </p:sp>
      <p:sp>
        <p:nvSpPr>
          <p:cNvPr id="421" name="PlaceHolder 8"/>
          <p:cNvSpPr>
            <a:spLocks noGrp="1"/>
          </p:cNvSpPr>
          <p:nvPr>
            <p:ph/>
          </p:nvPr>
        </p:nvSpPr>
        <p:spPr>
          <a:xfrm>
            <a:off x="7288920" y="1428840"/>
            <a:ext cx="386640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2103 ПОЗИЦИИ</a:t>
            </a:r>
          </a:p>
        </p:txBody>
      </p:sp>
      <p:sp>
        <p:nvSpPr>
          <p:cNvPr id="422" name="PlaceHolder 9"/>
          <p:cNvSpPr>
            <a:spLocks noGrp="1"/>
          </p:cNvSpPr>
          <p:nvPr>
            <p:ph/>
          </p:nvPr>
        </p:nvSpPr>
        <p:spPr>
          <a:xfrm>
            <a:off x="7288920" y="199656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Эталон — только фото из датасета кейса. 69 групп почти-дублей в каталоге.</a:t>
            </a:r>
          </a:p>
        </p:txBody>
      </p:sp>
      <p:sp>
        <p:nvSpPr>
          <p:cNvPr id="423" name="PlaceHolder 10"/>
          <p:cNvSpPr>
            <a:spLocks noGrp="1"/>
          </p:cNvSpPr>
          <p:nvPr>
            <p:ph/>
          </p:nvPr>
        </p:nvSpPr>
        <p:spPr>
          <a:xfrm>
            <a:off x="7269840" y="303264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MOBILE-FIRST</a:t>
            </a:r>
          </a:p>
        </p:txBody>
      </p:sp>
      <p:sp>
        <p:nvSpPr>
          <p:cNvPr id="424" name="PlaceHolder 11"/>
          <p:cNvSpPr>
            <a:spLocks noGrp="1"/>
          </p:cNvSpPr>
          <p:nvPr>
            <p:ph/>
          </p:nvPr>
        </p:nvSpPr>
        <p:spPr>
          <a:xfrm>
            <a:off x="7269840" y="358056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Модуль внутри каталога «Своё Вино», а не отдельное приложение рядом с ним.</a:t>
            </a:r>
          </a:p>
        </p:txBody>
      </p:sp>
      <p:sp>
        <p:nvSpPr>
          <p:cNvPr id="425" name="PlaceHolder 12"/>
          <p:cNvSpPr>
            <a:spLocks noGrp="1"/>
          </p:cNvSpPr>
          <p:nvPr>
            <p:ph/>
          </p:nvPr>
        </p:nvSpPr>
        <p:spPr>
          <a:xfrm>
            <a:off x="7269840" y="461700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ПОВОД ОСТАТЬСЯ</a:t>
            </a:r>
          </a:p>
        </p:txBody>
      </p:sp>
      <p:sp>
        <p:nvSpPr>
          <p:cNvPr id="426" name="PlaceHolder 13"/>
          <p:cNvSpPr>
            <a:spLocks noGrp="1"/>
          </p:cNvSpPr>
          <p:nvPr>
            <p:ph/>
          </p:nvPr>
        </p:nvSpPr>
        <p:spPr>
          <a:xfrm>
            <a:off x="7269840" y="516456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Сомелье и аналоги виноделен: поиск заканчивается не тупиком, а следующим шагом.</a:t>
            </a:r>
          </a:p>
        </p:txBody>
      </p:sp>
      <p:sp>
        <p:nvSpPr>
          <p:cNvPr id="427" name="PlaceHolder 14"/>
          <p:cNvSpPr>
            <a:spLocks noGrp="1"/>
          </p:cNvSpPr>
          <p:nvPr>
            <p:ph type="title"/>
          </p:nvPr>
        </p:nvSpPr>
        <p:spPr>
          <a:xfrm>
            <a:off x="52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КОНЦЕПЦИЯ</a:t>
            </a:r>
          </a:p>
        </p:txBody>
      </p:sp>
      <p:sp>
        <p:nvSpPr>
          <p:cNvPr id="428" name="PlaceHolder 15"/>
          <p:cNvSpPr>
            <a:spLocks noGrp="1"/>
          </p:cNvSpPr>
          <p:nvPr>
            <p:ph/>
          </p:nvPr>
        </p:nvSpPr>
        <p:spPr>
          <a:xfrm>
            <a:off x="520920" y="1393920"/>
            <a:ext cx="77076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429" name="PlaceHolder 16"/>
          <p:cNvSpPr>
            <a:spLocks noGrp="1"/>
          </p:cNvSpPr>
          <p:nvPr>
            <p:ph/>
          </p:nvPr>
        </p:nvSpPr>
        <p:spPr>
          <a:xfrm>
            <a:off x="501480" y="299808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430" name="PlaceHolder 17"/>
          <p:cNvSpPr>
            <a:spLocks noGrp="1"/>
          </p:cNvSpPr>
          <p:nvPr>
            <p:ph/>
          </p:nvPr>
        </p:nvSpPr>
        <p:spPr>
          <a:xfrm>
            <a:off x="501480" y="458208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431" name="PlaceHolder 18"/>
          <p:cNvSpPr>
            <a:spLocks noGrp="1"/>
          </p:cNvSpPr>
          <p:nvPr>
            <p:ph/>
          </p:nvPr>
        </p:nvSpPr>
        <p:spPr>
          <a:xfrm>
            <a:off x="6194160" y="1393920"/>
            <a:ext cx="77076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432" name="PlaceHolder 19"/>
          <p:cNvSpPr>
            <a:spLocks noGrp="1"/>
          </p:cNvSpPr>
          <p:nvPr>
            <p:ph/>
          </p:nvPr>
        </p:nvSpPr>
        <p:spPr>
          <a:xfrm>
            <a:off x="6174720" y="299808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05</a:t>
            </a:r>
          </a:p>
        </p:txBody>
      </p:sp>
      <p:sp>
        <p:nvSpPr>
          <p:cNvPr id="433" name="PlaceHolder 20"/>
          <p:cNvSpPr>
            <a:spLocks noGrp="1"/>
          </p:cNvSpPr>
          <p:nvPr>
            <p:ph/>
          </p:nvPr>
        </p:nvSpPr>
        <p:spPr>
          <a:xfrm>
            <a:off x="6174720" y="458208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06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Скругленный прямоугольник 1"/>
          <p:cNvSpPr/>
          <p:nvPr/>
        </p:nvSpPr>
        <p:spPr>
          <a:xfrm>
            <a:off x="345960" y="324720"/>
            <a:ext cx="3111480" cy="620640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35" name="PlaceHolder 1"/>
          <p:cNvSpPr>
            <a:spLocks noGrp="1"/>
          </p:cNvSpPr>
          <p:nvPr>
            <p:ph type="sldNum" idx="76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65A3C4D9-2FBC-4615-B1FE-C21E9D7D69D0}" type="slidenum">
              <a:rPr b="0" lang="ru-RU" sz="1200" spc="-1" strike="noStrike">
                <a:solidFill>
                  <a:schemeClr val="accent5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36" name="Рисунок 2" descr=""/>
          <p:cNvPicPr/>
          <p:nvPr/>
        </p:nvPicPr>
        <p:blipFill>
          <a:blip r:embed="rIdUiQ"/>
          <a:stretch/>
        </p:blipFill>
        <p:spPr>
          <a:xfrm>
            <a:off x="7440120" y="1015920"/>
            <a:ext cx="4109650" cy="5184000"/>
          </a:xfrm>
          <a:prstGeom prst="rect">
            <a:avLst/>
          </a:prstGeom>
          <a:ln w="0">
            <a:noFill/>
          </a:ln>
        </p:spPr>
      </p:pic>
      <p:pic>
        <p:nvPicPr>
          <p:cNvPr id="438" name="Рисунок 4" descr=""/>
          <p:cNvPicPr/>
          <p:nvPr/>
        </p:nvPicPr>
        <p:blipFill>
          <a:blip r:embed="rIdUiRec"/>
          <a:stretch/>
        </p:blipFill>
        <p:spPr>
          <a:xfrm>
            <a:off x="345960" y="3223800"/>
            <a:ext cx="4311519" cy="2976480"/>
          </a:xfrm>
          <a:prstGeom prst="rect">
            <a:avLst/>
          </a:prstGeom>
          <a:ln w="0">
            <a:noFill/>
          </a:ln>
        </p:spPr>
      </p:pic>
      <p:sp>
        <p:nvSpPr>
          <p:cNvPr id="439" name="Текст 5"/>
          <p:cNvSpPr/>
          <p:nvPr/>
        </p:nvSpPr>
        <p:spPr>
          <a:xfrm>
            <a:off x="345960" y="1015920"/>
            <a:ext cx="6805800" cy="2029680"/>
          </a:xfrm>
          <a:prstGeom prst="roundRect">
            <a:avLst>
              <a:gd name="adj" fmla="val 10128"/>
            </a:avLst>
          </a:prstGeom>
          <a:solidFill>
            <a:schemeClr val="bg1"/>
          </a:solidFill>
          <a:ln w="0">
            <a:solidFill>
              <a:srgbClr val="520977"/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«Цифровой сомелье»: три вопроса — повод, блюдо, вкус — и подбор из каталога, где каждая рекомендация объясняет себя. Рядом — аналоги других виноделен: те же сорта, та же категория, другой производитель.</a:t>
            </a:r>
          </a:p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Подбор детерминированный, а не через языковую модель: каталога модель не знает и начнёт выдумывать вина. Её место — переформулировать вопросы и причины, выбор позиций остаётся за каталогом.</a:t>
            </a:r>
          </a:p>
        </p:txBody>
      </p:sp>
      <p:sp>
        <p:nvSpPr>
          <p:cNvPr id="440" name="PlaceHolder 2"/>
          <p:cNvSpPr>
            <a:spLocks noGrp="1"/>
          </p:cNvSpPr>
          <p:nvPr>
            <p:ph type="title"/>
          </p:nvPr>
        </p:nvSpPr>
        <p:spPr>
          <a:xfrm>
            <a:off x="525960" y="421200"/>
            <a:ext cx="277524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ПОСЛЕ ПОИСКА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Скругленный прямоугольник 1"/>
          <p:cNvSpPr/>
          <p:nvPr/>
        </p:nvSpPr>
        <p:spPr>
          <a:xfrm>
            <a:off x="345960" y="324720"/>
            <a:ext cx="3111480" cy="620640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42" name="Скругленный прямоугольник 16"/>
          <p:cNvSpPr/>
          <p:nvPr/>
        </p:nvSpPr>
        <p:spPr>
          <a:xfrm>
            <a:off x="5951880" y="136656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43" name="Скругленный прямоугольник 17"/>
          <p:cNvSpPr/>
          <p:nvPr/>
        </p:nvSpPr>
        <p:spPr>
          <a:xfrm>
            <a:off x="5951880" y="237708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44" name="Скругленный прямоугольник 18"/>
          <p:cNvSpPr/>
          <p:nvPr/>
        </p:nvSpPr>
        <p:spPr>
          <a:xfrm>
            <a:off x="5951880" y="338760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45" name="Скругленный прямоугольник 22"/>
          <p:cNvSpPr/>
          <p:nvPr/>
        </p:nvSpPr>
        <p:spPr>
          <a:xfrm>
            <a:off x="5951880" y="439848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46" name="Скругленный прямоугольник 23"/>
          <p:cNvSpPr/>
          <p:nvPr/>
        </p:nvSpPr>
        <p:spPr>
          <a:xfrm>
            <a:off x="5951880" y="540900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47" name="Скругленный прямоугольник 14"/>
          <p:cNvSpPr/>
          <p:nvPr/>
        </p:nvSpPr>
        <p:spPr>
          <a:xfrm>
            <a:off x="345960" y="1366560"/>
            <a:ext cx="5389200" cy="4834080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48" name="PlaceHolder 1"/>
          <p:cNvSpPr>
            <a:spLocks noGrp="1"/>
          </p:cNvSpPr>
          <p:nvPr>
            <p:ph/>
          </p:nvPr>
        </p:nvSpPr>
        <p:spPr>
          <a:xfrm>
            <a:off x="623880" y="1731960"/>
            <a:ext cx="4733640" cy="413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450" spc="-1" strike="noStrike">
                <a:solidFill>
                  <a:srgbClr val="520978"/>
                </a:solidFill>
                <a:latin typeface="Montserrat"/>
              </a:rPr>
              <a:t>F1 считается вместе с отказом, а не как точность top-k.</a:t>
            </a: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TP — карточка показана и лидер верен. FP — карточка показана, лидер другой. FN — правильный ответ существовал, но карточку не показали.</a:t>
            </a: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Порог показа 0.10, порог «без оговорок» 0.30. Оба лежат в data/index/confidence.json — его читают и сервис, и все отчёты.</a:t>
            </a: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Съёмка организатора — 100 снимков, 97 размечено, части tune и test; треть — вина вне каталога. Синтетика из эталонов дампа — 214 отложенных запросов. Методика — docs/metrics.md.</a:t>
            </a:r>
          </a:p>
        </p:txBody>
      </p:sp>
      <p:sp>
        <p:nvSpPr>
          <p:cNvPr id="449" name="PlaceHolder 2"/>
          <p:cNvSpPr>
            <a:spLocks noGrp="1"/>
          </p:cNvSpPr>
          <p:nvPr>
            <p:ph/>
          </p:nvPr>
        </p:nvSpPr>
        <p:spPr>
          <a:xfrm>
            <a:off x="6172560" y="1445400"/>
            <a:ext cx="5460120" cy="5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310F53"/>
                </a:solidFill>
                <a:latin typeface="Montserrat"/>
              </a:rPr>
              <a:t>Съёмка организатора, test: F1 топ-1 — 86.7%  ·  топ-5 — 90.0%</a:t>
            </a:r>
          </a:p>
        </p:txBody>
      </p:sp>
      <p:sp>
        <p:nvSpPr>
          <p:cNvPr id="450" name="PlaceHolder 3"/>
          <p:cNvSpPr>
            <a:spLocks noGrp="1"/>
          </p:cNvSpPr>
          <p:nvPr>
            <p:ph/>
          </p:nvPr>
        </p:nvSpPr>
        <p:spPr>
          <a:xfrm>
            <a:off x="6172560" y="2472840"/>
            <a:ext cx="5460120" cy="5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310F53"/>
                </a:solidFill>
                <a:latin typeface="Montserrat"/>
              </a:rPr>
              <a:t>Синтетика: F1 топ-1 — 89.3%  ·  F1 топ-5 — 94.7%</a:t>
            </a:r>
          </a:p>
        </p:txBody>
      </p:sp>
      <p:sp>
        <p:nvSpPr>
          <p:cNvPr id="451" name="PlaceHolder 4"/>
          <p:cNvSpPr>
            <a:spLocks noGrp="1"/>
          </p:cNvSpPr>
          <p:nvPr>
            <p:ph/>
          </p:nvPr>
        </p:nvSpPr>
        <p:spPr>
          <a:xfrm>
            <a:off x="6172560" y="3485880"/>
            <a:ext cx="5460120" cy="5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310F53"/>
                </a:solidFill>
                <a:latin typeface="Montserrat"/>
              </a:rPr>
              <a:t>Съёмка организатора: верная первой в 53 из 62</a:t>
            </a:r>
          </a:p>
        </p:txBody>
      </p:sp>
      <p:sp>
        <p:nvSpPr>
          <p:cNvPr id="452" name="PlaceHolder 5"/>
          <p:cNvSpPr>
            <a:spLocks noGrp="1"/>
          </p:cNvSpPr>
          <p:nvPr>
            <p:ph/>
          </p:nvPr>
        </p:nvSpPr>
        <p:spPr>
          <a:xfrm>
            <a:off x="6172560" y="4496760"/>
            <a:ext cx="5460120" cy="5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310F53"/>
                </a:solidFill>
                <a:latin typeface="Montserrat"/>
              </a:rPr>
              <a:t>Строгий top-1: tune 78.8%  ·  test 93.1%</a:t>
            </a:r>
          </a:p>
        </p:txBody>
      </p:sp>
      <p:sp>
        <p:nvSpPr>
          <p:cNvPr id="453" name="PlaceHolder 6"/>
          <p:cNvSpPr>
            <a:spLocks noGrp="1"/>
          </p:cNvSpPr>
          <p:nvPr>
            <p:ph/>
          </p:nvPr>
        </p:nvSpPr>
        <p:spPr>
          <a:xfrm>
            <a:off x="6172560" y="5517000"/>
            <a:ext cx="5460120" cy="5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310F53"/>
                </a:solidFill>
                <a:latin typeface="Montserrat"/>
              </a:rPr>
              <a:t>Ответ: 0.93 с медиана, 3.1 с p95 при SLA 3 с</a:t>
            </a:r>
          </a:p>
        </p:txBody>
      </p:sp>
      <p:sp>
        <p:nvSpPr>
          <p:cNvPr id="454" name="PlaceHolder 7"/>
          <p:cNvSpPr>
            <a:spLocks noGrp="1"/>
          </p:cNvSpPr>
          <p:nvPr>
            <p:ph type="sldNum" idx="77"/>
          </p:nvPr>
        </p:nvSpPr>
        <p:spPr>
          <a:xfrm>
            <a:off x="11633040" y="6356520"/>
            <a:ext cx="558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4F5B5C1-DB8F-4EC1-9C85-B23F5466EAF3}" type="slidenum">
              <a:rPr b="0" lang="ru-RU" sz="1200" spc="-1" strike="noStrike">
                <a:solidFill>
                  <a:schemeClr val="accent5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PlaceHolder 8"/>
          <p:cNvSpPr>
            <a:spLocks noGrp="1"/>
          </p:cNvSpPr>
          <p:nvPr>
            <p:ph type="title"/>
          </p:nvPr>
        </p:nvSpPr>
        <p:spPr>
          <a:xfrm>
            <a:off x="52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МЕТРИКИ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Скругленный прямоугольник 13"/>
          <p:cNvSpPr/>
          <p:nvPr/>
        </p:nvSpPr>
        <p:spPr>
          <a:xfrm>
            <a:off x="6286680" y="4747320"/>
            <a:ext cx="5570280" cy="1666440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57" name="Скругленный прямоугольник 11"/>
          <p:cNvSpPr/>
          <p:nvPr/>
        </p:nvSpPr>
        <p:spPr>
          <a:xfrm>
            <a:off x="6286680" y="2832480"/>
            <a:ext cx="5570280" cy="1666440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58" name="Скругленный прямоугольник 10"/>
          <p:cNvSpPr/>
          <p:nvPr/>
        </p:nvSpPr>
        <p:spPr>
          <a:xfrm>
            <a:off x="6286680" y="917640"/>
            <a:ext cx="5570280" cy="1666440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59" name="Скругленный прямоугольник 1"/>
          <p:cNvSpPr/>
          <p:nvPr/>
        </p:nvSpPr>
        <p:spPr>
          <a:xfrm>
            <a:off x="347472" y="329184"/>
            <a:ext cx="3749040" cy="621792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60" name="Текст 2"/>
          <p:cNvSpPr/>
          <p:nvPr/>
        </p:nvSpPr>
        <p:spPr>
          <a:xfrm>
            <a:off x="6591600" y="1049760"/>
            <a:ext cx="4789800" cy="59760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800" spc="-1" strike="noStrike">
                <a:solidFill>
                  <a:srgbClr val="520978"/>
                </a:solidFill>
                <a:latin typeface="Montserrat"/>
              </a:rPr>
              <a:t>Разрыв в пределах 6 п.п.</a:t>
            </a:r>
          </a:p>
        </p:txBody>
      </p:sp>
      <p:sp>
        <p:nvSpPr>
          <p:cNvPr id="461" name="PlaceHolder 1"/>
          <p:cNvSpPr>
            <a:spLocks noGrp="1"/>
          </p:cNvSpPr>
          <p:nvPr>
            <p:ph/>
          </p:nvPr>
        </p:nvSpPr>
        <p:spPr>
          <a:xfrm>
            <a:off x="6591600" y="1649880"/>
            <a:ext cx="4789800" cy="77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Синтетический запрос сделан из того же файла, что эталон: и косинус выше, и совпавших точек больше. Сравнивать варианты между собой она годится, обещать качество — нет.</a:t>
            </a:r>
          </a:p>
        </p:txBody>
      </p:sp>
      <p:sp>
        <p:nvSpPr>
          <p:cNvPr id="462" name="Текст 4"/>
          <p:cNvSpPr/>
          <p:nvPr/>
        </p:nvSpPr>
        <p:spPr>
          <a:xfrm>
            <a:off x="6591600" y="2915640"/>
            <a:ext cx="4789800" cy="56304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800" spc="-1" strike="noStrike">
                <a:solidFill>
                  <a:srgbClr val="520978"/>
                </a:solidFill>
                <a:latin typeface="Montserrat"/>
              </a:rPr>
              <a:t>Полевой набор</a:t>
            </a: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6591600" y="3515760"/>
            <a:ext cx="4789800" cy="86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100 снимков организатора у полки, треть — вина вне каталога. Делим по винам и фотосериям; пороги — только по настроечной части, числа слева — с тестовой.</a:t>
            </a:r>
          </a:p>
        </p:txBody>
      </p:sp>
      <p:sp>
        <p:nvSpPr>
          <p:cNvPr id="464" name="Текст 6"/>
          <p:cNvSpPr/>
          <p:nvPr/>
        </p:nvSpPr>
        <p:spPr>
          <a:xfrm>
            <a:off x="6591600" y="4871880"/>
            <a:ext cx="4789800" cy="59760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800" spc="-1" strike="noStrike">
                <a:solidFill>
                  <a:srgbClr val="520978"/>
                </a:solidFill>
                <a:latin typeface="Montserrat"/>
              </a:rPr>
              <a:t>Где теряется ответ</a:t>
            </a:r>
          </a:p>
        </p:txBody>
      </p:sp>
      <p:sp>
        <p:nvSpPr>
          <p:cNvPr id="465" name="PlaceHolder 3"/>
          <p:cNvSpPr>
            <a:spLocks noGrp="1"/>
          </p:cNvSpPr>
          <p:nvPr>
            <p:ph/>
          </p:nvPr>
        </p:nvSpPr>
        <p:spPr>
          <a:xfrm>
            <a:off x="6591600" y="5471640"/>
            <a:ext cx="4789800" cy="84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Промахи — соседи по линейке (четыре из девяти — «Табия», её эталоны в датасете — мелкие скриншоты) и позиции без эталона: 2 из 29 на test, 9 из 62 всего.</a:t>
            </a:r>
          </a:p>
        </p:txBody>
      </p:sp>
      <p:graphicFrame>
        <p:nvGraphicFramePr>
          <p:cNvPr id="466" name="Диаграмма 9"/>
          <p:cNvGraphicFramePr/>
          <p:nvPr/>
        </p:nvGraphicFramePr>
        <p:xfrm>
          <a:off x="345960" y="1424520"/>
          <a:ext cx="5749560" cy="440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67" name="PlaceHolder 4"/>
          <p:cNvSpPr>
            <a:spLocks noGrp="1"/>
          </p:cNvSpPr>
          <p:nvPr>
            <p:ph type="title"/>
          </p:nvPr>
        </p:nvSpPr>
        <p:spPr>
          <a:xfrm>
            <a:off x="530352" y="420624"/>
            <a:ext cx="3566160" cy="374904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СИНТЕТИКА И СЪЁМКА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467951A-A037-4FD9-879A-59539A7C181B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Скругленный прямоугольник 1"/>
          <p:cNvSpPr/>
          <p:nvPr/>
        </p:nvSpPr>
        <p:spPr>
          <a:xfrm>
            <a:off x="345960" y="324720"/>
            <a:ext cx="311148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69" name="PlaceHolder 1"/>
          <p:cNvSpPr>
            <a:spLocks noGrp="1"/>
          </p:cNvSpPr>
          <p:nvPr>
            <p:ph type="sldNum" idx="78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9F40FD97-F65E-48DD-B7A6-5607BACAB165}" type="slidenum">
              <a:rPr b="0" lang="ru-RU" sz="1200" spc="-1" strike="noStrike">
                <a:solidFill>
                  <a:schemeClr val="accent5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" name="Текст 2"/>
          <p:cNvSpPr/>
          <p:nvPr/>
        </p:nvSpPr>
        <p:spPr>
          <a:xfrm>
            <a:off x="6755400" y="1343160"/>
            <a:ext cx="4789800" cy="10213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800" spc="-1" strike="noStrike">
                <a:solidFill>
                  <a:srgbClr val="FF0053"/>
                </a:solidFill>
                <a:latin typeface="Montserrat"/>
              </a:rPr>
              <a:t>Детекция бутылки: +14.8 п.п.</a:t>
            </a: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6755400" y="172296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На полке в кадр попадают соседи. Без кропа вектор описывает полку, а не вино.</a:t>
            </a:r>
          </a:p>
        </p:txBody>
      </p:sp>
      <p:sp>
        <p:nvSpPr>
          <p:cNvPr id="472" name="Текст 4"/>
          <p:cNvSpPr/>
          <p:nvPr/>
        </p:nvSpPr>
        <p:spPr>
          <a:xfrm>
            <a:off x="6755400" y="2611800"/>
            <a:ext cx="4789800" cy="10213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800" spc="-1" strike="noStrike">
                <a:solidFill>
                  <a:srgbClr val="520978"/>
                </a:solidFill>
                <a:latin typeface="Montserrat"/>
              </a:rPr>
              <a:t>Геометрическая проверка: +13.6 п.п.</a:t>
            </a:r>
          </a:p>
        </p:txBody>
      </p:sp>
      <p:sp>
        <p:nvSpPr>
          <p:cNvPr id="473" name="PlaceHolder 3"/>
          <p:cNvSpPr>
            <a:spLocks noGrp="1"/>
          </p:cNvSpPr>
          <p:nvPr>
            <p:ph/>
          </p:nvPr>
        </p:nvSpPr>
        <p:spPr>
          <a:xfrm>
            <a:off x="6755400" y="299124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SIFT и гомография переупорядочивают топ-20 по числу реально совпавших точек.</a:t>
            </a:r>
          </a:p>
        </p:txBody>
      </p:sp>
      <p:sp>
        <p:nvSpPr>
          <p:cNvPr id="474" name="Текст 6"/>
          <p:cNvSpPr/>
          <p:nvPr/>
        </p:nvSpPr>
        <p:spPr>
          <a:xfrm>
            <a:off x="6755400" y="3880440"/>
            <a:ext cx="4789800" cy="10213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800" spc="-1" strike="noStrike">
                <a:solidFill>
                  <a:srgbClr val="8A83D1"/>
                </a:solidFill>
                <a:latin typeface="Montserrat"/>
              </a:rPr>
              <a:t>Второй вид кадра: +2.4 п.п.</a:t>
            </a:r>
          </a:p>
        </p:txBody>
      </p:sp>
      <p:sp>
        <p:nvSpPr>
          <p:cNvPr id="475" name="PlaceHolder 4"/>
          <p:cNvSpPr>
            <a:spLocks noGrp="1"/>
          </p:cNvSpPr>
          <p:nvPr>
            <p:ph/>
          </p:nvPr>
        </p:nvSpPr>
        <p:spPr>
          <a:xfrm>
            <a:off x="6755400" y="425988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Позиция описана двумя векторами. recall@20 вырос с 91.2% до 96.8%.</a:t>
            </a:r>
          </a:p>
        </p:txBody>
      </p:sp>
      <p:sp>
        <p:nvSpPr>
          <p:cNvPr id="476" name="Текст 8"/>
          <p:cNvSpPr/>
          <p:nvPr/>
        </p:nvSpPr>
        <p:spPr>
          <a:xfrm>
            <a:off x="6755400" y="5149080"/>
            <a:ext cx="4789800" cy="10213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800" spc="-1" strike="noStrike">
                <a:solidFill>
                  <a:srgbClr val="310F53"/>
                </a:solidFill>
                <a:latin typeface="Montserrat"/>
              </a:rPr>
              <a:t>Разрешение противоречий: +0.8 п.п.</a:t>
            </a:r>
          </a:p>
        </p:txBody>
      </p:sp>
      <p:sp>
        <p:nvSpPr>
          <p:cNvPr id="477" name="PlaceHolder 5"/>
          <p:cNvSpPr>
            <a:spLocks noGrp="1"/>
          </p:cNvSpPr>
          <p:nvPr>
            <p:ph/>
          </p:nvPr>
        </p:nvSpPr>
        <p:spPr>
          <a:xfrm>
            <a:off x="6755400" y="552852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OCR включается на 15% запросов. Все приросты — на 400 синтетических запросах.</a:t>
            </a:r>
          </a:p>
        </p:txBody>
      </p:sp>
      <p:graphicFrame>
        <p:nvGraphicFramePr>
          <p:cNvPr id="478" name="Диаграмма 11"/>
          <p:cNvGraphicFramePr/>
          <p:nvPr/>
        </p:nvGraphicFramePr>
        <p:xfrm>
          <a:off x="345960" y="1424520"/>
          <a:ext cx="5749560" cy="440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79" name="PlaceHolder 6"/>
          <p:cNvSpPr>
            <a:spLocks noGrp="1"/>
          </p:cNvSpPr>
          <p:nvPr>
            <p:ph type="title"/>
          </p:nvPr>
        </p:nvSpPr>
        <p:spPr>
          <a:xfrm>
            <a:off x="52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ЧТО ДАЛО ПРИРОСТ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Скругленный прямоугольник 7"/>
          <p:cNvSpPr/>
          <p:nvPr/>
        </p:nvSpPr>
        <p:spPr>
          <a:xfrm>
            <a:off x="429120" y="3008160"/>
            <a:ext cx="3728160" cy="3656520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93" name="Скругленный прямоугольник 9"/>
          <p:cNvSpPr/>
          <p:nvPr/>
        </p:nvSpPr>
        <p:spPr>
          <a:xfrm>
            <a:off x="4327200" y="3008160"/>
            <a:ext cx="3728160" cy="3656520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94" name="Скругленный прямоугольник 10"/>
          <p:cNvSpPr/>
          <p:nvPr/>
        </p:nvSpPr>
        <p:spPr>
          <a:xfrm>
            <a:off x="8225280" y="3008160"/>
            <a:ext cx="3728160" cy="3656520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95" name="Скругленный прямоугольник 1"/>
          <p:cNvSpPr/>
          <p:nvPr/>
        </p:nvSpPr>
        <p:spPr>
          <a:xfrm>
            <a:off x="345960" y="324720"/>
            <a:ext cx="311148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96" name="Скругленный прямоугольник 16"/>
          <p:cNvSpPr/>
          <p:nvPr/>
        </p:nvSpPr>
        <p:spPr>
          <a:xfrm>
            <a:off x="5340240" y="1366560"/>
            <a:ext cx="1504080" cy="14007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5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97" name="Скругленный прямоугольник 6"/>
          <p:cNvSpPr/>
          <p:nvPr/>
        </p:nvSpPr>
        <p:spPr>
          <a:xfrm>
            <a:off x="1541160" y="1366560"/>
            <a:ext cx="1504080" cy="14007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5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98" name="PlaceHolder 1"/>
          <p:cNvSpPr>
            <a:spLocks noGrp="1"/>
          </p:cNvSpPr>
          <p:nvPr>
            <p:ph type="sldNum" idx="80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6BE19CDF-E02F-4318-BE9A-B88F5F635C40}" type="slidenum">
              <a:rPr b="0" lang="ru-RU" sz="1200" spc="-1" strike="noStrike">
                <a:solidFill>
                  <a:schemeClr val="accent5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9" name="Текст 2"/>
          <p:cNvSpPr/>
          <p:nvPr/>
        </p:nvSpPr>
        <p:spPr>
          <a:xfrm>
            <a:off x="616320" y="3286800"/>
            <a:ext cx="3263760" cy="23749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rgbClr val="520978"/>
                </a:solidFill>
                <a:latin typeface="Montserrat"/>
              </a:rPr>
              <a:t>ДВА ВОПРОСА, ДВЕ СТУПЕНИ</a:t>
            </a:r>
          </a:p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«Похожая ли этикетка» решает эмбеддинг, «та же самая» — геометрия совпавших точек. На синтетических почти-дублях, ради которых кейс и написан, это 96.8% против 63.5%.</a:t>
            </a:r>
          </a:p>
          <a:p>
            <a:pPr defTabSz="578880">
              <a:lnSpc>
                <a:spcPct val="90000"/>
              </a:lnSpc>
              <a:tabLst>
                <a:tab algn="l" pos="0"/>
              </a:tabLst>
              <a:spcBef>
                <a:spcPts val="600"/>
              </a:spcBef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Потолок второй ступени — полнота первой: recall@20 равен 96.8%.</a:t>
            </a:r>
          </a:p>
          <a:p>
            <a:pPr defTabSz="578880">
              <a:lnSpc>
                <a:spcPct val="90000"/>
              </a:lnSpc>
              <a:tabLst>
                <a:tab algn="l" pos="0"/>
              </a:tabLst>
              <a:spcBef>
                <a:spcPts val="600"/>
              </a:spcBef>
            </a:pPr>
            <a:r>
              <a:rPr b="1" lang="ru-RU" sz="1400" spc="-1" strike="noStrike">
                <a:solidFill>
                  <a:srgbClr val="FF0053"/>
                </a:solidFill>
                <a:latin typeface="Montserrat"/>
              </a:rPr>
              <a:t>Замер: data/index/rerank_neardup.json</a:t>
            </a:r>
          </a:p>
        </p:txBody>
      </p:sp>
      <p:sp>
        <p:nvSpPr>
          <p:cNvPr id="500" name="Текст 3"/>
          <p:cNvSpPr/>
          <p:nvPr/>
        </p:nvSpPr>
        <p:spPr>
          <a:xfrm>
            <a:off x="4569840" y="3264480"/>
            <a:ext cx="3263760" cy="23749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rgbClr val="520978"/>
                </a:solidFill>
                <a:latin typeface="Montserrat"/>
              </a:rPr>
              <a:t>ОТКАЗ, КОТОРЫЙ ИЗМЕРЕН</a:t>
            </a:r>
          </a:p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Отрицательные примеры строятся вычёркиванием позиции из индекса. Без них главная ошибка — уверенно показать карточку отсутствующего вина — не измеряется вовсе.</a:t>
            </a:r>
          </a:p>
          <a:p>
            <a:pPr defTabSz="578880">
              <a:lnSpc>
                <a:spcPct val="90000"/>
              </a:lnSpc>
              <a:tabLst>
                <a:tab algn="l" pos="0"/>
              </a:tabLst>
              <a:spcBef>
                <a:spcPts val="600"/>
              </a:spcBef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Порог выбран по съёмке: винам вне каталога у организатора карточка показана в 6 из 35 кадров.</a:t>
            </a:r>
          </a:p>
          <a:p>
            <a:pPr defTabSz="578880">
              <a:lnSpc>
                <a:spcPct val="90000"/>
              </a:lnSpc>
              <a:tabLst>
                <a:tab algn="l" pos="0"/>
              </a:tabLst>
              <a:spcBef>
                <a:spcPts val="600"/>
              </a:spcBef>
            </a:pPr>
            <a:r>
              <a:rPr b="1" lang="ru-RU" sz="1400" spc="-1" strike="noStrike">
                <a:solidFill>
                  <a:srgbClr val="FF0053"/>
                </a:solidFill>
                <a:latin typeface="Montserrat"/>
              </a:rPr>
              <a:t>Методика: docs/metrics.md</a:t>
            </a:r>
          </a:p>
        </p:txBody>
      </p:sp>
      <p:sp>
        <p:nvSpPr>
          <p:cNvPr id="501" name="Текст 4"/>
          <p:cNvSpPr/>
          <p:nvPr/>
        </p:nvSpPr>
        <p:spPr>
          <a:xfrm>
            <a:off x="8404920" y="3277440"/>
            <a:ext cx="3263760" cy="23749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1" lang="ru-RU" sz="1400" spc="-1" strike="noStrike">
                <a:solidFill>
                  <a:srgbClr val="520978"/>
                </a:solidFill>
                <a:latin typeface="Montserrat"/>
              </a:rPr>
              <a:t>ПРОВЕРКИ ВМЕСТО ОБЕЩАНИЙ</a:t>
            </a:r>
          </a:p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algn="l" pos="0"/>
              </a:tabLst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Больше двадцати гипотез проверены и отклонены по замерам: зоны этикетки, LightGlue, DINOv2, ранжировщики, перестановка по VLM, цвет этикетки, удвоение масштаба.</a:t>
            </a:r>
          </a:p>
          <a:p>
            <a:pPr defTabSz="578880">
              <a:lnSpc>
                <a:spcPct val="90000"/>
              </a:lnSpc>
              <a:tabLst>
                <a:tab algn="l" pos="0"/>
              </a:tabLst>
              <a:spcBef>
                <a:spcPts val="600"/>
              </a:spcBef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Код и числа оставлены в репозитории, чтобы их можно было перепроверить.</a:t>
            </a:r>
          </a:p>
          <a:p>
            <a:pPr defTabSz="578880">
              <a:lnSpc>
                <a:spcPct val="90000"/>
              </a:lnSpc>
              <a:tabLst>
                <a:tab algn="l" pos="0"/>
              </a:tabLst>
              <a:spcBef>
                <a:spcPts val="600"/>
              </a:spcBef>
            </a:pPr>
            <a:r>
              <a:rPr b="1" lang="ru-RU" sz="1400" spc="-1" strike="noStrike">
                <a:solidFill>
                  <a:srgbClr val="FF0053"/>
                </a:solidFill>
                <a:latin typeface="Montserrat"/>
              </a:rPr>
              <a:t>Разбор: docs/metrics.md</a:t>
            </a:r>
          </a:p>
        </p:txBody>
      </p:sp>
      <p:cxnSp>
        <p:nvCxnSpPr>
          <p:cNvPr id="502" name="Google Shape;2799;p94"/>
          <p:cNvCxnSpPr/>
          <p:nvPr/>
        </p:nvCxnSpPr>
        <p:spPr>
          <a:xfrm flipV="1">
            <a:off x="3041640" y="2120760"/>
            <a:ext cx="2289240" cy="11880"/>
          </a:xfrm>
          <a:prstGeom prst="straightConnector1">
            <a:avLst/>
          </a:prstGeom>
          <a:ln w="12700">
            <a:solidFill>
              <a:srgbClr val="ff0053"/>
            </a:solidFill>
          </a:ln>
        </p:spPr>
      </p:cxnSp>
      <p:grpSp>
        <p:nvGrpSpPr>
          <p:cNvPr id="503" name="Google Shape;2829;p94"/>
          <p:cNvGrpSpPr/>
          <p:nvPr/>
        </p:nvGrpSpPr>
        <p:grpSpPr>
          <a:xfrm>
            <a:off x="1899000" y="1753200"/>
            <a:ext cx="738000" cy="687600"/>
            <a:chOff x="1899000" y="1753200"/>
            <a:chExt cx="738000" cy="687600"/>
          </a:xfrm>
        </p:grpSpPr>
        <p:sp>
          <p:nvSpPr>
            <p:cNvPr id="504" name="Google Shape;2830;p94"/>
            <p:cNvSpPr/>
            <p:nvPr/>
          </p:nvSpPr>
          <p:spPr>
            <a:xfrm>
              <a:off x="1899000" y="1753200"/>
              <a:ext cx="738000" cy="687600"/>
            </a:xfrm>
            <a:custGeom>
              <a:avLst/>
              <a:gdLst>
                <a:gd name="textAreaLeft" fmla="*/ 0 w 738000"/>
                <a:gd name="textAreaRight" fmla="*/ 738360 w 738000"/>
                <a:gd name="textAreaTop" fmla="*/ 0 h 687600"/>
                <a:gd name="textAreaBottom" fmla="*/ 687960 h 687600"/>
              </a:gdLst>
              <a:ahLst/>
              <a:rect l="textAreaLeft" t="textAreaTop" r="textAreaRight" b="textAreaBottom"/>
              <a:pathLst>
                <a:path w="10122" h="9289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05" name="Google Shape;2831;p94"/>
            <p:cNvSpPr/>
            <p:nvPr/>
          </p:nvSpPr>
          <p:spPr>
            <a:xfrm>
              <a:off x="1975680" y="1888560"/>
              <a:ext cx="310680" cy="243720"/>
            </a:xfrm>
            <a:custGeom>
              <a:avLst/>
              <a:gdLst>
                <a:gd name="textAreaLeft" fmla="*/ 0 w 310680"/>
                <a:gd name="textAreaRight" fmla="*/ 311040 w 310680"/>
                <a:gd name="textAreaTop" fmla="*/ 0 h 243720"/>
                <a:gd name="textAreaBottom" fmla="*/ 244080 h 243720"/>
              </a:gdLst>
              <a:ahLst/>
              <a:rect l="textAreaLeft" t="textAreaTop" r="textAreaRight" b="textAreaBottom"/>
              <a:pathLst>
                <a:path w="4264" h="3296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06" name="Google Shape;2832;p94"/>
            <p:cNvSpPr/>
            <p:nvPr/>
          </p:nvSpPr>
          <p:spPr>
            <a:xfrm>
              <a:off x="2041560" y="1938600"/>
              <a:ext cx="20520" cy="2988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9880"/>
                <a:gd name="textAreaBottom" fmla="*/ 30240 h 29880"/>
              </a:gdLst>
              <a:ahLst/>
              <a:rect l="textAreaLeft" t="textAreaTop" r="textAreaRight" b="textAreaBottom"/>
              <a:pathLst>
                <a:path w="287" h="406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07" name="Google Shape;2833;p94"/>
            <p:cNvSpPr/>
            <p:nvPr/>
          </p:nvSpPr>
          <p:spPr>
            <a:xfrm>
              <a:off x="2147760" y="1908360"/>
              <a:ext cx="22320" cy="2988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29880"/>
                <a:gd name="textAreaBottom" fmla="*/ 30240 h 29880"/>
              </a:gdLst>
              <a:ahLst/>
              <a:rect l="textAreaLeft" t="textAreaTop" r="textAreaRight" b="textAreaBottom"/>
              <a:pathLst>
                <a:path w="310" h="406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08" name="Google Shape;2834;p94"/>
            <p:cNvSpPr/>
            <p:nvPr/>
          </p:nvSpPr>
          <p:spPr>
            <a:xfrm>
              <a:off x="2248200" y="1843200"/>
              <a:ext cx="22320" cy="2988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29880"/>
                <a:gd name="textAreaBottom" fmla="*/ 30240 h 29880"/>
              </a:gdLst>
              <a:ahLst/>
              <a:rect l="textAreaLeft" t="textAreaTop" r="textAreaRight" b="textAreaBottom"/>
              <a:pathLst>
                <a:path w="311" h="406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09" name="Google Shape;2835;p94"/>
            <p:cNvSpPr/>
            <p:nvPr/>
          </p:nvSpPr>
          <p:spPr>
            <a:xfrm>
              <a:off x="1975680" y="1811520"/>
              <a:ext cx="58680" cy="2088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20880"/>
                <a:gd name="textAreaBottom" fmla="*/ 21240 h 20880"/>
              </a:gdLst>
              <a:ahLst/>
              <a:rect l="textAreaLeft" t="textAreaTop" r="textAreaRight" b="textAreaBottom"/>
              <a:pathLst>
                <a:path w="811" h="287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10" name="Google Shape;2836;p94"/>
            <p:cNvSpPr/>
            <p:nvPr/>
          </p:nvSpPr>
          <p:spPr>
            <a:xfrm>
              <a:off x="1975680" y="1852200"/>
              <a:ext cx="102240" cy="2268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22680"/>
                <a:gd name="textAreaBottom" fmla="*/ 23040 h 22680"/>
              </a:gdLst>
              <a:ahLst/>
              <a:rect l="textAreaLeft" t="textAreaTop" r="textAreaRight" b="textAreaBottom"/>
              <a:pathLst>
                <a:path w="1406" h="311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11" name="Google Shape;2837;p94"/>
            <p:cNvSpPr/>
            <p:nvPr/>
          </p:nvSpPr>
          <p:spPr>
            <a:xfrm>
              <a:off x="2451600" y="1846800"/>
              <a:ext cx="67320" cy="115920"/>
            </a:xfrm>
            <a:custGeom>
              <a:avLst/>
              <a:gdLst>
                <a:gd name="textAreaLeft" fmla="*/ 0 w 67320"/>
                <a:gd name="textAreaRight" fmla="*/ 67680 w 67320"/>
                <a:gd name="textAreaTop" fmla="*/ 0 h 115920"/>
                <a:gd name="textAreaBottom" fmla="*/ 116280 h 115920"/>
              </a:gdLst>
              <a:ahLst/>
              <a:rect l="textAreaLeft" t="textAreaTop" r="textAreaRight" b="textAreaBottom"/>
              <a:pathLst>
                <a:path w="930" h="1572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12" name="Google Shape;2838;p94"/>
            <p:cNvSpPr/>
            <p:nvPr/>
          </p:nvSpPr>
          <p:spPr>
            <a:xfrm>
              <a:off x="2394360" y="1811520"/>
              <a:ext cx="182160" cy="185040"/>
            </a:xfrm>
            <a:custGeom>
              <a:avLst/>
              <a:gdLst>
                <a:gd name="textAreaLeft" fmla="*/ 0 w 182160"/>
                <a:gd name="textAreaRight" fmla="*/ 182520 w 182160"/>
                <a:gd name="textAreaTop" fmla="*/ 0 h 185040"/>
                <a:gd name="textAreaBottom" fmla="*/ 185400 h 185040"/>
              </a:gdLst>
              <a:ahLst/>
              <a:rect l="textAreaLeft" t="textAreaTop" r="textAreaRight" b="textAreaBottom"/>
              <a:pathLst>
                <a:path w="2502" h="2502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13" name="Google Shape;2839;p94"/>
            <p:cNvSpPr/>
            <p:nvPr/>
          </p:nvSpPr>
          <p:spPr>
            <a:xfrm>
              <a:off x="2385720" y="2023200"/>
              <a:ext cx="98640" cy="2268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22680"/>
                <a:gd name="textAreaBottom" fmla="*/ 23040 h 22680"/>
              </a:gdLst>
              <a:ahLst/>
              <a:rect l="textAreaLeft" t="textAreaTop" r="textAreaRight" b="textAreaBottom"/>
              <a:pathLst>
                <a:path w="1359" h="311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14" name="Google Shape;2840;p94"/>
            <p:cNvSpPr/>
            <p:nvPr/>
          </p:nvSpPr>
          <p:spPr>
            <a:xfrm>
              <a:off x="2519280" y="2067120"/>
              <a:ext cx="55440" cy="2088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20880"/>
                <a:gd name="textAreaBottom" fmla="*/ 21240 h 20880"/>
              </a:gdLst>
              <a:ahLst/>
              <a:rect l="textAreaLeft" t="textAreaTop" r="textAreaRight" b="textAreaBottom"/>
              <a:pathLst>
                <a:path w="763" h="287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15" name="Google Shape;2841;p94"/>
            <p:cNvSpPr/>
            <p:nvPr/>
          </p:nvSpPr>
          <p:spPr>
            <a:xfrm>
              <a:off x="2385720" y="2067120"/>
              <a:ext cx="62280" cy="2088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20880"/>
                <a:gd name="textAreaBottom" fmla="*/ 21240 h 20880"/>
              </a:gdLst>
              <a:ahLst/>
              <a:rect l="textAreaLeft" t="textAreaTop" r="textAreaRight" b="textAreaBottom"/>
              <a:pathLst>
                <a:path w="859" h="287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16" name="Google Shape;2842;p94"/>
            <p:cNvSpPr/>
            <p:nvPr/>
          </p:nvSpPr>
          <p:spPr>
            <a:xfrm>
              <a:off x="2463840" y="2067120"/>
              <a:ext cx="41400" cy="208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20880"/>
                <a:gd name="textAreaBottom" fmla="*/ 21240 h 20880"/>
              </a:gdLst>
              <a:ahLst/>
              <a:rect l="textAreaLeft" t="textAreaTop" r="textAreaRight" b="textAreaBottom"/>
              <a:pathLst>
                <a:path w="573" h="287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17" name="Google Shape;2843;p94"/>
            <p:cNvSpPr/>
            <p:nvPr/>
          </p:nvSpPr>
          <p:spPr>
            <a:xfrm>
              <a:off x="2385720" y="2109600"/>
              <a:ext cx="187200" cy="22680"/>
            </a:xfrm>
            <a:custGeom>
              <a:avLst/>
              <a:gdLst>
                <a:gd name="textAreaLeft" fmla="*/ 0 w 187200"/>
                <a:gd name="textAreaRight" fmla="*/ 187560 w 187200"/>
                <a:gd name="textAreaTop" fmla="*/ 0 h 22680"/>
                <a:gd name="textAreaBottom" fmla="*/ 23040 h 22680"/>
              </a:gdLst>
              <a:ahLst/>
              <a:rect l="textAreaLeft" t="textAreaTop" r="textAreaRight" b="textAreaBottom"/>
              <a:pathLst>
                <a:path w="2573" h="31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</p:grpSp>
      <p:grpSp>
        <p:nvGrpSpPr>
          <p:cNvPr id="518" name="Google Shape;2818;p94"/>
          <p:cNvGrpSpPr/>
          <p:nvPr/>
        </p:nvGrpSpPr>
        <p:grpSpPr>
          <a:xfrm>
            <a:off x="5710320" y="1722600"/>
            <a:ext cx="738000" cy="731160"/>
            <a:chOff x="5710320" y="1722600"/>
            <a:chExt cx="738000" cy="731160"/>
          </a:xfrm>
        </p:grpSpPr>
        <p:sp>
          <p:nvSpPr>
            <p:cNvPr id="519" name="Google Shape;2819;p94"/>
            <p:cNvSpPr/>
            <p:nvPr/>
          </p:nvSpPr>
          <p:spPr>
            <a:xfrm>
              <a:off x="6120720" y="1913760"/>
              <a:ext cx="37800" cy="2844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8440"/>
                <a:gd name="textAreaBottom" fmla="*/ 28800 h 28440"/>
              </a:gdLst>
              <a:ahLst/>
              <a:rect l="textAreaLeft" t="textAreaTop" r="textAreaRight" b="textAreaBottom"/>
              <a:pathLst>
                <a:path w="525" h="389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20" name="Google Shape;2820;p94"/>
            <p:cNvSpPr/>
            <p:nvPr/>
          </p:nvSpPr>
          <p:spPr>
            <a:xfrm>
              <a:off x="6098040" y="1873080"/>
              <a:ext cx="34560" cy="3384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33840"/>
                <a:gd name="textAreaBottom" fmla="*/ 34200 h 33840"/>
              </a:gdLst>
              <a:ahLst/>
              <a:rect l="textAreaLeft" t="textAreaTop" r="textAreaRight" b="textAreaBottom"/>
              <a:pathLst>
                <a:path w="478" h="463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21" name="Google Shape;2821;p94"/>
            <p:cNvSpPr/>
            <p:nvPr/>
          </p:nvSpPr>
          <p:spPr>
            <a:xfrm>
              <a:off x="6129360" y="1960200"/>
              <a:ext cx="37800" cy="2448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4480"/>
                <a:gd name="textAreaBottom" fmla="*/ 24840 h 24480"/>
              </a:gdLst>
              <a:ahLst/>
              <a:rect l="textAreaLeft" t="textAreaTop" r="textAreaRight" b="textAreaBottom"/>
              <a:pathLst>
                <a:path w="525" h="334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22" name="Google Shape;2822;p94"/>
            <p:cNvSpPr/>
            <p:nvPr/>
          </p:nvSpPr>
          <p:spPr>
            <a:xfrm>
              <a:off x="5710320" y="1722600"/>
              <a:ext cx="738000" cy="731160"/>
            </a:xfrm>
            <a:custGeom>
              <a:avLst/>
              <a:gdLst>
                <a:gd name="textAreaLeft" fmla="*/ 0 w 738000"/>
                <a:gd name="textAreaRight" fmla="*/ 738360 w 738000"/>
                <a:gd name="textAreaTop" fmla="*/ 0 h 731160"/>
                <a:gd name="textAreaBottom" fmla="*/ 731520 h 731160"/>
              </a:gdLst>
              <a:ahLst/>
              <a:rect l="textAreaLeft" t="textAreaTop" r="textAreaRight" b="textAreaBottom"/>
              <a:pathLst>
                <a:path w="10122" h="9878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23" name="Google Shape;2823;p94"/>
            <p:cNvSpPr/>
            <p:nvPr/>
          </p:nvSpPr>
          <p:spPr>
            <a:xfrm>
              <a:off x="5807880" y="1881720"/>
              <a:ext cx="369720" cy="348120"/>
            </a:xfrm>
            <a:custGeom>
              <a:avLst/>
              <a:gdLst>
                <a:gd name="textAreaLeft" fmla="*/ 0 w 369720"/>
                <a:gd name="textAreaRight" fmla="*/ 370080 w 369720"/>
                <a:gd name="textAreaTop" fmla="*/ 0 h 348120"/>
                <a:gd name="textAreaBottom" fmla="*/ 348480 h 348120"/>
              </a:gdLst>
              <a:ahLst/>
              <a:rect l="textAreaLeft" t="textAreaTop" r="textAreaRight" b="textAreaBottom"/>
              <a:pathLst>
                <a:path w="5074" h="4704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24" name="Google Shape;2824;p94"/>
            <p:cNvSpPr/>
            <p:nvPr/>
          </p:nvSpPr>
          <p:spPr>
            <a:xfrm>
              <a:off x="5823360" y="1838160"/>
              <a:ext cx="102240" cy="547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1406" h="746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25" name="Google Shape;2825;p94"/>
            <p:cNvSpPr/>
            <p:nvPr/>
          </p:nvSpPr>
          <p:spPr>
            <a:xfrm>
              <a:off x="5839200" y="1891800"/>
              <a:ext cx="55440" cy="3456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34560"/>
                <a:gd name="textAreaBottom" fmla="*/ 34920 h 34560"/>
              </a:gdLst>
              <a:ahLst/>
              <a:rect l="textAreaLeft" t="textAreaTop" r="textAreaRight" b="textAreaBottom"/>
              <a:pathLst>
                <a:path w="763" h="472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26" name="Google Shape;2826;p94"/>
            <p:cNvSpPr/>
            <p:nvPr/>
          </p:nvSpPr>
          <p:spPr>
            <a:xfrm>
              <a:off x="5889600" y="2336040"/>
              <a:ext cx="76320" cy="2088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20880"/>
                <a:gd name="textAreaBottom" fmla="*/ 21240 h 20880"/>
              </a:gdLst>
              <a:ahLst/>
              <a:rect l="textAreaLeft" t="textAreaTop" r="textAreaRight" b="textAreaBottom"/>
              <a:pathLst>
                <a:path w="1049" h="287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27" name="Google Shape;2827;p94"/>
            <p:cNvSpPr/>
            <p:nvPr/>
          </p:nvSpPr>
          <p:spPr>
            <a:xfrm>
              <a:off x="5889600" y="2374560"/>
              <a:ext cx="176760" cy="22680"/>
            </a:xfrm>
            <a:custGeom>
              <a:avLst/>
              <a:gdLst>
                <a:gd name="textAreaLeft" fmla="*/ 0 w 176760"/>
                <a:gd name="textAreaRight" fmla="*/ 177120 w 176760"/>
                <a:gd name="textAreaTop" fmla="*/ 0 h 22680"/>
                <a:gd name="textAreaBottom" fmla="*/ 23040 h 22680"/>
              </a:gdLst>
              <a:ahLst/>
              <a:rect l="textAreaLeft" t="textAreaTop" r="textAreaRight" b="textAreaBottom"/>
              <a:pathLst>
                <a:path w="2430" h="311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</p:grpSp>
      <p:grpSp>
        <p:nvGrpSpPr>
          <p:cNvPr id="528" name="Google Shape;2805;p94"/>
          <p:cNvGrpSpPr/>
          <p:nvPr/>
        </p:nvGrpSpPr>
        <p:grpSpPr>
          <a:xfrm>
            <a:off x="9757440" y="1749600"/>
            <a:ext cx="738360" cy="694440"/>
            <a:chOff x="9757440" y="1749600"/>
            <a:chExt cx="738360" cy="694440"/>
          </a:xfrm>
        </p:grpSpPr>
        <p:sp>
          <p:nvSpPr>
            <p:cNvPr id="529" name="Google Shape;2806;p94"/>
            <p:cNvSpPr/>
            <p:nvPr/>
          </p:nvSpPr>
          <p:spPr>
            <a:xfrm>
              <a:off x="9757440" y="1749600"/>
              <a:ext cx="738360" cy="694440"/>
            </a:xfrm>
            <a:custGeom>
              <a:avLst/>
              <a:gdLst>
                <a:gd name="textAreaLeft" fmla="*/ 0 w 738360"/>
                <a:gd name="textAreaRight" fmla="*/ 738720 w 738360"/>
                <a:gd name="textAreaTop" fmla="*/ 0 h 694440"/>
                <a:gd name="textAreaBottom" fmla="*/ 694800 h 694440"/>
              </a:gdLst>
              <a:ahLst/>
              <a:rect l="textAreaLeft" t="textAreaTop" r="textAreaRight" b="textAreaBottom"/>
              <a:pathLst>
                <a:path w="10123" h="9384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30" name="Google Shape;2807;p94"/>
            <p:cNvSpPr/>
            <p:nvPr/>
          </p:nvSpPr>
          <p:spPr>
            <a:xfrm>
              <a:off x="10315080" y="2192400"/>
              <a:ext cx="98640" cy="2088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20880"/>
                <a:gd name="textAreaBottom" fmla="*/ 21240 h 20880"/>
              </a:gdLst>
              <a:ahLst/>
              <a:rect l="textAreaLeft" t="textAreaTop" r="textAreaRight" b="textAreaBottom"/>
              <a:pathLst>
                <a:path w="1358" h="287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31" name="Google Shape;2808;p94"/>
            <p:cNvSpPr/>
            <p:nvPr/>
          </p:nvSpPr>
          <p:spPr>
            <a:xfrm>
              <a:off x="10240560" y="2231280"/>
              <a:ext cx="173520" cy="22680"/>
            </a:xfrm>
            <a:custGeom>
              <a:avLst/>
              <a:gdLst>
                <a:gd name="textAreaLeft" fmla="*/ 0 w 173520"/>
                <a:gd name="textAreaRight" fmla="*/ 173880 w 173520"/>
                <a:gd name="textAreaTop" fmla="*/ 0 h 22680"/>
                <a:gd name="textAreaBottom" fmla="*/ 23040 h 22680"/>
              </a:gdLst>
              <a:ahLst/>
              <a:rect l="textAreaLeft" t="textAreaTop" r="textAreaRight" b="textAreaBottom"/>
              <a:pathLst>
                <a:path w="2382" h="311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32" name="Google Shape;2809;p94"/>
            <p:cNvSpPr/>
            <p:nvPr/>
          </p:nvSpPr>
          <p:spPr>
            <a:xfrm>
              <a:off x="10240560" y="1903320"/>
              <a:ext cx="36360" cy="2268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22680"/>
                <a:gd name="textAreaBottom" fmla="*/ 23040 h 22680"/>
              </a:gdLst>
              <a:ahLst/>
              <a:rect l="textAreaLeft" t="textAreaTop" r="textAreaRight" b="textAreaBottom"/>
              <a:pathLst>
                <a:path w="501" h="31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33" name="Google Shape;2810;p94"/>
            <p:cNvSpPr/>
            <p:nvPr/>
          </p:nvSpPr>
          <p:spPr>
            <a:xfrm>
              <a:off x="10294200" y="1903320"/>
              <a:ext cx="119520" cy="22680"/>
            </a:xfrm>
            <a:custGeom>
              <a:avLst/>
              <a:gdLst>
                <a:gd name="textAreaLeft" fmla="*/ 0 w 119520"/>
                <a:gd name="textAreaRight" fmla="*/ 119880 w 119520"/>
                <a:gd name="textAreaTop" fmla="*/ 0 h 22680"/>
                <a:gd name="textAreaBottom" fmla="*/ 23040 h 22680"/>
              </a:gdLst>
              <a:ahLst/>
              <a:rect l="textAreaLeft" t="textAreaTop" r="textAreaRight" b="textAreaBottom"/>
              <a:pathLst>
                <a:path w="1644" h="31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34" name="Google Shape;2811;p94"/>
            <p:cNvSpPr/>
            <p:nvPr/>
          </p:nvSpPr>
          <p:spPr>
            <a:xfrm>
              <a:off x="10240560" y="1943640"/>
              <a:ext cx="173520" cy="20880"/>
            </a:xfrm>
            <a:custGeom>
              <a:avLst/>
              <a:gdLst>
                <a:gd name="textAreaLeft" fmla="*/ 0 w 173520"/>
                <a:gd name="textAreaRight" fmla="*/ 173880 w 173520"/>
                <a:gd name="textAreaTop" fmla="*/ 0 h 20880"/>
                <a:gd name="textAreaBottom" fmla="*/ 21240 h 20880"/>
              </a:gdLst>
              <a:ahLst/>
              <a:rect l="textAreaLeft" t="textAreaTop" r="textAreaRight" b="textAreaBottom"/>
              <a:pathLst>
                <a:path w="2382" h="287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35" name="Google Shape;2812;p94"/>
            <p:cNvSpPr/>
            <p:nvPr/>
          </p:nvSpPr>
          <p:spPr>
            <a:xfrm>
              <a:off x="10240560" y="2008800"/>
              <a:ext cx="173520" cy="140760"/>
            </a:xfrm>
            <a:custGeom>
              <a:avLst/>
              <a:gdLst>
                <a:gd name="textAreaLeft" fmla="*/ 0 w 173520"/>
                <a:gd name="textAreaRight" fmla="*/ 173880 w 173520"/>
                <a:gd name="textAreaTop" fmla="*/ 0 h 140760"/>
                <a:gd name="textAreaBottom" fmla="*/ 141120 h 140760"/>
              </a:gdLst>
              <a:ahLst/>
              <a:rect l="textAreaLeft" t="textAreaTop" r="textAreaRight" b="textAreaBottom"/>
              <a:pathLst>
                <a:path w="2382" h="1907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560" bIns="70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36" name="Google Shape;2813;p94"/>
            <p:cNvSpPr/>
            <p:nvPr/>
          </p:nvSpPr>
          <p:spPr>
            <a:xfrm>
              <a:off x="9833760" y="1885320"/>
              <a:ext cx="364680" cy="37008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370080"/>
                <a:gd name="textAreaBottom" fmla="*/ 370440 h 370080"/>
              </a:gdLst>
              <a:ahLst/>
              <a:rect l="textAreaLeft" t="textAreaTop" r="textAreaRight" b="textAreaBottom"/>
              <a:pathLst>
                <a:path w="5002" h="5002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37" name="Google Shape;2814;p94"/>
            <p:cNvSpPr/>
            <p:nvPr/>
          </p:nvSpPr>
          <p:spPr>
            <a:xfrm>
              <a:off x="9844200" y="2227320"/>
              <a:ext cx="51840" cy="3744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37440"/>
                <a:gd name="textAreaBottom" fmla="*/ 37800 h 37440"/>
              </a:gdLst>
              <a:ahLst/>
              <a:rect l="textAreaLeft" t="textAreaTop" r="textAreaRight" b="textAreaBottom"/>
              <a:pathLst>
                <a:path w="716" h="508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38" name="Google Shape;2815;p94"/>
            <p:cNvSpPr/>
            <p:nvPr/>
          </p:nvSpPr>
          <p:spPr>
            <a:xfrm>
              <a:off x="10037160" y="2075040"/>
              <a:ext cx="51840" cy="3600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36000"/>
                <a:gd name="textAreaBottom" fmla="*/ 36360 h 36000"/>
              </a:gdLst>
              <a:ahLst/>
              <a:rect l="textAreaLeft" t="textAreaTop" r="textAreaRight" b="textAreaBottom"/>
              <a:pathLst>
                <a:path w="715" h="49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539" name="Google Shape;2816;p94"/>
            <p:cNvSpPr/>
            <p:nvPr/>
          </p:nvSpPr>
          <p:spPr>
            <a:xfrm>
              <a:off x="10151640" y="1905840"/>
              <a:ext cx="51840" cy="3600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36000"/>
                <a:gd name="textAreaBottom" fmla="*/ 36360 h 36000"/>
              </a:gdLst>
              <a:ahLst/>
              <a:rect l="textAreaLeft" t="textAreaTop" r="textAreaRight" b="textAreaBottom"/>
              <a:pathLst>
                <a:path w="716" h="49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2400" spc="-1" strike="noStrike">
                <a:solidFill>
                  <a:schemeClr val="dk1"/>
                </a:solidFill>
                <a:latin typeface="Montserrat"/>
              </a:endParaRPr>
            </a:p>
          </p:txBody>
        </p:sp>
      </p:grpSp>
      <p:sp>
        <p:nvSpPr>
          <p:cNvPr id="540" name="Скругленный прямоугольник 17"/>
          <p:cNvSpPr/>
          <p:nvPr/>
        </p:nvSpPr>
        <p:spPr>
          <a:xfrm>
            <a:off x="9336960" y="1396440"/>
            <a:ext cx="1504080" cy="14007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5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 type="title"/>
          </p:nvPr>
        </p:nvSpPr>
        <p:spPr>
          <a:xfrm>
            <a:off x="52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УНИКАЛЬНОСТЬ</a:t>
            </a:r>
          </a:p>
        </p:txBody>
      </p:sp>
      <p:cxnSp>
        <p:nvCxnSpPr>
          <p:cNvPr id="542" name="Google Shape;2799;p94"/>
          <p:cNvCxnSpPr/>
          <p:nvPr/>
        </p:nvCxnSpPr>
        <p:spPr>
          <a:xfrm flipV="1">
            <a:off x="6842880" y="2118960"/>
            <a:ext cx="2490480" cy="12960"/>
          </a:xfrm>
          <a:prstGeom prst="straightConnector1">
            <a:avLst/>
          </a:prstGeom>
          <a:ln w="12700">
            <a:solidFill>
              <a:srgbClr val="ff0053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Скругленный прямоугольник 11"/>
          <p:cNvSpPr/>
          <p:nvPr/>
        </p:nvSpPr>
        <p:spPr>
          <a:xfrm>
            <a:off x="345960" y="324720"/>
            <a:ext cx="3111480" cy="620640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544" name="PlaceHolder 1"/>
          <p:cNvSpPr>
            <a:spLocks noGrp="1"/>
          </p:cNvSpPr>
          <p:nvPr>
            <p:ph type="sldNum" idx="81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6D70422D-059D-4123-9646-0B825FFF6605}" type="slidenum">
              <a:rPr b="0" lang="ru-RU" sz="1200" spc="-1" strike="noStrike">
                <a:solidFill>
                  <a:schemeClr val="accent5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" name="Текст 1"/>
          <p:cNvSpPr/>
          <p:nvPr/>
        </p:nvSpPr>
        <p:spPr>
          <a:xfrm>
            <a:off x="345960" y="1458000"/>
            <a:ext cx="2525760" cy="147636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ДВА ВИДА КАДРА</a:t>
            </a:r>
          </a:p>
        </p:txBody>
      </p:sp>
      <p:sp>
        <p:nvSpPr>
          <p:cNvPr id="546" name="PlaceHolder 2"/>
          <p:cNvSpPr>
            <a:spLocks noGrp="1"/>
          </p:cNvSpPr>
          <p:nvPr>
            <p:ph/>
          </p:nvPr>
        </p:nvSpPr>
        <p:spPr>
          <a:xfrm>
            <a:off x="345960" y="181404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YOLO11m находит бутылку. В работу идут оба вида — кроп и кадр целиком.</a:t>
            </a:r>
          </a:p>
        </p:txBody>
      </p:sp>
      <p:sp>
        <p:nvSpPr>
          <p:cNvPr id="547" name="Текст 3"/>
          <p:cNvSpPr/>
          <p:nvPr/>
        </p:nvSpPr>
        <p:spPr>
          <a:xfrm>
            <a:off x="4833000" y="1458000"/>
            <a:ext cx="2525760" cy="147636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ГЕОМЕТРИЯ</a:t>
            </a:r>
          </a:p>
        </p:txBody>
      </p:sp>
      <p:sp>
        <p:nvSpPr>
          <p:cNvPr id="548" name="PlaceHolder 3"/>
          <p:cNvSpPr>
            <a:spLocks noGrp="1"/>
          </p:cNvSpPr>
          <p:nvPr>
            <p:ph/>
          </p:nvPr>
        </p:nvSpPr>
        <p:spPr>
          <a:xfrm>
            <a:off x="4833000" y="181404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SIFT, тест Лоу, гомография RANSAC: сколько точек этикетки реально совпало.</a:t>
            </a:r>
          </a:p>
        </p:txBody>
      </p:sp>
      <p:sp>
        <p:nvSpPr>
          <p:cNvPr id="549" name="Текст 5"/>
          <p:cNvSpPr/>
          <p:nvPr/>
        </p:nvSpPr>
        <p:spPr>
          <a:xfrm>
            <a:off x="9330840" y="1458000"/>
            <a:ext cx="2525760" cy="147636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РЕШЕНИЕ</a:t>
            </a:r>
          </a:p>
        </p:txBody>
      </p:sp>
      <p:sp>
        <p:nvSpPr>
          <p:cNvPr id="550" name="PlaceHolder 4"/>
          <p:cNvSpPr>
            <a:spLocks noGrp="1"/>
          </p:cNvSpPr>
          <p:nvPr>
            <p:ph/>
          </p:nvPr>
        </p:nvSpPr>
        <p:spPr>
          <a:xfrm>
            <a:off x="9330840" y="181404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p ≥ 0.30 — без оговорок, p ≥ 0.10 — с вариантами; ниже — проверка VLM или отказ.</a:t>
            </a:r>
          </a:p>
        </p:txBody>
      </p:sp>
      <p:sp>
        <p:nvSpPr>
          <p:cNvPr id="551" name="Текст 7"/>
          <p:cNvSpPr/>
          <p:nvPr/>
        </p:nvSpPr>
        <p:spPr>
          <a:xfrm>
            <a:off x="2593440" y="4825440"/>
            <a:ext cx="2525760" cy="147636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ОТБОР ДВАДЦАТИ</a:t>
            </a:r>
          </a:p>
        </p:txBody>
      </p:sp>
      <p:sp>
        <p:nvSpPr>
          <p:cNvPr id="552" name="PlaceHolder 5"/>
          <p:cNvSpPr>
            <a:spLocks noGrp="1"/>
          </p:cNvSpPr>
          <p:nvPr>
            <p:ph/>
          </p:nvPr>
        </p:nvSpPr>
        <p:spPr>
          <a:xfrm>
            <a:off x="2593440" y="518148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SigLIP 2 so400m-384, 1152 измерения. Косинус против индекса, свёртка по slug.</a:t>
            </a:r>
          </a:p>
        </p:txBody>
      </p:sp>
      <p:sp>
        <p:nvSpPr>
          <p:cNvPr id="553" name="Текст 9"/>
          <p:cNvSpPr/>
          <p:nvPr/>
        </p:nvSpPr>
        <p:spPr>
          <a:xfrm>
            <a:off x="7080480" y="4825440"/>
            <a:ext cx="2525760" cy="147636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ТЕКСТ</a:t>
            </a:r>
          </a:p>
        </p:txBody>
      </p:sp>
      <p:sp>
        <p:nvSpPr>
          <p:cNvPr id="554" name="PlaceHolder 6"/>
          <p:cNvSpPr>
            <a:spLocks noGrp="1"/>
          </p:cNvSpPr>
          <p:nvPr>
            <p:ph/>
          </p:nvPr>
        </p:nvSpPr>
        <p:spPr>
          <a:xfrm>
            <a:off x="7080480" y="518148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Если геометрия не развела лидеров — читаем этикетку. Это 15% запросов.</a:t>
            </a:r>
          </a:p>
        </p:txBody>
      </p:sp>
      <p:cxnSp>
        <p:nvCxnSpPr>
          <p:cNvPr id="555" name="Прямая соединительная линия 33"/>
          <p:cNvCxnSpPr/>
          <p:nvPr/>
        </p:nvCxnSpPr>
        <p:spPr>
          <a:xfrm>
            <a:off x="2065680" y="3859920"/>
            <a:ext cx="1333080" cy="360"/>
          </a:xfrm>
          <a:prstGeom prst="straightConnector1">
            <a:avLst/>
          </a:prstGeom>
          <a:ln w="12700">
            <a:solidFill>
              <a:srgbClr val="ff0053"/>
            </a:solidFill>
          </a:ln>
        </p:spPr>
      </p:cxnSp>
      <p:cxnSp>
        <p:nvCxnSpPr>
          <p:cNvPr id="556" name="Прямая соединительная линия 34"/>
          <p:cNvCxnSpPr/>
          <p:nvPr/>
        </p:nvCxnSpPr>
        <p:spPr>
          <a:xfrm>
            <a:off x="4312080" y="3862080"/>
            <a:ext cx="1332720" cy="360"/>
          </a:xfrm>
          <a:prstGeom prst="straightConnector1">
            <a:avLst/>
          </a:prstGeom>
          <a:ln w="12700">
            <a:solidFill>
              <a:srgbClr val="ff0053"/>
            </a:solidFill>
          </a:ln>
        </p:spPr>
      </p:cxnSp>
      <p:cxnSp>
        <p:nvCxnSpPr>
          <p:cNvPr id="557" name="Прямая соединительная линия 35"/>
          <p:cNvCxnSpPr/>
          <p:nvPr/>
        </p:nvCxnSpPr>
        <p:spPr>
          <a:xfrm>
            <a:off x="6558120" y="3862080"/>
            <a:ext cx="1333080" cy="360"/>
          </a:xfrm>
          <a:prstGeom prst="straightConnector1">
            <a:avLst/>
          </a:prstGeom>
          <a:ln w="12700">
            <a:solidFill>
              <a:srgbClr val="ff0053"/>
            </a:solidFill>
          </a:ln>
        </p:spPr>
      </p:cxnSp>
      <p:cxnSp>
        <p:nvCxnSpPr>
          <p:cNvPr id="558" name="Прямая соединительная линия 36"/>
          <p:cNvCxnSpPr/>
          <p:nvPr/>
        </p:nvCxnSpPr>
        <p:spPr>
          <a:xfrm>
            <a:off x="8780400" y="3862080"/>
            <a:ext cx="1332720" cy="360"/>
          </a:xfrm>
          <a:prstGeom prst="straightConnector1">
            <a:avLst/>
          </a:prstGeom>
          <a:ln w="12700">
            <a:solidFill>
              <a:srgbClr val="ff0053"/>
            </a:solidFill>
          </a:ln>
        </p:spPr>
      </p:cxnSp>
      <p:cxnSp>
        <p:nvCxnSpPr>
          <p:cNvPr id="559" name="Прямая соединительная линия 37"/>
          <p:cNvCxnSpPr/>
          <p:nvPr/>
        </p:nvCxnSpPr>
        <p:spPr>
          <a:xfrm>
            <a:off x="1608840" y="2934720"/>
            <a:ext cx="360" cy="573480"/>
          </a:xfrm>
          <a:prstGeom prst="straightConnector1">
            <a:avLst/>
          </a:prstGeom>
          <a:ln w="12700">
            <a:solidFill>
              <a:srgbClr val="ff0053"/>
            </a:solidFill>
          </a:ln>
        </p:spPr>
      </p:cxnSp>
      <p:cxnSp>
        <p:nvCxnSpPr>
          <p:cNvPr id="560" name="Прямая соединительная линия 38"/>
          <p:cNvCxnSpPr/>
          <p:nvPr/>
        </p:nvCxnSpPr>
        <p:spPr>
          <a:xfrm>
            <a:off x="3855240" y="4215960"/>
            <a:ext cx="1440" cy="575640"/>
          </a:xfrm>
          <a:prstGeom prst="straightConnector1">
            <a:avLst/>
          </a:prstGeom>
          <a:ln w="12700">
            <a:solidFill>
              <a:srgbClr val="ff0053"/>
            </a:solidFill>
          </a:ln>
        </p:spPr>
      </p:cxnSp>
      <p:cxnSp>
        <p:nvCxnSpPr>
          <p:cNvPr id="561" name="Прямая соединительная линия 39"/>
          <p:cNvCxnSpPr/>
          <p:nvPr/>
        </p:nvCxnSpPr>
        <p:spPr>
          <a:xfrm>
            <a:off x="6095880" y="2934720"/>
            <a:ext cx="5760" cy="573480"/>
          </a:xfrm>
          <a:prstGeom prst="straightConnector1">
            <a:avLst/>
          </a:prstGeom>
          <a:ln w="12700">
            <a:solidFill>
              <a:srgbClr val="ff0053"/>
            </a:solidFill>
          </a:ln>
        </p:spPr>
      </p:cxnSp>
      <p:cxnSp>
        <p:nvCxnSpPr>
          <p:cNvPr id="562" name="Прямая соединительная линия 40"/>
          <p:cNvCxnSpPr/>
          <p:nvPr/>
        </p:nvCxnSpPr>
        <p:spPr>
          <a:xfrm flipH="1">
            <a:off x="8343360" y="4215960"/>
            <a:ext cx="4680" cy="575640"/>
          </a:xfrm>
          <a:prstGeom prst="straightConnector1">
            <a:avLst/>
          </a:prstGeom>
          <a:ln w="12700">
            <a:solidFill>
              <a:srgbClr val="ff0053"/>
            </a:solidFill>
          </a:ln>
        </p:spPr>
      </p:cxnSp>
      <p:cxnSp>
        <p:nvCxnSpPr>
          <p:cNvPr id="563" name="Прямая соединительная линия 41"/>
          <p:cNvCxnSpPr/>
          <p:nvPr/>
        </p:nvCxnSpPr>
        <p:spPr>
          <a:xfrm>
            <a:off x="10593720" y="2934720"/>
            <a:ext cx="360" cy="573480"/>
          </a:xfrm>
          <a:prstGeom prst="straightConnector1">
            <a:avLst/>
          </a:prstGeom>
          <a:ln w="12700">
            <a:solidFill>
              <a:srgbClr val="ff0053"/>
            </a:solidFill>
          </a:ln>
        </p:spPr>
      </p:cxnSp>
      <p:sp>
        <p:nvSpPr>
          <p:cNvPr id="564" name="Скругленный прямоугольник 42"/>
          <p:cNvSpPr/>
          <p:nvPr/>
        </p:nvSpPr>
        <p:spPr>
          <a:xfrm>
            <a:off x="1191240" y="3508200"/>
            <a:ext cx="874440" cy="70776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00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ru-RU" sz="2400" spc="-1" strike="noStrike">
                <a:solidFill>
                  <a:schemeClr val="accent1"/>
                </a:solidFill>
                <a:latin typeface="Montserrat"/>
              </a:rPr>
              <a:t>1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Скругленный прямоугольник 43"/>
          <p:cNvSpPr/>
          <p:nvPr/>
        </p:nvSpPr>
        <p:spPr>
          <a:xfrm>
            <a:off x="3412440" y="3506040"/>
            <a:ext cx="874440" cy="70776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00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ru-RU" sz="2400" spc="-1" strike="noStrike">
                <a:solidFill>
                  <a:schemeClr val="accent1"/>
                </a:solidFill>
                <a:latin typeface="Montserrat"/>
              </a:rPr>
              <a:t>2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Скругленный прямоугольник 44"/>
          <p:cNvSpPr/>
          <p:nvPr/>
        </p:nvSpPr>
        <p:spPr>
          <a:xfrm>
            <a:off x="5658480" y="3516120"/>
            <a:ext cx="874440" cy="70776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00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ru-RU" sz="2400" spc="-1" strike="noStrike">
                <a:solidFill>
                  <a:schemeClr val="accent1"/>
                </a:solidFill>
                <a:latin typeface="Montserrat"/>
              </a:rPr>
              <a:t>3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Скругленный прямоугольник 52"/>
          <p:cNvSpPr/>
          <p:nvPr/>
        </p:nvSpPr>
        <p:spPr>
          <a:xfrm>
            <a:off x="7889760" y="3506040"/>
            <a:ext cx="874440" cy="70776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00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ru-RU" sz="2400" spc="-1" strike="noStrike">
                <a:solidFill>
                  <a:schemeClr val="accent1"/>
                </a:solidFill>
                <a:latin typeface="Montserrat"/>
              </a:rPr>
              <a:t>4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Скругленный прямоугольник 53"/>
          <p:cNvSpPr/>
          <p:nvPr/>
        </p:nvSpPr>
        <p:spPr>
          <a:xfrm>
            <a:off x="10113120" y="3538800"/>
            <a:ext cx="874440" cy="70776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ff00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ru-RU" sz="2400" spc="-1" strike="noStrike">
                <a:solidFill>
                  <a:schemeClr val="accent1"/>
                </a:solidFill>
                <a:latin typeface="Montserrat"/>
              </a:rPr>
              <a:t>5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PlaceHolder 7"/>
          <p:cNvSpPr>
            <a:spLocks noGrp="1"/>
          </p:cNvSpPr>
          <p:nvPr>
            <p:ph type="title"/>
          </p:nvPr>
        </p:nvSpPr>
        <p:spPr>
          <a:xfrm>
            <a:off x="52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АРХИТЕКТУРА</a:t>
            </a:r>
          </a:p>
        </p:txBody>
      </p:sp>
      <p:sp>
        <p:nvSpPr>
          <p:cNvPr id="570" name="Скругленный прямоугольник 13"/>
          <p:cNvSpPr/>
          <p:nvPr/>
        </p:nvSpPr>
        <p:spPr>
          <a:xfrm>
            <a:off x="186480" y="1370520"/>
            <a:ext cx="2835720" cy="1581120"/>
          </a:xfrm>
          <a:prstGeom prst="roundRect">
            <a:avLst>
              <a:gd name="adj" fmla="val 10884"/>
            </a:avLst>
          </a:prstGeom>
          <a:noFill/>
          <a:ln w="12700">
            <a:solidFill>
              <a:srgbClr val="ff00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ru-RU" sz="2400" spc="-1" strike="noStrike">
              <a:solidFill>
                <a:schemeClr val="accent1"/>
              </a:solidFill>
              <a:latin typeface="Montserrat"/>
            </a:endParaRPr>
          </a:p>
        </p:txBody>
      </p:sp>
      <p:sp>
        <p:nvSpPr>
          <p:cNvPr id="571" name="Скругленный прямоугольник 15"/>
          <p:cNvSpPr/>
          <p:nvPr/>
        </p:nvSpPr>
        <p:spPr>
          <a:xfrm>
            <a:off x="4644360" y="1370520"/>
            <a:ext cx="2835720" cy="1581120"/>
          </a:xfrm>
          <a:prstGeom prst="roundRect">
            <a:avLst>
              <a:gd name="adj" fmla="val 10884"/>
            </a:avLst>
          </a:prstGeom>
          <a:noFill/>
          <a:ln w="12700">
            <a:solidFill>
              <a:srgbClr val="ff00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ru-RU" sz="2400" spc="-1" strike="noStrike">
              <a:solidFill>
                <a:schemeClr val="accent1"/>
              </a:solidFill>
              <a:latin typeface="Montserrat"/>
            </a:endParaRPr>
          </a:p>
        </p:txBody>
      </p:sp>
      <p:sp>
        <p:nvSpPr>
          <p:cNvPr id="572" name="Скругленный прямоугольник 16"/>
          <p:cNvSpPr/>
          <p:nvPr/>
        </p:nvSpPr>
        <p:spPr>
          <a:xfrm>
            <a:off x="9101880" y="1370520"/>
            <a:ext cx="2835720" cy="1581120"/>
          </a:xfrm>
          <a:prstGeom prst="roundRect">
            <a:avLst>
              <a:gd name="adj" fmla="val 10884"/>
            </a:avLst>
          </a:prstGeom>
          <a:noFill/>
          <a:ln w="12700">
            <a:solidFill>
              <a:srgbClr val="ff00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ru-RU" sz="2400" spc="-1" strike="noStrike">
              <a:solidFill>
                <a:schemeClr val="accent1"/>
              </a:solidFill>
              <a:latin typeface="Montserrat"/>
            </a:endParaRPr>
          </a:p>
        </p:txBody>
      </p:sp>
      <p:sp>
        <p:nvSpPr>
          <p:cNvPr id="573" name="Скругленный прямоугольник 17"/>
          <p:cNvSpPr/>
          <p:nvPr/>
        </p:nvSpPr>
        <p:spPr>
          <a:xfrm>
            <a:off x="2471760" y="4825440"/>
            <a:ext cx="2835720" cy="1581120"/>
          </a:xfrm>
          <a:prstGeom prst="roundRect">
            <a:avLst>
              <a:gd name="adj" fmla="val 10884"/>
            </a:avLst>
          </a:prstGeom>
          <a:noFill/>
          <a:ln w="12700">
            <a:solidFill>
              <a:srgbClr val="ff00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ru-RU" sz="2400" spc="-1" strike="noStrike">
              <a:solidFill>
                <a:schemeClr val="accent1"/>
              </a:solidFill>
              <a:latin typeface="Montserrat"/>
            </a:endParaRPr>
          </a:p>
        </p:txBody>
      </p:sp>
      <p:sp>
        <p:nvSpPr>
          <p:cNvPr id="574" name="Скругленный прямоугольник 18"/>
          <p:cNvSpPr/>
          <p:nvPr/>
        </p:nvSpPr>
        <p:spPr>
          <a:xfrm>
            <a:off x="6948720" y="4791240"/>
            <a:ext cx="2835720" cy="1581120"/>
          </a:xfrm>
          <a:prstGeom prst="roundRect">
            <a:avLst>
              <a:gd name="adj" fmla="val 10884"/>
            </a:avLst>
          </a:prstGeom>
          <a:noFill/>
          <a:ln w="12700">
            <a:solidFill>
              <a:srgbClr val="ff00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ru-RU" sz="2400" spc="-1" strike="noStrike">
              <a:solidFill>
                <a:schemeClr val="accent1"/>
              </a:solidFill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Скругленный прямоугольник 2"/>
          <p:cNvSpPr/>
          <p:nvPr/>
        </p:nvSpPr>
        <p:spPr>
          <a:xfrm>
            <a:off x="345960" y="324720"/>
            <a:ext cx="3111480" cy="620640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ru-RU" sz="1800" spc="-1" strike="noStrike">
                <a:solidFill>
                  <a:schemeClr val="accent2"/>
                </a:solidFill>
                <a:latin typeface="Montserrat"/>
              </a:rPr>
              <a:t>ИНТЕРФЕЙС</a:t>
            </a:r>
          </a:p>
        </p:txBody>
      </p:sp>
      <p:pic>
        <p:nvPicPr>
          <p:cNvPr id="637" name="Рисунок 1" descr=""/>
          <p:cNvPicPr/>
          <p:nvPr/>
        </p:nvPicPr>
        <p:blipFill>
          <a:blip r:embed="rIdUiCard"/>
          <a:srcRect t="1126" b="1126"/>
          <a:stretch/>
        </p:blipFill>
        <p:spPr>
          <a:xfrm>
            <a:off x="5009760" y="1235880"/>
            <a:ext cx="2171880" cy="4602240"/>
          </a:xfrm>
          <a:prstGeom prst="rect">
            <a:avLst/>
          </a:prstGeom>
          <a:ln w="0">
            <a:noFill/>
          </a:ln>
        </p:spPr>
      </p:pic>
      <p:sp>
        <p:nvSpPr>
          <p:cNvPr id="638" name="Текст 3"/>
          <p:cNvSpPr/>
          <p:nvPr/>
        </p:nvSpPr>
        <p:spPr>
          <a:xfrm>
            <a:off x="356400" y="1641240"/>
            <a:ext cx="3812400" cy="10213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800" spc="-1" strike="noStrike">
                <a:solidFill>
                  <a:srgbClr val="FF0053"/>
                </a:solidFill>
                <a:latin typeface="Montserrat"/>
              </a:rPr>
              <a:t>Загрузка фото</a:t>
            </a:r>
          </a:p>
        </p:txBody>
      </p:sp>
      <p:sp>
        <p:nvSpPr>
          <p:cNvPr id="639" name="PlaceHolder 1"/>
          <p:cNvSpPr>
            <a:spLocks noGrp="1"/>
          </p:cNvSpPr>
          <p:nvPr>
            <p:ph/>
          </p:nvPr>
        </p:nvSpPr>
        <p:spPr>
          <a:xfrm>
            <a:off x="356400" y="202068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Камера или галерея, один экран, без настроек. Mobile-first, в стилистике портала.</a:t>
            </a:r>
          </a:p>
        </p:txBody>
      </p:sp>
      <p:sp>
        <p:nvSpPr>
          <p:cNvPr id="640" name="Текст 5"/>
          <p:cNvSpPr/>
          <p:nvPr/>
        </p:nvSpPr>
        <p:spPr>
          <a:xfrm>
            <a:off x="8039880" y="1641240"/>
            <a:ext cx="3812400" cy="10213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800" spc="-1" strike="noStrike">
                <a:solidFill>
                  <a:srgbClr val="520978"/>
                </a:solidFill>
                <a:latin typeface="Montserrat"/>
              </a:rPr>
              <a:t>Одна карточка</a:t>
            </a:r>
          </a:p>
        </p:txBody>
      </p:sp>
      <p:sp>
        <p:nvSpPr>
          <p:cNvPr id="641" name="PlaceHolder 2"/>
          <p:cNvSpPr>
            <a:spLocks noGrp="1"/>
          </p:cNvSpPr>
          <p:nvPr>
            <p:ph/>
          </p:nvPr>
        </p:nvSpPr>
        <p:spPr>
          <a:xfrm>
            <a:off x="8039880" y="202068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Производитель, регион, сорт, рейтинг Роскачества, гастропары — всё на одном экране.</a:t>
            </a:r>
          </a:p>
        </p:txBody>
      </p:sp>
      <p:sp>
        <p:nvSpPr>
          <p:cNvPr id="642" name="Текст 7"/>
          <p:cNvSpPr/>
          <p:nvPr/>
        </p:nvSpPr>
        <p:spPr>
          <a:xfrm>
            <a:off x="356400" y="3864600"/>
            <a:ext cx="3812400" cy="10213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800" spc="-1" strike="noStrike">
                <a:solidFill>
                  <a:srgbClr val="520978"/>
                </a:solidFill>
                <a:latin typeface="Montserrat"/>
              </a:rPr>
              <a:t>Оговорка, когда надо</a:t>
            </a:r>
          </a:p>
        </p:txBody>
      </p:sp>
      <p:sp>
        <p:nvSpPr>
          <p:cNvPr id="643" name="PlaceHolder 3"/>
          <p:cNvSpPr>
            <a:spLocks noGrp="1"/>
          </p:cNvSpPr>
          <p:nvPr>
            <p:ph/>
          </p:nvPr>
        </p:nvSpPr>
        <p:spPr>
          <a:xfrm>
            <a:off x="356400" y="424404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При p ниже 0.30 карточка выходит с вариантами, ниже 0.10 — проверка VLM или честный отказ.</a:t>
            </a:r>
          </a:p>
        </p:txBody>
      </p:sp>
      <p:sp>
        <p:nvSpPr>
          <p:cNvPr id="644" name="Текст 9"/>
          <p:cNvSpPr/>
          <p:nvPr/>
        </p:nvSpPr>
        <p:spPr>
          <a:xfrm>
            <a:off x="8039880" y="3864600"/>
            <a:ext cx="3812400" cy="10213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</a:pPr>
            <a:r>
              <a:rPr b="1" lang="ru-RU" sz="1800" spc="-1" strike="noStrike">
                <a:solidFill>
                  <a:srgbClr val="FF0053"/>
                </a:solidFill>
                <a:latin typeface="Montserrat"/>
              </a:rPr>
              <a:t>Время на экране</a:t>
            </a:r>
          </a:p>
        </p:txBody>
      </p:sp>
      <p:sp>
        <p:nvSpPr>
          <p:cNvPr id="645" name="PlaceHolder 4"/>
          <p:cNvSpPr>
            <a:spLocks noGrp="1"/>
          </p:cNvSpPr>
          <p:nvPr>
            <p:ph/>
          </p:nvPr>
        </p:nvSpPr>
        <p:spPr>
          <a:xfrm>
            <a:off x="8039880" y="424404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00" spc="-1" strike="noStrike">
                <a:solidFill>
                  <a:srgbClr val="1C1D22"/>
                </a:solidFill>
                <a:latin typeface="Montserrat"/>
              </a:rPr>
              <a:t>Медиана 0.93 с, p95 3.1 с на снимке 3024×4032 при SLA 3 с. Его будут засекать — пусть видят.</a:t>
            </a:r>
          </a:p>
        </p:txBody>
      </p:sp>
      <p:sp>
        <p:nvSpPr>
          <p:cNvPr id="646" name="PlaceHolder 5"/>
          <p:cNvSpPr>
            <a:spLocks noGrp="1"/>
          </p:cNvSpPr>
          <p:nvPr>
            <p:ph type="sldNum" idx="84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538C55CF-4FE7-4E88-9D30-A6A21E352B38}" type="slidenum">
              <a:rPr b="0" lang="ru-RU" sz="1200" spc="-1" strike="noStrike">
                <a:solidFill>
                  <a:schemeClr val="accent5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647" name="Группа 12"/>
          <p:cNvGrpSpPr/>
          <p:nvPr/>
        </p:nvGrpSpPr>
        <p:grpSpPr>
          <a:xfrm>
            <a:off x="4951800" y="1208880"/>
            <a:ext cx="2268360" cy="4662720"/>
            <a:chOff x="4951800" y="1208880"/>
            <a:chExt cx="2268360" cy="4662720"/>
          </a:xfrm>
        </p:grpSpPr>
        <p:sp>
          <p:nvSpPr>
            <p:cNvPr id="648" name="Полилиния: фигура 13"/>
            <p:cNvSpPr/>
            <p:nvPr/>
          </p:nvSpPr>
          <p:spPr>
            <a:xfrm>
              <a:off x="4973760" y="1208880"/>
              <a:ext cx="2241000" cy="4662360"/>
            </a:xfrm>
            <a:custGeom>
              <a:avLst/>
              <a:gdLst>
                <a:gd name="textAreaLeft" fmla="*/ 0 w 2241000"/>
                <a:gd name="textAreaRight" fmla="*/ 2241360 w 2241000"/>
                <a:gd name="textAreaTop" fmla="*/ 0 h 4662360"/>
                <a:gd name="textAreaBottom" fmla="*/ 4662720 h 4662360"/>
              </a:gdLst>
              <a:ahLst/>
              <a:rect l="textAreaLeft" t="textAreaTop" r="textAreaRight" b="textAreaBottom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52097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49" name="Полилиния: фигура 14"/>
            <p:cNvSpPr/>
            <p:nvPr/>
          </p:nvSpPr>
          <p:spPr>
            <a:xfrm>
              <a:off x="5054400" y="1208880"/>
              <a:ext cx="2145240" cy="371160"/>
            </a:xfrm>
            <a:custGeom>
              <a:avLst/>
              <a:gdLst>
                <a:gd name="textAreaLeft" fmla="*/ 0 w 2145240"/>
                <a:gd name="textAreaRight" fmla="*/ 2145600 w 2145240"/>
                <a:gd name="textAreaTop" fmla="*/ 0 h 371160"/>
                <a:gd name="textAreaBottom" fmla="*/ 371520 h 371160"/>
              </a:gdLst>
              <a:ahLst/>
              <a:rect l="textAreaLeft" t="textAreaTop" r="textAreaRight" b="textAreaBottom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50" name="Полилиния: фигура 15"/>
            <p:cNvSpPr/>
            <p:nvPr/>
          </p:nvSpPr>
          <p:spPr>
            <a:xfrm>
              <a:off x="5000760" y="1239120"/>
              <a:ext cx="2181240" cy="4602240"/>
            </a:xfrm>
            <a:custGeom>
              <a:avLst/>
              <a:gdLst>
                <a:gd name="textAreaLeft" fmla="*/ 0 w 2181240"/>
                <a:gd name="textAreaRight" fmla="*/ 2181600 w 2181240"/>
                <a:gd name="textAreaTop" fmla="*/ 0 h 4602240"/>
                <a:gd name="textAreaBottom" fmla="*/ 4602600 h 4602240"/>
              </a:gdLst>
              <a:ahLst/>
              <a:rect l="textAreaLeft" t="textAreaTop" r="textAreaRight" b="textAreaBottom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51" name="Полилиния: фигура 16"/>
            <p:cNvSpPr/>
            <p:nvPr/>
          </p:nvSpPr>
          <p:spPr>
            <a:xfrm>
              <a:off x="4999320" y="1237320"/>
              <a:ext cx="2181240" cy="4602240"/>
            </a:xfrm>
            <a:custGeom>
              <a:avLst/>
              <a:gdLst>
                <a:gd name="textAreaLeft" fmla="*/ 0 w 2181240"/>
                <a:gd name="textAreaRight" fmla="*/ 2181600 w 2181240"/>
                <a:gd name="textAreaTop" fmla="*/ 0 h 4602240"/>
                <a:gd name="textAreaBottom" fmla="*/ 4602600 h 4602240"/>
              </a:gdLst>
              <a:ahLst/>
              <a:rect l="textAreaLeft" t="textAreaTop" r="textAreaRight" b="textAreaBottom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52" name="Полилиния: фигура 17"/>
            <p:cNvSpPr/>
            <p:nvPr/>
          </p:nvSpPr>
          <p:spPr>
            <a:xfrm>
              <a:off x="5054400" y="5493960"/>
              <a:ext cx="2145240" cy="371160"/>
            </a:xfrm>
            <a:custGeom>
              <a:avLst/>
              <a:gdLst>
                <a:gd name="textAreaLeft" fmla="*/ 0 w 2145240"/>
                <a:gd name="textAreaRight" fmla="*/ 2145600 w 2145240"/>
                <a:gd name="textAreaTop" fmla="*/ 0 h 371160"/>
                <a:gd name="textAreaBottom" fmla="*/ 371520 h 371160"/>
              </a:gdLst>
              <a:ahLst/>
              <a:rect l="textAreaLeft" t="textAreaTop" r="textAreaRight" b="textAreaBottom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53" name="Полилиния: фигура 18"/>
            <p:cNvSpPr/>
            <p:nvPr/>
          </p:nvSpPr>
          <p:spPr>
            <a:xfrm>
              <a:off x="7196400" y="2180520"/>
              <a:ext cx="23760" cy="50292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502920"/>
                <a:gd name="textAreaBottom" fmla="*/ 503280 h 502920"/>
              </a:gdLst>
              <a:ahLst/>
              <a:rect l="textAreaLeft" t="textAreaTop" r="textAreaRight" b="textAreaBottom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54" name="Полилиния: фигура 19"/>
            <p:cNvSpPr/>
            <p:nvPr/>
          </p:nvSpPr>
          <p:spPr>
            <a:xfrm>
              <a:off x="7203600" y="2180880"/>
              <a:ext cx="11520" cy="50292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502920"/>
                <a:gd name="textAreaBottom" fmla="*/ 503280 h 502920"/>
              </a:gdLst>
              <a:ahLst/>
              <a:rect l="textAreaLeft" t="textAreaTop" r="textAreaRight" b="textAreaBottom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55" name="Полилиния: фигура 20"/>
            <p:cNvSpPr/>
            <p:nvPr/>
          </p:nvSpPr>
          <p:spPr>
            <a:xfrm>
              <a:off x="4955400" y="2180520"/>
              <a:ext cx="23760" cy="34740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47400"/>
                <a:gd name="textAreaBottom" fmla="*/ 347760 h 347400"/>
              </a:gdLst>
              <a:ahLst/>
              <a:rect l="textAreaLeft" t="textAreaTop" r="textAreaRight" b="textAreaBottom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56" name="Полилиния: фигура 21"/>
            <p:cNvSpPr/>
            <p:nvPr/>
          </p:nvSpPr>
          <p:spPr>
            <a:xfrm>
              <a:off x="4951800" y="2180880"/>
              <a:ext cx="11520" cy="34740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347400"/>
                <a:gd name="textAreaBottom" fmla="*/ 347760 h 347400"/>
              </a:gdLst>
              <a:ahLst/>
              <a:rect l="textAreaLeft" t="textAreaTop" r="textAreaRight" b="textAreaBottom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57" name="Полилиния: фигура 22"/>
            <p:cNvSpPr/>
            <p:nvPr/>
          </p:nvSpPr>
          <p:spPr>
            <a:xfrm>
              <a:off x="4962600" y="2180880"/>
              <a:ext cx="23760" cy="34740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47400"/>
                <a:gd name="textAreaBottom" fmla="*/ 347760 h 347400"/>
              </a:gdLst>
              <a:ahLst/>
              <a:rect l="textAreaLeft" t="textAreaTop" r="textAreaRight" b="textAreaBottom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58" name="Полилиния: фигура 23"/>
            <p:cNvSpPr/>
            <p:nvPr/>
          </p:nvSpPr>
          <p:spPr>
            <a:xfrm>
              <a:off x="4955400" y="2599560"/>
              <a:ext cx="23760" cy="34740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47400"/>
                <a:gd name="textAreaBottom" fmla="*/ 347760 h 347400"/>
              </a:gdLst>
              <a:ahLst/>
              <a:rect l="textAreaLeft" t="textAreaTop" r="textAreaRight" b="textAreaBottom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59" name="Полилиния: фигура 24"/>
            <p:cNvSpPr/>
            <p:nvPr/>
          </p:nvSpPr>
          <p:spPr>
            <a:xfrm>
              <a:off x="4951800" y="2599920"/>
              <a:ext cx="11520" cy="34740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347400"/>
                <a:gd name="textAreaBottom" fmla="*/ 347760 h 347400"/>
              </a:gdLst>
              <a:ahLst/>
              <a:rect l="textAreaLeft" t="textAreaTop" r="textAreaRight" b="textAreaBottom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60" name="Полилиния: фигура 25"/>
            <p:cNvSpPr/>
            <p:nvPr/>
          </p:nvSpPr>
          <p:spPr>
            <a:xfrm>
              <a:off x="4962600" y="2599560"/>
              <a:ext cx="23760" cy="34740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47400"/>
                <a:gd name="textAreaBottom" fmla="*/ 347760 h 347400"/>
              </a:gdLst>
              <a:ahLst/>
              <a:rect l="textAreaLeft" t="textAreaTop" r="textAreaRight" b="textAreaBottom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61" name="Полилиния: фигура 26"/>
            <p:cNvSpPr/>
            <p:nvPr/>
          </p:nvSpPr>
          <p:spPr>
            <a:xfrm>
              <a:off x="4955400" y="1784880"/>
              <a:ext cx="23760" cy="19152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91520"/>
                <a:gd name="textAreaBottom" fmla="*/ 191880 h 191520"/>
              </a:gdLst>
              <a:ahLst/>
              <a:rect l="textAreaLeft" t="textAreaTop" r="textAreaRight" b="textAreaBottom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62" name="Полилиния: фигура 27"/>
            <p:cNvSpPr/>
            <p:nvPr/>
          </p:nvSpPr>
          <p:spPr>
            <a:xfrm>
              <a:off x="4951800" y="1785240"/>
              <a:ext cx="11520" cy="19152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91520"/>
                <a:gd name="textAreaBottom" fmla="*/ 191880 h 191520"/>
              </a:gdLst>
              <a:ahLst/>
              <a:rect l="textAreaLeft" t="textAreaTop" r="textAreaRight" b="textAreaBottom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63" name="Полилиния: фигура 28"/>
            <p:cNvSpPr/>
            <p:nvPr/>
          </p:nvSpPr>
          <p:spPr>
            <a:xfrm>
              <a:off x="4962600" y="1785240"/>
              <a:ext cx="23760" cy="19152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91520"/>
                <a:gd name="textAreaBottom" fmla="*/ 191880 h 191520"/>
              </a:gdLst>
              <a:ahLst/>
              <a:rect l="textAreaLeft" t="textAreaTop" r="textAreaRight" b="textAreaBottom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64" name="Полилиния: фигура 29"/>
            <p:cNvSpPr/>
            <p:nvPr/>
          </p:nvSpPr>
          <p:spPr>
            <a:xfrm>
              <a:off x="5953320" y="5847840"/>
              <a:ext cx="275400" cy="23760"/>
            </a:xfrm>
            <a:custGeom>
              <a:avLst/>
              <a:gdLst>
                <a:gd name="textAreaLeft" fmla="*/ 0 w 275400"/>
                <a:gd name="textAreaRight" fmla="*/ 275760 w 275400"/>
                <a:gd name="textAreaTop" fmla="*/ 0 h 23760"/>
                <a:gd name="textAreaBottom" fmla="*/ 24120 h 23760"/>
              </a:gdLst>
              <a:ahLst/>
              <a:rect l="textAreaLeft" t="textAreaTop" r="textAreaRight" b="textAreaBottom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65" name="Полилиния: фигура 30"/>
            <p:cNvSpPr/>
            <p:nvPr/>
          </p:nvSpPr>
          <p:spPr>
            <a:xfrm>
              <a:off x="5797440" y="1302840"/>
              <a:ext cx="574920" cy="179280"/>
            </a:xfrm>
            <a:custGeom>
              <a:avLst/>
              <a:gdLst>
                <a:gd name="textAreaLeft" fmla="*/ 0 w 574920"/>
                <a:gd name="textAreaRight" fmla="*/ 575280 w 574920"/>
                <a:gd name="textAreaTop" fmla="*/ 0 h 179280"/>
                <a:gd name="textAreaBottom" fmla="*/ 179640 h 179280"/>
              </a:gdLst>
              <a:ahLst/>
              <a:rect l="textAreaLeft" t="textAreaTop" r="textAreaRight" b="textAreaBottom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66" name="Полилиния: фигура 31"/>
            <p:cNvSpPr/>
            <p:nvPr/>
          </p:nvSpPr>
          <p:spPr>
            <a:xfrm>
              <a:off x="6221880" y="1348920"/>
              <a:ext cx="83520" cy="835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3520"/>
                <a:gd name="textAreaBottom" fmla="*/ 83880 h 83520"/>
              </a:gdLst>
              <a:ahLst/>
              <a:rect l="textAreaLeft" t="textAreaTop" r="textAreaRight" b="textAreaBottom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67" name="Рисунок 32"/>
            <p:cNvSpPr/>
            <p:nvPr/>
          </p:nvSpPr>
          <p:spPr>
            <a:xfrm>
              <a:off x="6232320" y="1359720"/>
              <a:ext cx="71640" cy="59400"/>
            </a:xfrm>
            <a:custGeom>
              <a:avLst/>
              <a:gdLst>
                <a:gd name="textAreaLeft" fmla="*/ 0 w 71640"/>
                <a:gd name="textAreaRight" fmla="*/ 72000 w 71640"/>
                <a:gd name="textAreaTop" fmla="*/ 0 h 59400"/>
                <a:gd name="textAreaBottom" fmla="*/ 59760 h 59400"/>
              </a:gdLst>
              <a:ahLst/>
              <a:rect l="textAreaLeft" t="textAreaTop" r="textAreaRight" b="textAreaBottom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760" bIns="14760" anchor="t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8" name="Полилиния: фигура 33"/>
            <p:cNvSpPr/>
            <p:nvPr/>
          </p:nvSpPr>
          <p:spPr>
            <a:xfrm>
              <a:off x="6237000" y="1364040"/>
              <a:ext cx="47520" cy="4752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47520"/>
                <a:gd name="textAreaBottom" fmla="*/ 47880 h 47520"/>
              </a:gdLst>
              <a:ahLst/>
              <a:rect l="textAreaLeft" t="textAreaTop" r="textAreaRight" b="textAreaBottom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80" bIns="28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69" name="Полилиния: фигура 34"/>
            <p:cNvSpPr/>
            <p:nvPr/>
          </p:nvSpPr>
          <p:spPr>
            <a:xfrm>
              <a:off x="6239520" y="1366560"/>
              <a:ext cx="47520" cy="4752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47520"/>
                <a:gd name="textAreaBottom" fmla="*/ 47880 h 47520"/>
              </a:gdLst>
              <a:ahLst/>
              <a:rect l="textAreaLeft" t="textAreaTop" r="textAreaRight" b="textAreaBottom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80" bIns="28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70" name="Полилиния: фигура 35"/>
            <p:cNvSpPr/>
            <p:nvPr/>
          </p:nvSpPr>
          <p:spPr>
            <a:xfrm>
              <a:off x="6239520" y="1366560"/>
              <a:ext cx="47520" cy="4752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47520"/>
                <a:gd name="textAreaBottom" fmla="*/ 47880 h 47520"/>
              </a:gdLst>
              <a:ahLst/>
              <a:rect l="textAreaLeft" t="textAreaTop" r="textAreaRight" b="textAreaBottom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80" bIns="28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  <p:sp>
          <p:nvSpPr>
            <p:cNvPr id="671" name="Полилиния: фигура 36"/>
            <p:cNvSpPr/>
            <p:nvPr/>
          </p:nvSpPr>
          <p:spPr>
            <a:xfrm>
              <a:off x="6260760" y="1387440"/>
              <a:ext cx="23760" cy="237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23760"/>
                <a:gd name="textAreaBottom" fmla="*/ 24120 h 23760"/>
              </a:gdLst>
              <a:ahLst/>
              <a:rect l="textAreaLeft" t="textAreaTop" r="textAreaRight" b="textAreaBottom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RU" sz="1800" spc="-1" strike="noStrike">
                <a:solidFill>
                  <a:schemeClr val="dk1"/>
                </a:solidFill>
                <a:latin typeface="Montserrat"/>
              </a:endParaRPr>
            </a:p>
          </p:txBody>
        </p:sp>
      </p:grpSp>
      <p:sp>
        <p:nvSpPr>
          <p:cNvPr id="672" name="PlaceHolder 6"/>
          <p:cNvSpPr>
            <a:spLocks noGrp="1"/>
          </p:cNvSpPr>
          <p:nvPr>
            <p:ph type="title"/>
          </p:nvPr>
        </p:nvSpPr>
        <p:spPr>
          <a:xfrm>
            <a:off x="52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1" lang="ru-RU" sz="2000" spc="-1" strike="noStrike">
              <a:solidFill>
                <a:schemeClr val="lt1">
                  <a:lumMod val="95000"/>
                </a:schemeClr>
              </a:solidFill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Скругленный прямоугольник 1"/>
          <p:cNvSpPr/>
          <p:nvPr/>
        </p:nvSpPr>
        <p:spPr>
          <a:xfrm>
            <a:off x="345960" y="324720"/>
            <a:ext cx="3111480" cy="620640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42" name="Скругленный прямоугольник 16"/>
          <p:cNvSpPr/>
          <p:nvPr/>
        </p:nvSpPr>
        <p:spPr>
          <a:xfrm>
            <a:off x="5951880" y="136656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43" name="Скругленный прямоугольник 17"/>
          <p:cNvSpPr/>
          <p:nvPr/>
        </p:nvSpPr>
        <p:spPr>
          <a:xfrm>
            <a:off x="5951880" y="237708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44" name="Скругленный прямоугольник 18"/>
          <p:cNvSpPr/>
          <p:nvPr/>
        </p:nvSpPr>
        <p:spPr>
          <a:xfrm>
            <a:off x="5951880" y="338760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45" name="Скругленный прямоугольник 22"/>
          <p:cNvSpPr/>
          <p:nvPr/>
        </p:nvSpPr>
        <p:spPr>
          <a:xfrm>
            <a:off x="5951880" y="439848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46" name="Скругленный прямоугольник 23"/>
          <p:cNvSpPr/>
          <p:nvPr/>
        </p:nvSpPr>
        <p:spPr>
          <a:xfrm>
            <a:off x="5951880" y="540900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47" name="Скругленный прямоугольник 14"/>
          <p:cNvSpPr/>
          <p:nvPr/>
        </p:nvSpPr>
        <p:spPr>
          <a:xfrm>
            <a:off x="345960" y="1366560"/>
            <a:ext cx="5389200" cy="4834080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48" name="PlaceHolder 1"/>
          <p:cNvSpPr>
            <a:spLocks noGrp="1"/>
          </p:cNvSpPr>
          <p:nvPr>
            <p:ph/>
          </p:nvPr>
        </p:nvSpPr>
        <p:spPr>
          <a:xfrm>
            <a:off x="623880" y="1731960"/>
            <a:ext cx="4733640" cy="413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450" spc="-1" strike="noStrike">
                <a:solidFill>
                  <a:srgbClr val="520978"/>
                </a:solidFill>
                <a:latin typeface="Montserrat"/>
              </a:rPr>
              <a:t>Приоритет задан съёмкой организатора, а не синтетикой.</a:t>
            </a: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На съёмке у полки верная позиция первая в 53 из 62 кадров; промахи — соседи по линейке и позиции без эталона или с эталоном-скриншотом. Треть кадров — вина вне каталога.</a:t>
            </a: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Значит дальше — данные, а не модель: больше эталонов на позицию, свежий каталог платформы, дообучение на реальных снимках у полки.</a:t>
            </a:r>
          </a:p>
        </p:txBody>
      </p:sp>
      <p:sp>
        <p:nvSpPr>
          <p:cNvPr id="449" name="PlaceHolder 2"/>
          <p:cNvSpPr>
            <a:spLocks noGrp="1"/>
          </p:cNvSpPr>
          <p:nvPr>
            <p:ph/>
          </p:nvPr>
        </p:nvSpPr>
        <p:spPr>
          <a:xfrm>
            <a:off x="6172560" y="1445400"/>
            <a:ext cx="5460120" cy="5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310F53"/>
                </a:solidFill>
                <a:latin typeface="Montserrat"/>
              </a:rPr>
              <a:t>Закрытая съёмка 300+ кадров у полки — независимая проверка</a:t>
            </a:r>
          </a:p>
        </p:txBody>
      </p:sp>
      <p:sp>
        <p:nvSpPr>
          <p:cNvPr id="450" name="PlaceHolder 3"/>
          <p:cNvSpPr>
            <a:spLocks noGrp="1"/>
          </p:cNvSpPr>
          <p:nvPr>
            <p:ph/>
          </p:nvPr>
        </p:nvSpPr>
        <p:spPr>
          <a:xfrm>
            <a:off x="6172560" y="2472840"/>
            <a:ext cx="5460120" cy="5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310F53"/>
                </a:solidFill>
                <a:latin typeface="Montserrat"/>
              </a:rPr>
              <a:t>Контрэтикетка вторым кадром: полное название и сладость</a:t>
            </a:r>
          </a:p>
        </p:txBody>
      </p:sp>
      <p:sp>
        <p:nvSpPr>
          <p:cNvPr id="451" name="PlaceHolder 4"/>
          <p:cNvSpPr>
            <a:spLocks noGrp="1"/>
          </p:cNvSpPr>
          <p:nvPr>
            <p:ph/>
          </p:nvPr>
        </p:nvSpPr>
        <p:spPr>
          <a:xfrm>
            <a:off x="6172560" y="3485880"/>
            <a:ext cx="5460120" cy="5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310F53"/>
                </a:solidFill>
                <a:latin typeface="Montserrat"/>
              </a:rPr>
              <a:t>Эталоны от платформы: поколения упаковки для всего каталога</a:t>
            </a:r>
          </a:p>
        </p:txBody>
      </p:sp>
      <p:sp>
        <p:nvSpPr>
          <p:cNvPr id="452" name="PlaceHolder 5"/>
          <p:cNvSpPr>
            <a:spLocks noGrp="1"/>
          </p:cNvSpPr>
          <p:nvPr>
            <p:ph/>
          </p:nvPr>
        </p:nvSpPr>
        <p:spPr>
          <a:xfrm>
            <a:off x="6172560" y="4496760"/>
            <a:ext cx="5460120" cy="5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310F53"/>
                </a:solidFill>
                <a:latin typeface="Montserrat"/>
              </a:rPr>
              <a:t>Дообучение SigLIP 2 на реальных снимках, а не на аугментациях</a:t>
            </a:r>
          </a:p>
        </p:txBody>
      </p:sp>
      <p:sp>
        <p:nvSpPr>
          <p:cNvPr id="453" name="PlaceHolder 6"/>
          <p:cNvSpPr>
            <a:spLocks noGrp="1"/>
          </p:cNvSpPr>
          <p:nvPr>
            <p:ph/>
          </p:nvPr>
        </p:nvSpPr>
        <p:spPr>
          <a:xfrm>
            <a:off x="6172560" y="5517000"/>
            <a:ext cx="5460120" cy="5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310F53"/>
                </a:solidFill>
                <a:latin typeface="Montserrat"/>
              </a:rPr>
              <a:t>Ежедневная сверка с платформой: +50 позиций в день без правки кода</a:t>
            </a:r>
          </a:p>
        </p:txBody>
      </p:sp>
      <p:sp>
        <p:nvSpPr>
          <p:cNvPr id="454" name="PlaceHolder 7"/>
          <p:cNvSpPr>
            <a:spLocks noGrp="1"/>
          </p:cNvSpPr>
          <p:nvPr>
            <p:ph type="sldNum" idx="77"/>
          </p:nvPr>
        </p:nvSpPr>
        <p:spPr>
          <a:xfrm>
            <a:off x="11633040" y="6356520"/>
            <a:ext cx="558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4F5B5C1-DB8F-4EC1-9C85-B23F5466EAF3}" type="slidenum">
              <a:rPr b="0" lang="ru-RU" sz="1200" spc="-1" strike="noStrike">
                <a:solidFill>
                  <a:schemeClr val="accent5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PlaceHolder 8"/>
          <p:cNvSpPr>
            <a:spLocks noGrp="1"/>
          </p:cNvSpPr>
          <p:nvPr>
            <p:ph type="title"/>
          </p:nvPr>
        </p:nvSpPr>
        <p:spPr>
          <a:xfrm>
            <a:off x="52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1" lang="ru-RU" sz="2000" spc="-1" strike="noStrike">
                <a:solidFill>
                  <a:schemeClr val="lt1">
                    <a:lumMod val="95000"/>
                  </a:schemeClr>
                </a:solidFill>
                <a:latin typeface="Montserrat"/>
              </a:rPr>
              <a:t>ЧТО ДАЛЬШЕ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Скругленный прямоугольник 7"/>
          <p:cNvSpPr/>
          <p:nvPr/>
        </p:nvSpPr>
        <p:spPr>
          <a:xfrm>
            <a:off x="4419360" y="1522080"/>
            <a:ext cx="339912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00" name="Скругленный прямоугольник 8"/>
          <p:cNvSpPr/>
          <p:nvPr/>
        </p:nvSpPr>
        <p:spPr>
          <a:xfrm>
            <a:off x="8366040" y="1522080"/>
            <a:ext cx="324828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01" name="Скругленный прямоугольник 9"/>
          <p:cNvSpPr/>
          <p:nvPr/>
        </p:nvSpPr>
        <p:spPr>
          <a:xfrm>
            <a:off x="623880" y="1522080"/>
            <a:ext cx="324828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1" lang="ru-RU" sz="1800" spc="-1" strike="noStrike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402" name="PlaceHolder 1"/>
          <p:cNvSpPr>
            <a:spLocks noGrp="1"/>
          </p:cNvSpPr>
          <p:nvPr>
            <p:ph type="sldNum" idx="74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accent5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023E0FE-5921-464B-BA8C-AF9FE6B22215}" type="slidenum">
              <a:rPr b="0" lang="ru-RU" sz="1200" spc="-1" strike="noStrike">
                <a:solidFill>
                  <a:schemeClr val="accent5"/>
                </a:solidFill>
                <a:latin typeface="Montserrat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780480" y="2493000"/>
            <a:ext cx="2965320" cy="4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У ОРГАНИЗАТОРА</a:t>
            </a:r>
          </a:p>
        </p:txBody>
      </p:sp>
      <p:sp>
        <p:nvSpPr>
          <p:cNvPr id="404" name="PlaceHolder 3"/>
          <p:cNvSpPr>
            <a:spLocks noGrp="1"/>
          </p:cNvSpPr>
          <p:nvPr>
            <p:ph/>
          </p:nvPr>
        </p:nvSpPr>
        <p:spPr>
          <a:xfrm>
            <a:off x="780480" y="3128760"/>
            <a:ext cx="2965320" cy="27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Треть кадров публичного набора — вина, которых нет в выгрузке каталога. Для них сервис должен не угадывать, а честно сказать «не нашли»: в оценочном API это {"slug": null}.</a:t>
            </a:r>
          </a:p>
        </p:txBody>
      </p:sp>
      <p:sp>
        <p:nvSpPr>
          <p:cNvPr id="405" name="PlaceHolder 4"/>
          <p:cNvSpPr>
            <a:spLocks noGrp="1"/>
          </p:cNvSpPr>
          <p:nvPr>
            <p:ph/>
          </p:nvPr>
        </p:nvSpPr>
        <p:spPr>
          <a:xfrm>
            <a:off x="4623120" y="2493000"/>
            <a:ext cx="303444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ТОЛЬКО ДАТАСЕТ</a:t>
            </a:r>
          </a:p>
        </p:txBody>
      </p:sp>
      <p:sp>
        <p:nvSpPr>
          <p:cNvPr id="406" name="PlaceHolder 5"/>
          <p:cNvSpPr>
            <a:spLocks noGrp="1"/>
          </p:cNvSpPr>
          <p:nvPr>
            <p:ph/>
          </p:nvPr>
        </p:nvSpPr>
        <p:spPr>
          <a:xfrm>
            <a:off x="4623120" y="3128760"/>
            <a:ext cx="3034440" cy="27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Эталоны — только фото из выгрузки кейса, по рекомендации организатора. У 12 позиций из 2103 файла в датасете нет — чужими фото их не закрываем.</a:t>
            </a:r>
          </a:p>
        </p:txBody>
      </p:sp>
      <p:sp>
        <p:nvSpPr>
          <p:cNvPr id="407" name="PlaceHolder 6"/>
          <p:cNvSpPr>
            <a:spLocks noGrp="1"/>
          </p:cNvSpPr>
          <p:nvPr>
            <p:ph/>
          </p:nvPr>
        </p:nvSpPr>
        <p:spPr>
          <a:xfrm>
            <a:off x="8547840" y="2493000"/>
            <a:ext cx="2945160" cy="4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1" lang="ru-RU" sz="1600" spc="-1" strike="noStrike">
                <a:solidFill>
                  <a:srgbClr val="520978"/>
                </a:solidFill>
                <a:latin typeface="Montserrat"/>
              </a:rPr>
              <a:t>ОТКАЗ И VLM</a:t>
            </a:r>
          </a:p>
        </p:txBody>
      </p:sp>
      <p:sp>
        <p:nvSpPr>
          <p:cNvPr id="408" name="PlaceHolder 7"/>
          <p:cNvSpPr>
            <a:spLocks noGrp="1"/>
          </p:cNvSpPr>
          <p:nvPr>
            <p:ph/>
          </p:nvPr>
        </p:nvSpPr>
        <p:spPr>
          <a:xfrm>
            <a:off x="8547840" y="3128760"/>
            <a:ext cx="2945160" cy="27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1450" spc="-1" strike="noStrike">
                <a:solidFill>
                  <a:srgbClr val="1C1D22"/>
                </a:solidFill>
                <a:latin typeface="Montserrat"/>
              </a:rPr>
              <a:t>Ниже порога уверенности Qwen3-VL проверяет лидера и соседей: «тот же товар?». Если пустой ответ засчитывается, верных 53 → 82 из 97; если нет — 53 → 53. Риск 0, выигрыш +29.</a:t>
            </a:r>
          </a:p>
        </p:txBody>
      </p:sp>
      <p:sp>
        <p:nvSpPr>
          <p:cNvPr id="409" name="PlaceHolder 8"/>
          <p:cNvSpPr>
            <a:spLocks noGrp="1"/>
          </p:cNvSpPr>
          <p:nvPr>
            <p:ph type="title"/>
          </p:nvPr>
        </p:nvSpPr>
        <p:spPr>
          <a:xfrm>
            <a:off x="525960" y="335520"/>
            <a:ext cx="11331000" cy="3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1" lang="ru-RU" sz="2000" spc="-1" strike="noStrike">
                <a:solidFill>
                  <a:srgbClr val="310F53"/>
                </a:solidFill>
                <a:latin typeface="Montserrat"/>
              </a:rPr>
              <a:t>ВИНА ВНЕ КАТАЛОГА</a:t>
            </a:r>
          </a:p>
        </p:txBody>
      </p:sp>
      <p:sp>
        <p:nvSpPr>
          <p:cNvPr id="410" name="PlaceHolder 9"/>
          <p:cNvSpPr>
            <a:spLocks noGrp="1"/>
          </p:cNvSpPr>
          <p:nvPr>
            <p:ph/>
          </p:nvPr>
        </p:nvSpPr>
        <p:spPr>
          <a:xfrm>
            <a:off x="780480" y="1772280"/>
            <a:ext cx="1310760" cy="60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35/97</a:t>
            </a:r>
          </a:p>
        </p:txBody>
      </p:sp>
      <p:sp>
        <p:nvSpPr>
          <p:cNvPr id="411" name="PlaceHolder 10"/>
          <p:cNvSpPr>
            <a:spLocks noGrp="1"/>
          </p:cNvSpPr>
          <p:nvPr>
            <p:ph/>
          </p:nvPr>
        </p:nvSpPr>
        <p:spPr>
          <a:xfrm>
            <a:off x="4615200" y="1766160"/>
            <a:ext cx="131076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12</a:t>
            </a:r>
          </a:p>
        </p:txBody>
      </p:sp>
      <p:sp>
        <p:nvSpPr>
          <p:cNvPr id="412" name="PlaceHolder 11"/>
          <p:cNvSpPr>
            <a:spLocks noGrp="1"/>
          </p:cNvSpPr>
          <p:nvPr>
            <p:ph/>
          </p:nvPr>
        </p:nvSpPr>
        <p:spPr>
          <a:xfrm>
            <a:off x="8547840" y="1766160"/>
            <a:ext cx="1310760" cy="57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rgbClr val="FF0053"/>
                </a:solidFill>
                <a:latin typeface="Montserrat"/>
              </a:rPr>
              <a:t>82/97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Application>LibreOffice/24.2.7.2$Linux_X86_64 LibreOffice_project/420$Build-2</Application>
  <AppVersion>15.0000</AppVersion>
  <Words>633</Words>
  <Paragraphs>192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2023-05-15T07:36:23Z</dcterms:created>
  <dc:creator>Анастасия Юшкова</dc:creator>
  <dc:description/>
  <dc:language>ru-RU</dc:language>
  <cp:lastModifiedBy>Microsoft Office User</cp:lastModifiedBy>
  <dcterms:modified xsi:type="dcterms:W3CDTF">2026-09-14T11:14:59Z</dcterms:modified>
  <cp:revision>95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37</vt:i4>
  </property>
</Properties>
</file>