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9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</p:sldMasterIdLst>
  <p:notesMasterIdLst>
    <p:notesMasterId r:id="rId25"/>
  </p:notesMasterIdLst>
  <p:sldIdLst>
    <p:sldId id="256" r:id="rId26"/>
    <p:sldId id="257" r:id="rId27"/>
    <p:sldId id="258" r:id="rId28"/>
    <p:sldId id="259" r:id="rId29"/>
    <p:sldId id="260" r:id="rId30"/>
    <p:sldId id="272" r:id="rId43"/>
    <p:sldId id="261" r:id="rId31"/>
    <p:sldId id="268" r:id="rId38"/>
    <p:sldId id="262" r:id="rId32"/>
    <p:sldId id="263" r:id="rId33"/>
    <p:sldId id="265" r:id="rId35"/>
    <p:sldId id="266" r:id="rId36"/>
    <p:sldId id="267" r:id="rId37"/>
    <p:sldId id="264" r:id="rId34"/>
    <p:sldId id="269" r:id="rId39"/>
    <p:sldId id="270" r:id="rId40"/>
    <p:sldId id="271" r:id="rId4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notesMaster" Target="notesMasters/notesMaster1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slide" Target="slides/slide3.xml"/><Relationship Id="rId29" Type="http://schemas.openxmlformats.org/officeDocument/2006/relationships/slide" Target="slides/slide4.xml"/><Relationship Id="rId30" Type="http://schemas.openxmlformats.org/officeDocument/2006/relationships/slide" Target="slides/slide5.xml"/><Relationship Id="rId31" Type="http://schemas.openxmlformats.org/officeDocument/2006/relationships/slide" Target="slides/slide6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16.xml"/><Relationship Id="rId42" Type="http://schemas.openxmlformats.org/officeDocument/2006/relationships/presProps" Target="presProps.xml"/>
  <Relationship Id="rId43" Type="http://schemas.openxmlformats.org/officeDocument/2006/relationships/slide" Target="slides/slide17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Прирост top-1, п.п.</c:v>
                </c:pt>
              </c:strCache>
            </c:strRef>
          </c:tx>
          <c:spPr>
            <a:solidFill>
              <a:srgbClr val="520978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300740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9283ce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520978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ff0053"/>
              </a:solidFill>
              <a:ln w="0">
                <a:noFill/>
              </a:ln>
            </c:spPr>
          </c:dPt>
          <c:dLbls>
            <c:dLbl>
              <c:idx val="0"/>
              <c:tx>
                <c:rich>
                  <a:bodyPr/>
                  <a:p>
                    <a:r>
                      <a:rPr b="0" sz="975" spc="-1" strike="noStrike">
                        <a:solidFill>
                          <a:srgbClr val="1c1d22"/>
                        </a:solidFill>
                        <a:latin typeface="Montserrat"/>
                        <a:ea typeface="Montserrat"/>
                      </a:rPr>
                      <a:t>0,8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  <a:ea typeface="Montserra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>
                <c:rich>
                  <a:bodyPr/>
                  <a:p>
                    <a:r>
                      <a:rPr b="0" sz="975" spc="-1" strike="noStrike">
                        <a:solidFill>
                          <a:srgbClr val="1c1d22"/>
                        </a:solidFill>
                        <a:latin typeface="Montserrat"/>
                        <a:ea typeface="Montserrat"/>
                      </a:rPr>
                      <a:t>2,8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  <a:ea typeface="Montserra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2"/>
              <c:tx>
                <c:rich>
                  <a:bodyPr/>
                  <a:p>
                    <a:r>
                      <a:rPr b="0" sz="975" spc="-1" strike="noStrike">
                        <a:solidFill>
                          <a:srgbClr val="1c1d22"/>
                        </a:solidFill>
                        <a:latin typeface="Montserrat"/>
                        <a:ea typeface="Montserrat"/>
                      </a:rPr>
                      <a:t>13,5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  <a:ea typeface="Montserra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3"/>
              <c:tx>
                <c:rich>
                  <a:bodyPr/>
                  <a:p>
                    <a:r>
                      <a:rPr b="0" sz="975" spc="-1" strike="noStrike">
                        <a:solidFill>
                          <a:srgbClr val="1c1d22"/>
                        </a:solidFill>
                        <a:latin typeface="Montserrat"/>
                        <a:ea typeface="Montserrat"/>
                      </a:rPr>
                      <a:t>14,8</a:t>
                    </a:r>
                  </a:p>
                </c:rich>
              </c:tx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Montserrat"/>
                      <a:ea typeface="Montserra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eparator>; </c:separator>
            </c:dLbl>
            <c:numFmt formatCode="0.0" sourceLinked="0"/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Montserrat"/>
                  </a:defRPr>
                </a:pPr>
              </a:p>
            </c:txPr>
            <c:dLblPos val="outEnd"/>
            <c:showLegendKey val="1"/>
            <c:showVal val="1"/>
            <c:showCatName val="1"/>
            <c:showSerName val="1"/>
            <c:showPercent val="0"/>
            <c:separator>;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Текст</c:v>
                </c:pt>
                <c:pt idx="1">
                  <c:v>2-й вид</c:v>
                </c:pt>
                <c:pt idx="2">
                  <c:v>Геометрия</c:v>
                </c:pt>
                <c:pt idx="3">
                  <c:v>Детекция</c:v>
                </c:pt>
              </c:strCache>
            </c:strRef>
          </c:cat>
          <c:val>
            <c:numRef>
              <c:f>0</c:f>
              <c:numCache>
                <c:formatCode>0.0</c:formatCode>
                <c:ptCount val="4"/>
                <c:pt idx="0">
                  <c:v>0.8</c:v>
                </c:pt>
                <c:pt idx="1">
                  <c:v>2.8</c:v>
                </c:pt>
                <c:pt idx="2">
                  <c:v>13.5</c:v>
                </c:pt>
                <c:pt idx="3">
                  <c:v>14.8</c:v>
                </c:pt>
              </c:numCache>
            </c:numRef>
          </c:val>
        </c:ser>
        <c:gapWidth val="95"/>
        <c:overlap val="0"/>
        <c:axId val="90917037"/>
        <c:axId val="44584309"/>
      </c:barChart>
      <c:catAx>
        <c:axId val="90917037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125" spc="-1" strike="noStrike">
                <a:solidFill>
                  <a:srgbClr val="1c1d22"/>
                </a:solidFill>
                <a:latin typeface="Montserrat"/>
                <a:ea typeface="Montserrat"/>
              </a:defRPr>
            </a:pPr>
          </a:p>
        </c:txPr>
        <c:crossAx val="44584309"/>
        <c:crosses val="autoZero"/>
        <c:auto val="1"/>
        <c:lblAlgn val="ctr"/>
        <c:lblOffset val="100"/>
        <c:noMultiLvlLbl val="0"/>
      </c:catAx>
      <c:valAx>
        <c:axId val="44584309"/>
        <c:scaling>
          <c:orientation val="minMax"/>
          <c:max val="20"/>
          <c:min val="0"/>
        </c:scaling>
        <c:delete val="0"/>
        <c:axPos val="l"/>
        <c:majorGridlines>
          <c:spPr>
            <a:ln w="7200">
              <a:solidFill>
                <a:srgbClr val="aaaaaa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125" spc="-1" strike="noStrike">
                <a:solidFill>
                  <a:srgbClr val="1c1d22"/>
                </a:solidFill>
                <a:latin typeface="Montserrat"/>
                <a:ea typeface="Montserrat"/>
              </a:defRPr>
            </a:pPr>
          </a:p>
        </c:txPr>
        <c:crossAx val="90917037"/>
        <c:crosses val="autoZero"/>
        <c:crossBetween val="between"/>
        <c:majorUnit val="5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синтетика</c:v>
                </c:pt>
              </c:strCache>
            </c:strRef>
          </c:tx>
          <c:spPr>
            <a:solidFill>
              <a:srgbClr val="ff0053"/>
            </a:solidFill>
            <a:ln w="0">
              <a:noFill/>
            </a:ln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b="0" sz="975" spc="-1" strike="noStrike">
                        <a:solidFill>
                          <a:srgbClr val="ffffff"/>
                        </a:solidFill>
                        <a:latin typeface="Montserrat"/>
                        <a:ea typeface="Montserrat"/>
                      </a:rPr>
                      <a:t>87,5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0" sz="975" spc="-1" strike="noStrike">
                        <a:solidFill>
                          <a:srgbClr val="ffffff"/>
                        </a:solidFill>
                        <a:latin typeface="Montserrat"/>
                        <a:ea typeface="Montserrat"/>
                      </a:rPr>
                      <a:t>94,8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b="0" sz="975" spc="-1" strike="noStrike">
                        <a:solidFill>
                          <a:srgbClr val="ffffff"/>
                        </a:solidFill>
                        <a:latin typeface="Montserrat"/>
                        <a:ea typeface="Montserrat"/>
                      </a:rPr>
                      <a:t>89,3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b="0" sz="975" spc="-1" strike="noStrike">
                        <a:solidFill>
                          <a:srgbClr val="ffffff"/>
                        </a:solidFill>
                        <a:latin typeface="Montserrat"/>
                        <a:ea typeface="Montserrat"/>
                      </a:rPr>
                      <a:t>94,7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 wrap="square"/>
              <a:lstStyle/>
              <a:p>
                <a:pPr>
                  <a:defRPr b="0" sz="975" spc="-1" strike="noStrike">
                    <a:solidFill>
                      <a:srgbClr val="ffffff"/>
                    </a:solidFill>
                    <a:latin typeface="Montserrat"/>
                    <a:ea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топ-1</c:v>
                </c:pt>
                <c:pt idx="1">
                  <c:v>топ-5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87.5</c:v>
                </c:pt>
                <c:pt idx="1">
                  <c:v>94.8</c:v>
                </c:pt>
                <c:pt idx="2">
                  <c:v>89.3</c:v>
                </c:pt>
                <c:pt idx="3">
                  <c:v>94.7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съёмка организатора, часть test</c:v>
                </c:pt>
              </c:strCache>
            </c:strRef>
          </c:tx>
          <c:spPr>
            <a:solidFill>
              <a:srgbClr val="ffd7e5"/>
            </a:solidFill>
            <a:ln w="0">
              <a:noFill/>
            </a:ln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b="0" sz="975" spc="-1" strike="noStrike">
                        <a:solidFill>
                          <a:srgbClr val="ffffff"/>
                        </a:solidFill>
                        <a:latin typeface="Montserrat"/>
                        <a:ea typeface="Montserrat"/>
                      </a:rPr>
                      <a:t>93,1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0" sz="975" spc="-1" strike="noStrike">
                        <a:solidFill>
                          <a:srgbClr val="ffffff"/>
                        </a:solidFill>
                        <a:latin typeface="Montserrat"/>
                        <a:ea typeface="Montserrat"/>
                      </a:rPr>
                      <a:t>96,6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b="0" sz="975" spc="-1" strike="noStrike">
                        <a:solidFill>
                          <a:srgbClr val="ffffff"/>
                        </a:solidFill>
                        <a:latin typeface="Montserrat"/>
                        <a:ea typeface="Montserrat"/>
                      </a:rPr>
                      <a:t>86,7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b="0" sz="975" spc="-1" strike="noStrike">
                        <a:solidFill>
                          <a:srgbClr val="ffffff"/>
                        </a:solidFill>
                        <a:latin typeface="Montserrat"/>
                        <a:ea typeface="Montserrat"/>
                      </a:rPr>
                      <a:t>90,0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 wrap="square"/>
              <a:lstStyle/>
              <a:p>
                <a:pPr>
                  <a:defRPr b="0" sz="975" spc="-1" strike="noStrike">
                    <a:solidFill>
                      <a:srgbClr val="ffffff"/>
                    </a:solidFill>
                    <a:latin typeface="Montserrat"/>
                    <a:ea typeface="Montserra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топ-1</c:v>
                </c:pt>
                <c:pt idx="1">
                  <c:v>топ-5</c:v>
                </c:pt>
                <c:pt idx="2">
                  <c:v>F1 топ-1</c:v>
                </c:pt>
                <c:pt idx="3">
                  <c:v>F1 топ-5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93.1</c:v>
                </c:pt>
                <c:pt idx="1">
                  <c:v>96.6</c:v>
                </c:pt>
                <c:pt idx="2">
                  <c:v>86.7</c:v>
                </c:pt>
                <c:pt idx="3">
                  <c:v>90</c:v>
                </c:pt>
              </c:numCache>
            </c:numRef>
          </c:val>
        </c:ser>
        <c:gapWidth val="65"/>
        <c:overlap val="0"/>
        <c:axId val="37873988"/>
        <c:axId val="73716051"/>
      </c:barChart>
      <c:catAx>
        <c:axId val="37873988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bbbbbb"/>
            </a:solidFill>
            <a:round/>
          </a:ln>
        </c:spPr>
        <c:txPr>
          <a:bodyPr/>
          <a:lstStyle/>
          <a:p>
            <a:pPr>
              <a:defRPr b="0" sz="1125" spc="-1" strike="noStrike">
                <a:solidFill>
                  <a:srgbClr val="ffffff"/>
                </a:solidFill>
                <a:latin typeface="Montserrat"/>
                <a:ea typeface="Montserrat"/>
              </a:defRPr>
            </a:pPr>
          </a:p>
        </c:txPr>
        <c:crossAx val="73716051"/>
        <c:crosses val="autoZero"/>
        <c:auto val="1"/>
        <c:lblAlgn val="ctr"/>
        <c:lblOffset val="100"/>
        <c:noMultiLvlLbl val="0"/>
      </c:catAx>
      <c:valAx>
        <c:axId val="73716051"/>
        <c:scaling>
          <c:orientation val="minMax"/>
          <c:max val="100"/>
          <c:min val="0"/>
        </c:scaling>
        <c:delete val="0"/>
        <c:axPos val="l"/>
        <c:majorGridlines>
          <c:spPr>
            <a:ln w="6840">
              <a:solidFill>
                <a:srgbClr val="9474a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0">
            <a:noFill/>
          </a:ln>
        </c:spPr>
        <c:txPr>
          <a:bodyPr/>
          <a:lstStyle/>
          <a:p>
            <a:pPr>
              <a:defRPr b="0" sz="1125" spc="-1" strike="noStrike">
                <a:solidFill>
                  <a:srgbClr val="ffffff"/>
                </a:solidFill>
                <a:latin typeface="Montserrat"/>
                <a:ea typeface="Montserrat"/>
              </a:defRPr>
            </a:pPr>
          </a:p>
        </c:txPr>
        <c:crossAx val="37873988"/>
        <c:crosses val="autoZero"/>
        <c:crossBetween val="between"/>
        <c:majorUnit val="25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050" spc="-1" strike="noStrike">
              <a:solidFill>
                <a:srgbClr val="ffffff"/>
              </a:solidFill>
              <a:latin typeface="Montserrat"/>
              <a:ea typeface="Montserrat"/>
            </a:defRPr>
          </a:pPr>
        </a:p>
      </c:txPr>
    </c:legend>
    <c:plotVisOnly val="1"/>
    <c:dispBlanksAs val="zero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перемещения страницы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dt" idx="6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ftr" idx="6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PlaceHolder 6"/>
          <p:cNvSpPr>
            <a:spLocks noGrp="1"/>
          </p:cNvSpPr>
          <p:nvPr>
            <p:ph type="sldNum" idx="6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4D2A7981-9F52-4699-960B-671A276E0ED2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Кейс РСХБ.Цифра, ЛЦТ 2026. Команда AlphaWolfs. 13 основных слайдов и 4 слайда приложения.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sldNum" idx="7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Обязательный блок шаблона. Дозаполнить: как образовалась команда, место работы/учёбы. Метрики: data/validation/api_gpu_limiter_20260927.json, фильтр image startswith org; 97 кадров. Медиана 1325,6 мс, локальный API, RTX 5060 Ti 16 ГБ.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 type="sldNum" idx="7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Обязательный блок шаблона. Заполнить ФИО, роли, контакты и место работы/учёбы участников. Заменить изображения фотографиями участников и оставить фактическое число карточек. Фото участников ещё не вставлены.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 type="sldNum" idx="7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Блок 01 (история команды) ещё не заполнен. Группы близких этикеток: data/catalog и отчёты анализа near-duplicates. Публичная выборка используется для разработки и регрессии; не представлять её независимой приёмкой.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 type="sldNum" idx="8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Концепция: мобильный веб-интерфейс для каталога «Своё Вино». Фактической интеграции в боевой портал не заявляем. Источники: service/main.py, service/recommend.py, web/app, data/catalog/catalog.json.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8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Основной конвейер: service/main.py, pipeline/searchcore.py. VLM видит вырезку или полный кадр по правилу VLM_VIEW=auto. Пороги 0,10 и 0,30 дополнены проверками VLM и may_drop_caveat; один порог сам по себе не гарантирует выдачу без оговорок. GPU_LIMITER сохраняет доступность лёгких запросов.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 type="sldNum" idx="8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Живое демо без монтажа, 1 минута 40 секунд. Первый пример: Белая Львица, снимок из публичного набора организатора. Второй пример выбрать из правильных отказов последнего API-прогона. Показывать фактическое время, не обещать верхнюю границу в 3 с. Затем перейти к сомелье и показать готовый результат. Снимок в слайде служит резервом, а не заменой живого прогона.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3"/>
          <p:cNvSpPr>
            <a:spLocks noGrp="1"/>
          </p:cNvSpPr>
          <p:nvPr>
            <p:ph type="sldNum" idx="8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Текущий API: data/validation/api_gpu_limiter_20260927.json, image startswith org. 56/62 правильных положительных, 32/35 правильных отказов, 88/97 null_ok, 3 ложных ответа, медиана 1325,6 мс, p95 4794,0 мс, 31/97 &gt; 3000 мс. Локально на RTX 5060 Ti 16 ГБ, снимки 3024×4032. F1 топ-1 итогового API с VLM: 90,3% на 97 кадрах (TP 56, FP 6, FN 6), test 90,0%, tune 90,6% — из того же отчёта. F1 86,7% / 90,0% относится к базовому конвейеру до VLM-арбитража: data/validation/organizer100_20260925.json, parts.test, 29 положительных + 14 отрицательных. Эта F1 не является метрикой итогового VLM-конвейера. Методика: docs/metrics.md.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8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Источники: data/validation/api_gpu_limiter_20260927.json и data/catalog/catalog.json. Наличие 35 отсутствующих вин относится к разметке публичного набора по выгрузке. Договорённость о зачёте null в приватной проверке не получена; docs/organizer_questions.md.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sldNum" idx="8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Скриншоты получены 28.09.2026 из работающего web/app через http://127.0.0.1:3300. Слева /v1/sommelier: occasion=dinner, dish=Сыры, taste=полусладкое. Справа страница вина и выдача similar от /v1/wines/{slug}. Это реальные ответы текущего service/recommend.py, а не макет. Выбор детерминирован по данным каталога. Рост конверсии или удержания пока не измерялся.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8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Ошибки итогового API: org028 и org029 zakat-denisov-vajneri (null), org069 aratti-kaberne-po-belomu-1 вместо aratti-kaberne-po-belomu, org088 pozdnij-sbor-krasnoe вместо pozdnij-sbor-beloe, org005 Velvet Season (null), org006 Formula Q Saperavi вместо Cabernet Sauvignon. Источник: data/validation/api_gpu_limiter_20260927.json. 300+ новых кадров является планом, набор ещё не собран.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sldNum" idx="8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Итог основного выступления. Не заявлять приёмку пройденной: независимого измерения ещё нет, p95 превышает целевые 3 с. Точность и отказы приведены для публичного development/regression-набора. Дальше только приложение для вопросов.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sldNum" idx="8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Почему две ступени. Синтетические почти-дубли, 189 запросов: data/index/rerank_neardup.json и docs/metrics.md. 63,5% только SigLIP; 96,8% — одна геометрия на прежнем индексе; текущий конвейер 91,0% при отрыве 0,25 и 84,1% при принятом 0,50. Не смешивать эти цифры с API на 97 фото организатора.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8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Приложение. Исторические замеры на 400 синтетических запросах: детекция — набор hard (data/index/ablation_chain_hard_clean.json), остальное — sharp (fusion_sharp.json, recall_sharp.json, tiebreak_sharp.json). Значения — в подписях диаграммы. Не складывать приросты как независимые эффекты без сверки соответствующих базовых конфигураций.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 type="sldNum" idx="9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Приложение. Диаграмма сохранена как историческая диагностическая. Синтетика top-1=87,5%, top-5=94,8% (400); F1=89,3%/94,7% (214 отложенных положительных). Съёмка test: top-1=27/29=93,1%, top-5=28/29=96,6%; F1=86,7%/90,0% с отказом. Источники: data/validation/organizer100_20260925.json, data/index/report_sharp.json и docs/metrics.md.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 type="sldNum" idx="9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Приложение. Источники: pipeline/experiment_*.py, data/validation, docs/metrics.md. Гипотезы не объявляются универсально бесполезными; они не прошли критерий внедрения в текущих экспериментах.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 type="sldNum" idx="9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5EC44A-5C8D-45A6-8A27-FC4AB4BE557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D2EB0FD-6ACC-4476-A22A-526F2FAC101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A0AF716-BF83-4397-97C0-FFCDD7C73B5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FC8EC934-EA0F-400F-A773-9DB2BE66323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FE12040B-F566-45EB-8B73-49D5DC18FEA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323C1179-B464-4459-959C-8E7E5E58F07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8AA8EE8F-0DB2-4E6A-AB42-4E3D60DFCA9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C0B954FD-6CE0-411C-B5E3-E7EE1C898E6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DD1F6BB0-9B88-4491-ACF2-CF45BE69D49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1"/>
          </p:nvPr>
        </p:nvSpPr>
        <p:spPr/>
        <p:txBody>
          <a:bodyPr/>
          <a:p>
            <a:fld id="{1EFC0F85-03AA-45EB-BDB4-177784A67EB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4"/>
          </p:nvPr>
        </p:nvSpPr>
        <p:spPr/>
        <p:txBody>
          <a:bodyPr/>
          <a:p>
            <a:fld id="{25F27831-6B9E-4CEC-9846-90105D0F093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E3DDCD99-6FA4-4AE1-974B-00614044187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CF931FBE-C05E-4A32-9DBC-F0328E97AF3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3"/>
          </p:nvPr>
        </p:nvSpPr>
        <p:spPr/>
        <p:txBody>
          <a:bodyPr/>
          <a:p>
            <a:fld id="{A5939228-7972-4084-A2C1-8F0DD57A3D8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p>
            <a:fld id="{060ED0F7-C946-4524-94B8-B05F758599F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9"/>
          </p:nvPr>
        </p:nvSpPr>
        <p:spPr/>
        <p:txBody>
          <a:bodyPr/>
          <a:p>
            <a:fld id="{D4E5028B-875B-4A22-A6E9-9D173518BB1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2"/>
          </p:nvPr>
        </p:nvSpPr>
        <p:spPr/>
        <p:txBody>
          <a:bodyPr/>
          <a:p>
            <a:fld id="{3FC1009B-73E7-4091-BB20-1AA0A13A526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5"/>
          </p:nvPr>
        </p:nvSpPr>
        <p:spPr/>
        <p:txBody>
          <a:bodyPr/>
          <a:p>
            <a:fld id="{175769DC-20B8-46B1-BA08-71CCE95D374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8"/>
          </p:nvPr>
        </p:nvSpPr>
        <p:spPr/>
        <p:txBody>
          <a:bodyPr/>
          <a:p>
            <a:fld id="{39279345-FE3B-4376-AB5D-2B41B7A90BE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Дл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я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пр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ав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ки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те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кс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та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заг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ла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ви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я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щё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лк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ни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те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м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ы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шь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ю</a:t>
            </a: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Для правки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структуры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щёлкните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мышью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Второй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уровень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структуры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Третий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уровень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структуры</a:t>
            </a:r>
            <a:endParaRPr b="0" lang="ru-RU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Четвёрт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уровень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структур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Пят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уров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ень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стру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ктур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Ш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д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м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C13D3746-30DC-458F-9D89-0990A2DE9E9A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4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5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539A2648-064F-4048-AA46-9B45FA62A0A0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6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Д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л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я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п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а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и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а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з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а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г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л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а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и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я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щ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ё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л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и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е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м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ы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ш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ю</a:t>
            </a: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Для правки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структуры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щёлкните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мышью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Второй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уровень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структуры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Третий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уровень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структуры</a:t>
            </a:r>
            <a:endParaRPr b="0" lang="ru-RU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Четвёрт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уровень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структур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Пяты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урове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струк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туры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Ш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д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м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ftr" idx="7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8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F2DE9ACE-65A4-414E-B3C5-BD5B55BE6E8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9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Для правки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структуры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щёлкните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мышью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Второй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уровень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структуры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Третий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уровень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структуры</a:t>
            </a:r>
            <a:endParaRPr b="0" lang="ru-RU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Четвёрт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уровень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структур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Пяты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урове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струк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туры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Ш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д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м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ftr" idx="10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dt" idx="11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Для правки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структуры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щёлкните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мышью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Второй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уровень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структуры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Третий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уровень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структуры</a:t>
            </a:r>
            <a:endParaRPr b="0" lang="ru-RU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Четвёрт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уровень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структур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Пяты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уров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ень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стру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ктур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Ш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д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м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Текст 35"/>
          <p:cNvSpPr/>
          <p:nvPr/>
        </p:nvSpPr>
        <p:spPr>
          <a:xfrm>
            <a:off x="6683040" y="1026720"/>
            <a:ext cx="4789440" cy="161460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0" name="Текст 35"/>
          <p:cNvSpPr/>
          <p:nvPr/>
        </p:nvSpPr>
        <p:spPr>
          <a:xfrm>
            <a:off x="6683040" y="2807640"/>
            <a:ext cx="4789440" cy="161460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1" name="Текст 35"/>
          <p:cNvSpPr/>
          <p:nvPr/>
        </p:nvSpPr>
        <p:spPr>
          <a:xfrm>
            <a:off x="6683040" y="4583880"/>
            <a:ext cx="4789440" cy="161460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ftr" idx="12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ldNum" idx="13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EC7F619A-3158-4E9D-A29D-B8F7D7633A4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4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Для правки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структуры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щёлкните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мышью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Второй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уровень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структуры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Третий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уровень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структуры</a:t>
            </a:r>
            <a:endParaRPr b="0" lang="ru-RU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Четвёрт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уровень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структур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Пяты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уров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ень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стру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ктур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Ш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д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м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Текст 35"/>
          <p:cNvSpPr/>
          <p:nvPr/>
        </p:nvSpPr>
        <p:spPr>
          <a:xfrm>
            <a:off x="6683040" y="1015920"/>
            <a:ext cx="4789440" cy="1020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8" name="Текст 35"/>
          <p:cNvSpPr/>
          <p:nvPr/>
        </p:nvSpPr>
        <p:spPr>
          <a:xfrm>
            <a:off x="6683040" y="2284560"/>
            <a:ext cx="4789440" cy="1020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9" name="Текст 35"/>
          <p:cNvSpPr/>
          <p:nvPr/>
        </p:nvSpPr>
        <p:spPr>
          <a:xfrm>
            <a:off x="6683040" y="3553200"/>
            <a:ext cx="4789440" cy="1020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0" name="Текст 35"/>
          <p:cNvSpPr/>
          <p:nvPr/>
        </p:nvSpPr>
        <p:spPr>
          <a:xfrm>
            <a:off x="6683040" y="4821840"/>
            <a:ext cx="4789440" cy="1020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ftr" idx="15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6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CA9150F2-4901-43C6-8036-B52E60F2DE6C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7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Текст 35"/>
          <p:cNvSpPr/>
          <p:nvPr/>
        </p:nvSpPr>
        <p:spPr>
          <a:xfrm>
            <a:off x="6683040" y="1015920"/>
            <a:ext cx="4789440" cy="1020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5" name="Текст 35"/>
          <p:cNvSpPr/>
          <p:nvPr/>
        </p:nvSpPr>
        <p:spPr>
          <a:xfrm>
            <a:off x="6683040" y="2284560"/>
            <a:ext cx="4789440" cy="1020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6" name="Текст 35"/>
          <p:cNvSpPr/>
          <p:nvPr/>
        </p:nvSpPr>
        <p:spPr>
          <a:xfrm>
            <a:off x="6683040" y="3553200"/>
            <a:ext cx="4789440" cy="1020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7" name="Текст 35"/>
          <p:cNvSpPr/>
          <p:nvPr/>
        </p:nvSpPr>
        <p:spPr>
          <a:xfrm>
            <a:off x="6683040" y="4821840"/>
            <a:ext cx="4789440" cy="1020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ftr" idx="18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ldNum" idx="19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A1BB3141-064C-4C36-9BA9-9CD7594AEA73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0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Для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правки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структур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ы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щёлкнит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е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мышью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Второй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уровен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ь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структу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ры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Трети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й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урове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нь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струк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туры</a:t>
            </a:r>
            <a:endParaRPr b="0" lang="ru-RU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Чет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вёр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ты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уро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вен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укт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П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я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Ш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д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м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Текст 35"/>
          <p:cNvSpPr/>
          <p:nvPr/>
        </p:nvSpPr>
        <p:spPr>
          <a:xfrm>
            <a:off x="345960" y="1024920"/>
            <a:ext cx="2525400" cy="147600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6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44" name="Текст 35"/>
          <p:cNvSpPr/>
          <p:nvPr/>
        </p:nvSpPr>
        <p:spPr>
          <a:xfrm>
            <a:off x="4833000" y="1024920"/>
            <a:ext cx="2525400" cy="147600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6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45" name="Текст 35"/>
          <p:cNvSpPr/>
          <p:nvPr/>
        </p:nvSpPr>
        <p:spPr>
          <a:xfrm>
            <a:off x="9330840" y="1024920"/>
            <a:ext cx="2525400" cy="147600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6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46" name="Текст 35"/>
          <p:cNvSpPr/>
          <p:nvPr/>
        </p:nvSpPr>
        <p:spPr>
          <a:xfrm>
            <a:off x="2593440" y="4358160"/>
            <a:ext cx="2525400" cy="147600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6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47" name="Текст 35"/>
          <p:cNvSpPr/>
          <p:nvPr/>
        </p:nvSpPr>
        <p:spPr>
          <a:xfrm>
            <a:off x="7080480" y="4358160"/>
            <a:ext cx="2525400" cy="1476000"/>
          </a:xfrm>
          <a:prstGeom prst="roundRect">
            <a:avLst>
              <a:gd name="adj" fmla="val 1588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6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ftr" idx="21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22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E5D3956F-A6EA-42E5-BC6E-315A19CF514A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3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Для правки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текста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заглавия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щёлкните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мышью</a:t>
            </a: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Для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правки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структур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ы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щёлкнит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е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мышью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Второй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уровен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ь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структу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ры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Трети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й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уров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ень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струк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туры</a:t>
            </a:r>
            <a:endParaRPr b="0" lang="ru-RU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Че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ёр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ты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кту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П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я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Ш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д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м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Текст 35"/>
          <p:cNvSpPr/>
          <p:nvPr/>
        </p:nvSpPr>
        <p:spPr>
          <a:xfrm>
            <a:off x="516960" y="3810240"/>
            <a:ext cx="3263400" cy="237456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Описание проблемы 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Текст 35"/>
          <p:cNvSpPr/>
          <p:nvPr/>
        </p:nvSpPr>
        <p:spPr>
          <a:xfrm>
            <a:off x="4464720" y="3810240"/>
            <a:ext cx="3263400" cy="237456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Примеры уже имеющихся способов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Текст 35"/>
          <p:cNvSpPr/>
          <p:nvPr/>
        </p:nvSpPr>
        <p:spPr>
          <a:xfrm>
            <a:off x="8385480" y="3810240"/>
            <a:ext cx="3263400" cy="2374560"/>
          </a:xfrm>
          <a:prstGeom prst="roundRect">
            <a:avLst>
              <a:gd name="adj" fmla="val 101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49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0" lang="ru-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Ваше предложение решения данной проблемы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Текст 35"/>
          <p:cNvSpPr/>
          <p:nvPr/>
        </p:nvSpPr>
        <p:spPr>
          <a:xfrm>
            <a:off x="516960" y="3252240"/>
            <a:ext cx="3263400" cy="39096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  <a:ea typeface="Montserrat"/>
              </a:rPr>
              <a:t>Проблема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Текст 35"/>
          <p:cNvSpPr/>
          <p:nvPr/>
        </p:nvSpPr>
        <p:spPr>
          <a:xfrm>
            <a:off x="4464720" y="3252240"/>
            <a:ext cx="3263400" cy="39096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  <a:ea typeface="Montserrat"/>
              </a:rPr>
              <a:t>Альтернативные решения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Текст 35"/>
          <p:cNvSpPr/>
          <p:nvPr/>
        </p:nvSpPr>
        <p:spPr>
          <a:xfrm>
            <a:off x="8385480" y="3252240"/>
            <a:ext cx="3263400" cy="390960"/>
          </a:xfrm>
          <a:prstGeom prst="roundRect">
            <a:avLst>
              <a:gd name="adj" fmla="val 101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2"/>
                </a:solidFill>
                <a:latin typeface="Montserrat"/>
                <a:ea typeface="Montserrat"/>
              </a:rPr>
              <a:t>Решение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ftr" idx="24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25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5C729C1E-2AC9-4B6D-9767-9FE89999D8F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dt" idx="26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Для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правки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структур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ы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щёлкнит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е </a:t>
            </a: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мышью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Второй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уровен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ь 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структу</a:t>
            </a: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ры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Трети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й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уров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ень 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струк</a:t>
            </a: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туры</a:t>
            </a:r>
            <a:endParaRPr b="0" lang="ru-RU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Че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ёр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ты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кту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П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я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Ш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д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м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й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о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в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е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н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ь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к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т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у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р</a:t>
            </a: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ftr" idx="27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sldNum" idx="28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33D94CC2-2CBC-44D2-B5DA-B9FB9E57CDF7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dt" idx="29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Для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правки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текста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заглави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я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щёлкни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те </a:t>
            </a: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мышью</a:t>
            </a: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ftr" idx="30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sldNum" idx="31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9901825E-2E0B-4103-B3A0-DDCD059959CA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dt" idx="32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Текст 35"/>
          <p:cNvSpPr/>
          <p:nvPr/>
        </p:nvSpPr>
        <p:spPr>
          <a:xfrm>
            <a:off x="356400" y="1641240"/>
            <a:ext cx="3812040" cy="1020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73" name="Текст 35"/>
          <p:cNvSpPr/>
          <p:nvPr/>
        </p:nvSpPr>
        <p:spPr>
          <a:xfrm>
            <a:off x="8039880" y="1641240"/>
            <a:ext cx="3812040" cy="1020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74" name="Текст 35"/>
          <p:cNvSpPr/>
          <p:nvPr/>
        </p:nvSpPr>
        <p:spPr>
          <a:xfrm>
            <a:off x="356400" y="3864600"/>
            <a:ext cx="3812040" cy="1020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75" name="Текст 35"/>
          <p:cNvSpPr/>
          <p:nvPr/>
        </p:nvSpPr>
        <p:spPr>
          <a:xfrm>
            <a:off x="8039880" y="3864600"/>
            <a:ext cx="3812040" cy="10209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fff2f6">
                  <a:alpha val="20000"/>
                </a:srgbClr>
              </a:gs>
              <a:gs pos="65000">
                <a:srgbClr val="fffff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cxnSp>
        <p:nvCxnSpPr>
          <p:cNvPr id="76" name="Google Shape;2799;p94"/>
          <p:cNvCxnSpPr/>
          <p:nvPr/>
        </p:nvCxnSpPr>
        <p:spPr>
          <a:xfrm>
            <a:off x="4244400" y="1870200"/>
            <a:ext cx="687600" cy="720"/>
          </a:xfrm>
          <a:prstGeom prst="straightConnector1">
            <a:avLst/>
          </a:prstGeom>
          <a:ln w="25400">
            <a:solidFill>
              <a:srgbClr val="ff0053"/>
            </a:solidFill>
            <a:round/>
          </a:ln>
        </p:spPr>
      </p:cxnSp>
      <p:cxnSp>
        <p:nvCxnSpPr>
          <p:cNvPr id="77" name="Google Shape;2799;p94"/>
          <p:cNvCxnSpPr/>
          <p:nvPr/>
        </p:nvCxnSpPr>
        <p:spPr>
          <a:xfrm>
            <a:off x="4244400" y="4094280"/>
            <a:ext cx="687600" cy="720"/>
          </a:xfrm>
          <a:prstGeom prst="straightConnector1">
            <a:avLst/>
          </a:prstGeom>
          <a:ln w="25400">
            <a:solidFill>
              <a:srgbClr val="520977"/>
            </a:solidFill>
            <a:round/>
          </a:ln>
        </p:spPr>
      </p:cxnSp>
      <p:cxnSp>
        <p:nvCxnSpPr>
          <p:cNvPr id="78" name="Google Shape;2799;p94"/>
          <p:cNvCxnSpPr/>
          <p:nvPr/>
        </p:nvCxnSpPr>
        <p:spPr>
          <a:xfrm>
            <a:off x="7250400" y="1870200"/>
            <a:ext cx="687600" cy="720"/>
          </a:xfrm>
          <a:prstGeom prst="straightConnector1">
            <a:avLst/>
          </a:prstGeom>
          <a:ln w="25400">
            <a:solidFill>
              <a:srgbClr val="e4b8fa"/>
            </a:solidFill>
            <a:round/>
          </a:ln>
        </p:spPr>
      </p:cxnSp>
      <p:cxnSp>
        <p:nvCxnSpPr>
          <p:cNvPr id="79" name="Google Shape;2799;p94"/>
          <p:cNvCxnSpPr/>
          <p:nvPr/>
        </p:nvCxnSpPr>
        <p:spPr>
          <a:xfrm>
            <a:off x="7250400" y="4094280"/>
            <a:ext cx="687600" cy="720"/>
          </a:xfrm>
          <a:prstGeom prst="straightConnector1">
            <a:avLst/>
          </a:prstGeom>
          <a:ln w="25400">
            <a:solidFill>
              <a:srgbClr val="fc3777"/>
            </a:solidFill>
            <a:round/>
          </a:ln>
        </p:spPr>
      </p:cxnSp>
      <p:sp>
        <p:nvSpPr>
          <p:cNvPr id="80" name="PlaceHolder 1"/>
          <p:cNvSpPr>
            <a:spLocks noGrp="1"/>
          </p:cNvSpPr>
          <p:nvPr>
            <p:ph type="ftr" idx="33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ldNum" idx="34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B78DB883-42D8-4B2C-9EF0-94BFC92E25A8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dt" idx="35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ftr" idx="36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ldNum" idx="37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DBB6AED9-83C1-4CA5-9D4C-E9917524444C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dt" idx="38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ftr" idx="39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40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B723C2EE-F4C2-4DBC-BE8D-F09232996A5D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dt" idx="41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ffffff"/>
                </a:solidFill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ffffff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ffffff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ffffff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ffffff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ftr" idx="42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sldNum" idx="43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5D9BED29-9080-4495-8796-8F8BF315E9B6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dt" idx="44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ftr" idx="45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sldNum" idx="46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4CF25B4F-8F06-457E-AD35-40CF0C555E6C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dt" idx="47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ftr" idx="48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sldNum" idx="49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539BCE0B-A467-40C6-BDDC-EF8EB3ABB1B1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dt" idx="50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3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ftr" idx="51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52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91AB0078-C5C4-416B-91B3-79BDFBC13B97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dt" idx="53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3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ftr" idx="54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sldNum" idx="55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2B8CE37B-096E-405C-969C-86860D7D12F9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dt" idx="56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3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ftr" idx="57"/>
          </p:nvPr>
        </p:nvSpPr>
        <p:spPr>
          <a:xfrm>
            <a:off x="1459440" y="6356520"/>
            <a:ext cx="95742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ldNum" idx="58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fld id="{9DAE3619-123B-4C8B-98CF-F487951498C5}" type="slidenum">
              <a:rPr b="0" lang="ru-RU" sz="12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&lt;номер&gt;</a:t>
            </a:fld>
            <a:endParaRPr b="0" lang="ru-RU" sz="12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dt" idx="59"/>
          </p:nvPr>
        </p:nvSpPr>
        <p:spPr>
          <a:xfrm>
            <a:off x="306360" y="6356520"/>
            <a:ext cx="10468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ffffff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7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0" y="3894480"/>
            <a:ext cx="6271200" cy="170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СКАНЕР РОССИЙСКИХ ВИН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8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«СВОЁ ВИНО»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8" name="Рисунок 3" descr=""/>
          <p:cNvPicPr/>
          <p:nvPr/>
        </p:nvPicPr>
        <p:blipFill>
          <a:blip r:embed="rId1"/>
          <a:stretch/>
        </p:blipFill>
        <p:spPr>
          <a:xfrm>
            <a:off x="567000" y="567000"/>
            <a:ext cx="2404440" cy="456840"/>
          </a:xfrm>
          <a:prstGeom prst="rect">
            <a:avLst/>
          </a:prstGeom>
          <a:ln w="0">
            <a:noFill/>
          </a:ln>
        </p:spPr>
      </p:pic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0" y="5659560"/>
            <a:ext cx="8929800" cy="75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18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Команда AlphaWolfs  ·  кейс РСХБ.Цифра  ·  ЛЦТ 2026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Скругленный прямоугольник 1"/>
          <p:cNvSpPr/>
          <p:nvPr/>
        </p:nvSpPr>
        <p:spPr>
          <a:xfrm>
            <a:off x="-296640" y="-313920"/>
            <a:ext cx="6124320" cy="2284920"/>
          </a:xfrm>
          <a:prstGeom prst="roundRect">
            <a:avLst>
              <a:gd name="adj" fmla="val 9821"/>
            </a:avLst>
          </a:prstGeom>
          <a:noFill/>
          <a:ln w="9525">
            <a:solidFill>
              <a:srgbClr val="ffd6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Прямоугольник 2"/>
          <p:cNvSpPr/>
          <p:nvPr/>
        </p:nvSpPr>
        <p:spPr>
          <a:xfrm>
            <a:off x="0" y="2971800"/>
            <a:ext cx="6455520" cy="3885480"/>
          </a:xfrm>
          <a:prstGeom prst="rect">
            <a:avLst/>
          </a:prstGeom>
          <a:solidFill>
            <a:srgbClr val="dccee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pc="-1" strike="noStrike">
              <a:solidFill>
                <a:schemeClr val="lt1"/>
              </a:solidFill>
              <a:latin typeface="Montserrat"/>
              <a:ea typeface="Montserrat"/>
            </a:endParaRPr>
          </a:p>
        </p:txBody>
      </p:sp>
      <p:pic>
        <p:nvPicPr>
          <p:cNvPr id="122" name="Рисунок 1" descr=""/>
          <p:cNvPicPr/>
          <p:nvPr/>
        </p:nvPicPr>
        <p:blipFill>
          <a:blip r:embed="rId2"/>
          <a:stretch/>
        </p:blipFill>
        <p:spPr>
          <a:xfrm>
            <a:off x="0" y="335160"/>
            <a:ext cx="6455520" cy="2971080"/>
          </a:xfrm>
          <a:prstGeom prst="rect">
            <a:avLst/>
          </a:prstGeom>
          <a:ln w="0">
            <a:noFill/>
          </a:ln>
        </p:spPr>
      </p:pic>
      <p:sp>
        <p:nvSpPr>
          <p:cNvPr id="123" name="Текст 8"/>
          <p:cNvSpPr/>
          <p:nvPr/>
        </p:nvSpPr>
        <p:spPr>
          <a:xfrm>
            <a:off x="6819840" y="2303280"/>
            <a:ext cx="4944960" cy="66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  <a:ea typeface="Montserrat"/>
              </a:rPr>
              <a:t>Краткое описание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Текст 8"/>
          <p:cNvSpPr/>
          <p:nvPr/>
        </p:nvSpPr>
        <p:spPr>
          <a:xfrm>
            <a:off x="6836760" y="4876200"/>
            <a:ext cx="4944960" cy="88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8000"/>
              </a:lnSpc>
              <a:tabLst>
                <a:tab algn="l" pos="0"/>
              </a:tabLst>
            </a:pPr>
            <a:r>
              <a:rPr b="0" lang="ru-RU" sz="1430" spc="-1" strike="noStrike">
                <a:solidFill>
                  <a:srgbClr val="1c1d22"/>
                </a:solidFill>
                <a:latin typeface="Montserrat"/>
                <a:ea typeface="Montserrat"/>
              </a:rPr>
              <a:t>Две ступени: «похожа ли этикетка» решает SigLIP 2, «та же ли это этикетка» — геометрия совпавших точек; спорное проверяет VLM. У организатора 56 из 62 точных slug и 32 из 35 верных отказов.</a:t>
            </a:r>
            <a:endParaRPr b="0" lang="ru-RU" sz="14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Текст 8"/>
          <p:cNvSpPr/>
          <p:nvPr/>
        </p:nvSpPr>
        <p:spPr>
          <a:xfrm>
            <a:off x="334800" y="3882960"/>
            <a:ext cx="5628960" cy="239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8000"/>
              </a:lnSpc>
              <a:spcAft>
                <a:spcPts val="1100"/>
              </a:spcAft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Капитан: Гаврилов Алексей Дмитриевич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8000"/>
              </a:lnSpc>
              <a:spcAft>
                <a:spcPts val="1100"/>
              </a:spcAft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Кол-во участников: 2 человека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8000"/>
              </a:lnSpc>
              <a:spcAft>
                <a:spcPts val="1100"/>
              </a:spcAft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Город и регион: Москва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8000"/>
              </a:lnSpc>
              <a:spcAft>
                <a:spcPts val="1100"/>
              </a:spcAft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Как образовалась команда: 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8000"/>
              </a:lnSpc>
              <a:spcAft>
                <a:spcPts val="1100"/>
              </a:spcAft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Место работы/учёбы участников: 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Текст 8"/>
          <p:cNvSpPr/>
          <p:nvPr/>
        </p:nvSpPr>
        <p:spPr>
          <a:xfrm>
            <a:off x="334800" y="3484800"/>
            <a:ext cx="298944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  <a:ea typeface="Montserrat"/>
              </a:rPr>
              <a:t>О команде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6819840" y="1039320"/>
            <a:ext cx="3636000" cy="101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  <a:ea typeface="Montserrat"/>
              </a:rPr>
              <a:t>РЕШЕНИЕ И КОМАНДА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28" name="Прямая соединительная линия 6"/>
          <p:cNvCxnSpPr/>
          <p:nvPr/>
        </p:nvCxnSpPr>
        <p:spPr>
          <a:xfrm>
            <a:off x="6880680" y="2239920"/>
            <a:ext cx="4885560" cy="720"/>
          </a:xfrm>
          <a:prstGeom prst="straightConnector1">
            <a:avLst/>
          </a:prstGeom>
          <a:ln w="12700">
            <a:solidFill>
              <a:srgbClr val="520977"/>
            </a:solidFill>
            <a:round/>
          </a:ln>
        </p:spPr>
      </p:cxnSp>
      <p:cxnSp>
        <p:nvCxnSpPr>
          <p:cNvPr id="129" name="Прямая соединительная линия 15"/>
          <p:cNvCxnSpPr/>
          <p:nvPr/>
        </p:nvCxnSpPr>
        <p:spPr>
          <a:xfrm>
            <a:off x="6897240" y="4437720"/>
            <a:ext cx="4885560" cy="720"/>
          </a:xfrm>
          <a:prstGeom prst="straightConnector1">
            <a:avLst/>
          </a:prstGeom>
          <a:ln w="12700">
            <a:solidFill>
              <a:srgbClr val="520977"/>
            </a:solidFill>
            <a:round/>
          </a:ln>
        </p:spPr>
      </p:cxnSp>
      <p:cxnSp>
        <p:nvCxnSpPr>
          <p:cNvPr id="130" name="Прямая соединительная линия 16"/>
          <p:cNvCxnSpPr/>
          <p:nvPr/>
        </p:nvCxnSpPr>
        <p:spPr>
          <a:xfrm>
            <a:off x="395640" y="3448440"/>
            <a:ext cx="5700960" cy="720"/>
          </a:xfrm>
          <a:prstGeom prst="straightConnector1">
            <a:avLst/>
          </a:prstGeom>
          <a:ln w="0">
            <a:solidFill>
              <a:srgbClr val="520977"/>
            </a:solidFill>
          </a:ln>
        </p:spPr>
      </p:cxnSp>
      <p:sp>
        <p:nvSpPr>
          <p:cNvPr id="131" name="Текст 8"/>
          <p:cNvSpPr/>
          <p:nvPr/>
        </p:nvSpPr>
        <p:spPr>
          <a:xfrm>
            <a:off x="6819840" y="4541760"/>
            <a:ext cx="4944960" cy="66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  <a:ea typeface="Montserrat"/>
              </a:rPr>
              <a:t>Уникальность решения: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Текст 8"/>
          <p:cNvSpPr/>
          <p:nvPr/>
        </p:nvSpPr>
        <p:spPr>
          <a:xfrm>
            <a:off x="6807960" y="2620080"/>
            <a:ext cx="4944960" cy="88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8000"/>
              </a:lnSpc>
              <a:tabLst>
                <a:tab algn="l" pos="0"/>
              </a:tabLst>
            </a:pPr>
            <a:r>
              <a:rPr b="0" lang="ru-RU" sz="1430" spc="-1" strike="noStrike">
                <a:solidFill>
                  <a:srgbClr val="1c1d22"/>
                </a:solidFill>
                <a:latin typeface="Montserrat"/>
                <a:ea typeface="Montserrat"/>
              </a:rPr>
              <a:t>Фото этикетки открывает одну карточку вина из каталога «Своё Вино» или честное «не удалось уверенно определить» с аналогами. Медиана ответа на снимках организатора — 1,3 с.</a:t>
            </a:r>
            <a:endParaRPr b="0" lang="ru-RU" sz="14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Номер слайда 35"/>
          <p:cNvSpPr/>
          <p:nvPr/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8000"/>
              </a:lnSpc>
              <a:tabLst>
                <a:tab algn="l" pos="0"/>
              </a:tabLst>
            </a:pPr>
            <a:fld id="{EB8A0370-DA26-4CF9-A1E6-E1D175C5E09C}" type="slidenum">
              <a:rPr b="0" lang="ru-RU" sz="1130" spc="-1" strike="noStrike">
                <a:solidFill>
                  <a:srgbClr val="520978"/>
                </a:solidFill>
                <a:latin typeface="Montserrat"/>
                <a:ea typeface="Montserrat"/>
              </a:rPr>
              <a:t>2</a:t>
            </a:fld>
            <a:endParaRPr b="0" lang="ru-RU" sz="113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Скругленный прямоугольник 55"/>
          <p:cNvSpPr/>
          <p:nvPr/>
        </p:nvSpPr>
        <p:spPr>
          <a:xfrm>
            <a:off x="6152700" y="1466280"/>
            <a:ext cx="2192040" cy="483372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135" name="Текст 8"/>
          <p:cNvSpPr/>
          <p:nvPr/>
        </p:nvSpPr>
        <p:spPr>
          <a:xfrm>
            <a:off x="6325140" y="4194360"/>
            <a:ext cx="1893600" cy="162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  <a:ea typeface="Montserrat"/>
              </a:rPr>
              <a:t>Менеджер проекта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  <a:ea typeface="Montserrat"/>
              </a:rPr>
              <a:t>+79037877887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Текст 8"/>
          <p:cNvSpPr/>
          <p:nvPr/>
        </p:nvSpPr>
        <p:spPr>
          <a:xfrm>
            <a:off x="6325140" y="3566160"/>
            <a:ext cx="1721880" cy="62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  <a:ea typeface="Montserrat"/>
              </a:rPr>
              <a:t>Анастасия Третьякова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Скругленный прямоугольник 16"/>
          <p:cNvSpPr/>
          <p:nvPr/>
        </p:nvSpPr>
        <p:spPr>
          <a:xfrm>
            <a:off x="3847260" y="1466280"/>
            <a:ext cx="2192040" cy="483372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138" name="Скругленный прямоугольник 12"/>
          <p:cNvSpPr/>
          <p:nvPr/>
        </p:nvSpPr>
        <p:spPr>
          <a:xfrm>
            <a:off x="345960" y="324720"/>
            <a:ext cx="3952080" cy="62028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139" name="PlaceHolder 1"/>
          <p:cNvSpPr>
            <a:spLocks noGrp="1"/>
          </p:cNvSpPr>
          <p:nvPr>
            <p:ph type="sldNum" idx="63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 defTabSz="914400">
              <a:lnSpc>
                <a:spcPct val="108000"/>
              </a:lnSpc>
              <a:buNone/>
              <a:tabLst>
                <a:tab algn="l" pos="0"/>
              </a:tabLst>
              <a:defRPr b="0" lang="ru-RU" sz="1130" spc="-1" strike="noStrike">
                <a:solidFill>
                  <a:srgbClr val="ffffff"/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8000"/>
              </a:lnSpc>
              <a:buNone/>
              <a:tabLst>
                <a:tab algn="l" pos="0"/>
              </a:tabLst>
            </a:pPr>
            <a:fld id="{58982F5A-985F-44CD-9110-C203C1EC2EB8}" type="slidenum">
              <a:rPr b="0" lang="ru-RU" sz="1130" spc="-1" strike="noStrike">
                <a:solidFill>
                  <a:srgbClr val="ffffff"/>
                </a:solidFill>
                <a:latin typeface="Montserrat"/>
                <a:ea typeface="Montserrat"/>
              </a:rPr>
              <a:t>3</a:t>
            </a:fld>
            <a:endParaRPr b="0" lang="ru-RU" sz="113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140" name="Рисунок 1" descr=""/>
          <p:cNvPicPr/>
          <p:nvPr/>
        </p:nvPicPr>
        <p:blipFill>
          <a:blip r:embed="rId2"/>
          <a:stretch/>
        </p:blipFill>
        <p:spPr>
          <a:xfrm>
            <a:off x="4082700" y="1760400"/>
            <a:ext cx="1718640" cy="1563120"/>
          </a:xfrm>
          <a:prstGeom prst="rect">
            <a:avLst/>
          </a:prstGeom>
          <a:ln w="0">
            <a:noFill/>
          </a:ln>
        </p:spPr>
      </p:pic>
      <p:pic>
        <p:nvPicPr>
          <p:cNvPr id="141" name="Рисунок 2" descr=""/>
          <p:cNvPicPr/>
          <p:nvPr/>
        </p:nvPicPr>
        <p:blipFill>
          <a:blip r:embed="rId3"/>
          <a:stretch/>
        </p:blipFill>
        <p:spPr>
          <a:xfrm>
            <a:off x="6387780" y="1770840"/>
            <a:ext cx="1721880" cy="1541520"/>
          </a:xfrm>
          <a:prstGeom prst="rect">
            <a:avLst/>
          </a:prstGeom>
          <a:ln w="0">
            <a:noFill/>
          </a:ln>
        </p:spPr>
      </p:pic>
      <p:sp>
        <p:nvSpPr>
          <p:cNvPr id="142" name="PlaceHolder 2"/>
          <p:cNvSpPr>
            <a:spLocks noGrp="1"/>
          </p:cNvSpPr>
          <p:nvPr>
            <p:ph type="title"/>
          </p:nvPr>
        </p:nvSpPr>
        <p:spPr>
          <a:xfrm>
            <a:off x="518400" y="449640"/>
            <a:ext cx="9861840" cy="37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КОМАНДА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019700" y="4194360"/>
            <a:ext cx="1893600" cy="162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  <a:ea typeface="Montserrat"/>
              </a:rPr>
              <a:t>Lead Data Scientist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  <a:ea typeface="Montserrat"/>
              </a:rPr>
              <a:t>t.me/aleksgavr322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  <a:p>
            <a:pPr marL="144720" indent="-144720" defTabSz="578880">
              <a:lnSpc>
                <a:spcPct val="90000"/>
              </a:lnSpc>
              <a:spcBef>
                <a:spcPts val="601"/>
              </a:spcBef>
              <a:buClr>
                <a:srgbClr val="ff0053"/>
              </a:buClr>
              <a:buFont typeface="Arial"/>
              <a:buChar char="•"/>
            </a:pPr>
            <a:r>
              <a:rPr b="0" lang="ru-RU" sz="1200" spc="-1" strike="noStrike">
                <a:solidFill>
                  <a:schemeClr val="dk1"/>
                </a:solidFill>
                <a:latin typeface="Montserrat"/>
                <a:ea typeface="Montserrat"/>
              </a:rPr>
              <a:t>+79161689692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Текст 8"/>
          <p:cNvSpPr/>
          <p:nvPr/>
        </p:nvSpPr>
        <p:spPr>
          <a:xfrm>
            <a:off x="4019700" y="3566160"/>
            <a:ext cx="1721880" cy="62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5"/>
                </a:solidFill>
                <a:latin typeface="Montserrat"/>
                <a:ea typeface="Montserrat"/>
              </a:rPr>
              <a:t>Алексей Гаврилов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Скругленный прямоугольник 1"/>
          <p:cNvSpPr/>
          <p:nvPr/>
        </p:nvSpPr>
        <p:spPr>
          <a:xfrm>
            <a:off x="345960" y="324720"/>
            <a:ext cx="3952080" cy="62028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sldNum" idx="64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 defTabSz="914400">
              <a:lnSpc>
                <a:spcPct val="108000"/>
              </a:lnSpc>
              <a:buNone/>
              <a:tabLst>
                <a:tab algn="l" pos="0"/>
              </a:tabLst>
              <a:defRPr b="0" lang="ru-RU" sz="1130" spc="-1" strike="noStrike">
                <a:solidFill>
                  <a:srgbClr val="520978"/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8000"/>
              </a:lnSpc>
              <a:buNone/>
              <a:tabLst>
                <a:tab algn="l" pos="0"/>
              </a:tabLst>
            </a:pPr>
            <a:fld id="{0200F71A-57AB-4126-831B-CD65C2661192}" type="slidenum">
              <a:rPr b="0" lang="ru-RU" sz="1130" spc="-1" strike="noStrike">
                <a:solidFill>
                  <a:srgbClr val="520978"/>
                </a:solidFill>
                <a:latin typeface="Montserrat"/>
                <a:ea typeface="Montserrat"/>
              </a:rPr>
              <a:t>4</a:t>
            </a:fld>
            <a:endParaRPr b="0" lang="ru-RU" sz="1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title"/>
          </p:nvPr>
        </p:nvSpPr>
        <p:spPr>
          <a:xfrm>
            <a:off x="507960" y="449640"/>
            <a:ext cx="9861840" cy="37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ЗАДАЧА И КОМАНДА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533520" y="1602360"/>
            <a:ext cx="4425120" cy="93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spcAft>
                <a:spcPts val="649"/>
              </a:spcAft>
              <a:buNone/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[Заполнить: как собралась команда и какой совместный опыт есть у участников.]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Текст 8"/>
          <p:cNvSpPr/>
          <p:nvPr/>
        </p:nvSpPr>
        <p:spPr>
          <a:xfrm>
            <a:off x="533520" y="1279800"/>
            <a:ext cx="298944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  <a:ea typeface="Montserrat"/>
              </a:rPr>
              <a:t>Краткая история команды: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Текст 8"/>
          <p:cNvSpPr/>
          <p:nvPr/>
        </p:nvSpPr>
        <p:spPr>
          <a:xfrm>
            <a:off x="530280" y="5193720"/>
            <a:ext cx="106066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8000"/>
              </a:lnSpc>
              <a:spcAft>
                <a:spcPts val="649"/>
              </a:spcAft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Первая версия давала 91% top-1 на синтетике, а на реальных снимках намного меньше: запрос из файла эталона легче съёмки телефоном. Теперь меряем на съёмке организатора, делим по винам и фотосериям, пороги подбираем только на настроечной части.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Текст 8"/>
          <p:cNvSpPr/>
          <p:nvPr/>
        </p:nvSpPr>
        <p:spPr>
          <a:xfrm>
            <a:off x="533520" y="4571640"/>
            <a:ext cx="6437880" cy="62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578880">
              <a:lnSpc>
                <a:spcPct val="11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  <a:ea typeface="Montserrat"/>
              </a:rPr>
              <a:t>С какими основными сложностями или вызовами </a:t>
            </a:r>
            <a:br>
              <a:rPr sz="18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  <a:ea typeface="Montserrat"/>
              </a:rPr>
              <a:t>вы столкнулись и как их преодолели?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Текст 8"/>
          <p:cNvSpPr/>
          <p:nvPr/>
        </p:nvSpPr>
        <p:spPr>
          <a:xfrm>
            <a:off x="530280" y="3529440"/>
            <a:ext cx="10332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8000"/>
              </a:lnSpc>
              <a:spcAft>
                <a:spcPts val="649"/>
              </a:spcAft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Покупателю важно различать вина одной линейки по мелким надписям. В каталоге 69 групп тёзок — одна винодельня и одно название — на 152 позиции. Качество проверяемо: закрытая разметка и точный slug.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Текст 8"/>
          <p:cNvSpPr/>
          <p:nvPr/>
        </p:nvSpPr>
        <p:spPr>
          <a:xfrm>
            <a:off x="533520" y="2900160"/>
            <a:ext cx="562896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  <a:ea typeface="Montserrat"/>
              </a:rPr>
              <a:t>Почему вы выбрали именно эту задачу </a:t>
            </a:r>
            <a:br>
              <a:rPr sz="1800"/>
            </a:br>
            <a:r>
              <a:rPr b="1" lang="ru-RU" sz="1400" spc="-1" strike="noStrike">
                <a:solidFill>
                  <a:schemeClr val="accent5"/>
                </a:solidFill>
                <a:latin typeface="Montserrat"/>
                <a:ea typeface="Montserrat"/>
              </a:rPr>
              <a:t>из предложенных на хакатоне?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4" name="Прямая соединительная линия 4"/>
          <p:cNvCxnSpPr/>
          <p:nvPr/>
        </p:nvCxnSpPr>
        <p:spPr>
          <a:xfrm>
            <a:off x="623880" y="2745360"/>
            <a:ext cx="11233800" cy="720"/>
          </a:xfrm>
          <a:prstGeom prst="straightConnector1">
            <a:avLst/>
          </a:prstGeom>
          <a:ln w="0">
            <a:solidFill>
              <a:srgbClr val="ff0053"/>
            </a:solidFill>
          </a:ln>
        </p:spPr>
      </p:cxnSp>
      <p:cxnSp>
        <p:nvCxnSpPr>
          <p:cNvPr id="155" name="Прямая соединительная линия 5"/>
          <p:cNvCxnSpPr/>
          <p:nvPr/>
        </p:nvCxnSpPr>
        <p:spPr>
          <a:xfrm>
            <a:off x="623880" y="4406760"/>
            <a:ext cx="11233800" cy="720"/>
          </a:xfrm>
          <a:prstGeom prst="straightConnector1">
            <a:avLst/>
          </a:prstGeom>
          <a:ln w="0">
            <a:solidFill>
              <a:srgbClr val="ff0053"/>
            </a:solidFill>
          </a:ln>
        </p:spPr>
      </p:cxnSp>
      <p:cxnSp>
        <p:nvCxnSpPr>
          <p:cNvPr id="156" name="Прямая соединительная линия 7"/>
          <p:cNvCxnSpPr/>
          <p:nvPr/>
        </p:nvCxnSpPr>
        <p:spPr>
          <a:xfrm>
            <a:off x="623880" y="1109880"/>
            <a:ext cx="11233800" cy="720"/>
          </a:xfrm>
          <a:prstGeom prst="straightConnector1">
            <a:avLst/>
          </a:prstGeom>
          <a:ln w="0">
            <a:solidFill>
              <a:srgbClr val="ff0053"/>
            </a:solidFill>
          </a:ln>
        </p:spPr>
      </p:cxnSp>
      <p:sp>
        <p:nvSpPr>
          <p:cNvPr id="157" name="Текст 8"/>
          <p:cNvSpPr/>
          <p:nvPr/>
        </p:nvSpPr>
        <p:spPr>
          <a:xfrm>
            <a:off x="11015640" y="1279800"/>
            <a:ext cx="95616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r" defTabSz="578880">
              <a:lnSpc>
                <a:spcPct val="9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  <a:ea typeface="Montserrat"/>
              </a:rPr>
              <a:t>01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Текст 8"/>
          <p:cNvSpPr/>
          <p:nvPr/>
        </p:nvSpPr>
        <p:spPr>
          <a:xfrm>
            <a:off x="11015640" y="2900160"/>
            <a:ext cx="92988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  <a:ea typeface="Montserrat"/>
              </a:rPr>
              <a:t>02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Текст 8"/>
          <p:cNvSpPr/>
          <p:nvPr/>
        </p:nvSpPr>
        <p:spPr>
          <a:xfrm>
            <a:off x="11015640" y="4571640"/>
            <a:ext cx="929880" cy="56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r" defTabSz="578880">
              <a:lnSpc>
                <a:spcPct val="100000"/>
              </a:lnSpc>
              <a:spcBef>
                <a:spcPts val="632"/>
              </a:spcBef>
              <a:tabLst>
                <a:tab algn="l" pos="0"/>
              </a:tabLst>
            </a:pPr>
            <a:r>
              <a:rPr b="1" lang="ru-RU" sz="1400" spc="-1" strike="noStrike">
                <a:solidFill>
                  <a:schemeClr val="accent5"/>
                </a:solidFill>
                <a:latin typeface="Montserrat"/>
                <a:ea typeface="Montserrat"/>
              </a:rPr>
              <a:t>03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Скругленный прямоугольник 9"/>
          <p:cNvSpPr/>
          <p:nvPr/>
        </p:nvSpPr>
        <p:spPr>
          <a:xfrm>
            <a:off x="345960" y="324720"/>
            <a:ext cx="3750120" cy="62028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161" name="Скругленный прямоугольник 23"/>
          <p:cNvSpPr/>
          <p:nvPr/>
        </p:nvSpPr>
        <p:spPr>
          <a:xfrm>
            <a:off x="6230880" y="1211400"/>
            <a:ext cx="5439600" cy="4988880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162" name="Скругленный прямоугольник 26"/>
          <p:cNvSpPr/>
          <p:nvPr/>
        </p:nvSpPr>
        <p:spPr>
          <a:xfrm>
            <a:off x="345960" y="1211400"/>
            <a:ext cx="5439600" cy="4988880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163" name="PlaceHolder 1"/>
          <p:cNvSpPr>
            <a:spLocks noGrp="1"/>
          </p:cNvSpPr>
          <p:nvPr>
            <p:ph type="sldNum" idx="65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 defTabSz="914400">
              <a:lnSpc>
                <a:spcPct val="108000"/>
              </a:lnSpc>
              <a:buNone/>
              <a:tabLst>
                <a:tab algn="l" pos="0"/>
              </a:tabLst>
              <a:defRPr b="0" lang="ru-RU" sz="1130" spc="-1" strike="noStrike">
                <a:solidFill>
                  <a:srgbClr val="ffffff"/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8000"/>
              </a:lnSpc>
              <a:buNone/>
              <a:tabLst>
                <a:tab algn="l" pos="0"/>
              </a:tabLst>
            </a:pPr>
            <a:fld id="{DA610C0D-18DE-4C9C-908F-F275EAF9E243}" type="slidenum">
              <a:rPr b="0" lang="ru-RU" sz="1130" spc="-1" strike="noStrike">
                <a:solidFill>
                  <a:srgbClr val="ffffff"/>
                </a:solidFill>
                <a:latin typeface="Montserrat"/>
                <a:ea typeface="Montserrat"/>
              </a:rPr>
              <a:t>5</a:t>
            </a:fld>
            <a:endParaRPr b="0" lang="ru-RU" sz="113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589320" y="1920960"/>
            <a:ext cx="4929120" cy="386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spcAft>
                <a:spcPts val="1250"/>
              </a:spcAft>
              <a:buNone/>
              <a:tabLst>
                <a:tab algn="l" pos="0"/>
              </a:tabLst>
            </a:pPr>
            <a:r>
              <a:rPr b="0" lang="ru-RU" sz="1650" spc="-1" strike="noStrike">
                <a:solidFill>
                  <a:srgbClr val="1c1d22"/>
                </a:solidFill>
                <a:latin typeface="Montserrat"/>
                <a:ea typeface="Montserrat"/>
              </a:rPr>
              <a:t>Поиск по целому кадру и вырезке бутылки</a:t>
            </a:r>
            <a:endParaRPr b="0" lang="ru-RU" sz="165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250"/>
              </a:spcAft>
              <a:buNone/>
              <a:tabLst>
                <a:tab algn="l" pos="0"/>
              </a:tabLst>
            </a:pPr>
            <a:r>
              <a:rPr b="0" lang="ru-RU" sz="1650" spc="-1" strike="noStrike">
                <a:solidFill>
                  <a:srgbClr val="1c1d22"/>
                </a:solidFill>
                <a:latin typeface="Montserrat"/>
                <a:ea typeface="Montserrat"/>
              </a:rPr>
              <a:t>SigLIP 2 отбирает 20 кандидатов, SIFT проверяет геометрию этикетки</a:t>
            </a:r>
            <a:endParaRPr b="0" lang="ru-RU" sz="165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250"/>
              </a:spcAft>
              <a:buNone/>
              <a:tabLst>
                <a:tab algn="l" pos="0"/>
              </a:tabLst>
            </a:pPr>
            <a:r>
              <a:rPr b="0" lang="ru-RU" sz="1650" spc="-1" strike="noStrike">
                <a:solidFill>
                  <a:srgbClr val="1c1d22"/>
                </a:solidFill>
                <a:latin typeface="Montserrat"/>
                <a:ea typeface="Montserrat"/>
              </a:rPr>
              <a:t>OCR и VLM уточняют спорное совпадение</a:t>
            </a:r>
            <a:endParaRPr b="0" lang="ru-RU" sz="165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250"/>
              </a:spcAft>
              <a:buNone/>
              <a:tabLst>
                <a:tab algn="l" pos="0"/>
              </a:tabLst>
            </a:pPr>
            <a:r>
              <a:rPr b="0" lang="ru-RU" sz="1650" spc="-1" strike="noStrike">
                <a:solidFill>
                  <a:srgbClr val="1c1d22"/>
                </a:solidFill>
                <a:latin typeface="Montserrat"/>
                <a:ea typeface="Montserrat"/>
              </a:rPr>
              <a:t>Логистическая регрессия решает: карточка, оговорка или отказ</a:t>
            </a:r>
            <a:endParaRPr b="0" lang="ru-RU" sz="165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250"/>
              </a:spcAft>
              <a:buNone/>
              <a:tabLst>
                <a:tab algn="l" pos="0"/>
              </a:tabLst>
            </a:pPr>
            <a:r>
              <a:rPr b="0" lang="ru-RU" sz="1650" spc="-1" strike="noStrike">
                <a:solidFill>
                  <a:srgbClr val="1c1d22"/>
                </a:solidFill>
                <a:latin typeface="Montserrat"/>
                <a:ea typeface="Montserrat"/>
              </a:rPr>
              <a:t>FastAPI и pgvector в Docker, мобильный интерфейс на Nuxt</a:t>
            </a:r>
            <a:endParaRPr b="0" lang="ru-RU" sz="16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6513480" y="1920960"/>
            <a:ext cx="4956480" cy="387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spcAft>
                <a:spcPts val="1100"/>
              </a:spcAft>
              <a:buNone/>
              <a:tabLst>
                <a:tab algn="l" pos="0"/>
              </a:tabLst>
            </a:pPr>
            <a:r>
              <a:rPr b="0" lang="ru-RU" sz="1650" spc="-1" strike="noStrike">
                <a:solidFill>
                  <a:srgbClr val="1c1d22"/>
                </a:solidFill>
                <a:latin typeface="Montserrat"/>
                <a:ea typeface="Montserrat"/>
              </a:rPr>
              <a:t>Карточка вина сразу после сканирования</a:t>
            </a:r>
            <a:endParaRPr b="0" lang="ru-RU" sz="165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100"/>
              </a:spcAft>
              <a:buNone/>
              <a:tabLst>
                <a:tab algn="l" pos="0"/>
              </a:tabLst>
            </a:pPr>
            <a:r>
              <a:rPr b="0" lang="ru-RU" sz="1650" spc="-1" strike="noStrike">
                <a:solidFill>
                  <a:srgbClr val="1c1d22"/>
                </a:solidFill>
                <a:latin typeface="Montserrat"/>
                <a:ea typeface="Montserrat"/>
              </a:rPr>
              <a:t>При сомнении видны оговорка и варианты</a:t>
            </a:r>
            <a:endParaRPr b="0" lang="ru-RU" sz="165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100"/>
              </a:spcAft>
              <a:buNone/>
              <a:tabLst>
                <a:tab algn="l" pos="0"/>
              </a:tabLst>
            </a:pPr>
            <a:r>
              <a:rPr b="0" lang="ru-RU" sz="1650" spc="-1" strike="noStrike">
                <a:solidFill>
                  <a:srgbClr val="1c1d22"/>
                </a:solidFill>
                <a:latin typeface="Montserrat"/>
                <a:ea typeface="Montserrat"/>
              </a:rPr>
              <a:t>При отказе доступны аналоги по этикетке</a:t>
            </a:r>
            <a:endParaRPr b="0" lang="ru-RU" sz="165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100"/>
              </a:spcAft>
              <a:buNone/>
              <a:tabLst>
                <a:tab algn="l" pos="0"/>
              </a:tabLst>
            </a:pPr>
            <a:r>
              <a:rPr b="0" lang="ru-RU" sz="1650" spc="-1" strike="noStrike">
                <a:solidFill>
                  <a:srgbClr val="1c1d22"/>
                </a:solidFill>
                <a:latin typeface="Montserrat"/>
                <a:ea typeface="Montserrat"/>
              </a:rPr>
              <a:t>Сомелье подбирает вино к блюду и объясняет рекомендацию</a:t>
            </a:r>
            <a:endParaRPr b="0" lang="ru-RU" sz="165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100"/>
              </a:spcAft>
              <a:buNone/>
              <a:tabLst>
                <a:tab algn="l" pos="0"/>
              </a:tabLst>
            </a:pPr>
            <a:r>
              <a:rPr b="0" lang="ru-RU" sz="1650" spc="-1" strike="noStrike">
                <a:solidFill>
                  <a:srgbClr val="1c1d22"/>
                </a:solidFill>
                <a:latin typeface="Montserrat"/>
                <a:ea typeface="Montserrat"/>
              </a:rPr>
              <a:t>Каталог из 2103 позиций, эталоны из датасета кейса</a:t>
            </a:r>
            <a:endParaRPr b="0" lang="ru-RU" sz="165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100"/>
              </a:spcAft>
              <a:buNone/>
              <a:tabLst>
                <a:tab algn="l" pos="0"/>
              </a:tabLst>
            </a:pPr>
            <a:r>
              <a:rPr b="0" lang="ru-RU" sz="1650" spc="-1" strike="noStrike">
                <a:solidFill>
                  <a:srgbClr val="1c1d22"/>
                </a:solidFill>
                <a:latin typeface="Montserrat"/>
                <a:ea typeface="Montserrat"/>
              </a:rPr>
              <a:t>Mobile-first модуль в стилистике портала «Своё Вино»</a:t>
            </a:r>
            <a:endParaRPr b="0" lang="ru-RU" sz="16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title"/>
          </p:nvPr>
        </p:nvSpPr>
        <p:spPr>
          <a:xfrm>
            <a:off x="525960" y="456840"/>
            <a:ext cx="9861840" cy="37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57888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КОРОТКО О РЕШЕНИИ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PlaceHolder 5"/>
          <p:cNvSpPr>
            <a:spLocks noGrp="1"/>
          </p:cNvSpPr>
          <p:nvPr>
            <p:ph/>
          </p:nvPr>
        </p:nvSpPr>
        <p:spPr>
          <a:xfrm>
            <a:off x="578160" y="1476720"/>
            <a:ext cx="4929120" cy="55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578880">
              <a:lnSpc>
                <a:spcPct val="100000"/>
              </a:lnSpc>
              <a:spcBef>
                <a:spcPts val="632"/>
              </a:spcBef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accent5"/>
                </a:solidFill>
                <a:latin typeface="Montserrat"/>
                <a:ea typeface="Montserrat"/>
              </a:rPr>
              <a:t>Техническая суть решения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PlaceHolder 6"/>
          <p:cNvSpPr>
            <a:spLocks noGrp="1"/>
          </p:cNvSpPr>
          <p:nvPr>
            <p:ph/>
          </p:nvPr>
        </p:nvSpPr>
        <p:spPr>
          <a:xfrm>
            <a:off x="6513480" y="1476720"/>
            <a:ext cx="5213880" cy="56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1" lang="ru-RU" sz="2100" spc="-1" strike="noStrike">
                <a:solidFill>
                  <a:srgbClr val="520978"/>
                </a:solidFill>
                <a:latin typeface="Montserrat"/>
                <a:ea typeface="Montserrat"/>
              </a:rPr>
              <a:t>Маркетинговая суть решения</a:t>
            </a:r>
            <a:endParaRPr b="0" lang="ru-RU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Скругленный прямоугольник 11"/>
          <p:cNvSpPr/>
          <p:nvPr/>
        </p:nvSpPr>
        <p:spPr>
          <a:xfrm>
            <a:off x="345960" y="324720"/>
            <a:ext cx="3111120" cy="62028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170" name="PlaceHolder 1"/>
          <p:cNvSpPr>
            <a:spLocks noGrp="1"/>
          </p:cNvSpPr>
          <p:nvPr>
            <p:ph type="sldNum" idx="66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 defTabSz="914400">
              <a:lnSpc>
                <a:spcPct val="108000"/>
              </a:lnSpc>
              <a:buNone/>
              <a:tabLst>
                <a:tab algn="l" pos="0"/>
              </a:tabLst>
              <a:defRPr b="0" lang="ru-RU" sz="1130" spc="-1" strike="noStrike">
                <a:solidFill>
                  <a:srgbClr val="520978"/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8000"/>
              </a:lnSpc>
              <a:buNone/>
              <a:tabLst>
                <a:tab algn="l" pos="0"/>
              </a:tabLst>
            </a:pPr>
            <a:fld id="{677FC3C8-4FFA-4963-88E8-C5B6D4B2964B}" type="slidenum">
              <a:rPr b="0" lang="ru-RU" sz="1130" spc="-1" strike="noStrike">
                <a:solidFill>
                  <a:srgbClr val="520978"/>
                </a:solidFill>
                <a:latin typeface="Montserrat"/>
                <a:ea typeface="Montserrat"/>
              </a:rPr>
              <a:t>7</a:t>
            </a:fld>
            <a:endParaRPr b="0" lang="ru-RU" sz="1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Текст 1"/>
          <p:cNvSpPr/>
          <p:nvPr/>
        </p:nvSpPr>
        <p:spPr>
          <a:xfrm>
            <a:off x="345960" y="1458000"/>
            <a:ext cx="2525400" cy="14760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  <a:ea typeface="Montserrat"/>
              </a:rPr>
              <a:t>ДВА ВИДА КАДРА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345960" y="1814040"/>
            <a:ext cx="2525400" cy="1119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YOLO11m выделяет бутылку. Поиск использует вырезку и полный кадр.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Текст 3"/>
          <p:cNvSpPr/>
          <p:nvPr/>
        </p:nvSpPr>
        <p:spPr>
          <a:xfrm>
            <a:off x="4833000" y="1458000"/>
            <a:ext cx="2525400" cy="14760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  <a:ea typeface="Montserrat"/>
              </a:rPr>
              <a:t>ГЕОМЕТРИЯ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4833000" y="1814040"/>
            <a:ext cx="2525400" cy="1119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SIFT и RANSAC проверяют совпадение деталей этикетки.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Текст 5"/>
          <p:cNvSpPr/>
          <p:nvPr/>
        </p:nvSpPr>
        <p:spPr>
          <a:xfrm>
            <a:off x="9330840" y="1458000"/>
            <a:ext cx="2525400" cy="14760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  <a:ea typeface="Montserrat"/>
              </a:rPr>
              <a:t>РЕШЕНИЕ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/>
          </p:nvPr>
        </p:nvSpPr>
        <p:spPr>
          <a:xfrm>
            <a:off x="9330840" y="1814040"/>
            <a:ext cx="2525400" cy="1119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Уверенность и проверка VLM определяют ответ: карточка, оговорка или отказ.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Текст 7"/>
          <p:cNvSpPr/>
          <p:nvPr/>
        </p:nvSpPr>
        <p:spPr>
          <a:xfrm>
            <a:off x="2593440" y="4825440"/>
            <a:ext cx="2525400" cy="14760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  <a:ea typeface="Montserrat"/>
              </a:rPr>
              <a:t>ОТБОР ДВАДЦАТИ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5"/>
          <p:cNvSpPr>
            <a:spLocks noGrp="1"/>
          </p:cNvSpPr>
          <p:nvPr>
            <p:ph/>
          </p:nvPr>
        </p:nvSpPr>
        <p:spPr>
          <a:xfrm>
            <a:off x="2593440" y="5181480"/>
            <a:ext cx="2525400" cy="1119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SigLIP 2 сравнивает снимок с каталогом и отбирает топ-20.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Текст 9"/>
          <p:cNvSpPr/>
          <p:nvPr/>
        </p:nvSpPr>
        <p:spPr>
          <a:xfrm>
            <a:off x="7080480" y="4825440"/>
            <a:ext cx="2525400" cy="147600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  <a:ea typeface="Montserrat"/>
              </a:rPr>
              <a:t>ТЕКСТ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6"/>
          <p:cNvSpPr>
            <a:spLocks noGrp="1"/>
          </p:cNvSpPr>
          <p:nvPr>
            <p:ph/>
          </p:nvPr>
        </p:nvSpPr>
        <p:spPr>
          <a:xfrm>
            <a:off x="7080480" y="5181480"/>
            <a:ext cx="2525400" cy="1119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EasyOCR читает надписи, которые различают близких кандидатов.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81" name="Прямая соединительная линия 33"/>
          <p:cNvCxnSpPr/>
          <p:nvPr/>
        </p:nvCxnSpPr>
        <p:spPr>
          <a:xfrm>
            <a:off x="2065680" y="3859920"/>
            <a:ext cx="1333440" cy="720"/>
          </a:xfrm>
          <a:prstGeom prst="straightConnector1">
            <a:avLst/>
          </a:prstGeom>
          <a:ln w="12700">
            <a:solidFill>
              <a:srgbClr val="ff0053"/>
            </a:solidFill>
            <a:round/>
          </a:ln>
        </p:spPr>
      </p:cxnSp>
      <p:cxnSp>
        <p:nvCxnSpPr>
          <p:cNvPr id="182" name="Прямая соединительная линия 34"/>
          <p:cNvCxnSpPr/>
          <p:nvPr/>
        </p:nvCxnSpPr>
        <p:spPr>
          <a:xfrm>
            <a:off x="4312080" y="3862080"/>
            <a:ext cx="1333080" cy="720"/>
          </a:xfrm>
          <a:prstGeom prst="straightConnector1">
            <a:avLst/>
          </a:prstGeom>
          <a:ln w="12700">
            <a:solidFill>
              <a:srgbClr val="ff0053"/>
            </a:solidFill>
            <a:round/>
          </a:ln>
        </p:spPr>
      </p:cxnSp>
      <p:cxnSp>
        <p:nvCxnSpPr>
          <p:cNvPr id="183" name="Прямая соединительная линия 35"/>
          <p:cNvCxnSpPr/>
          <p:nvPr/>
        </p:nvCxnSpPr>
        <p:spPr>
          <a:xfrm>
            <a:off x="6558120" y="3862080"/>
            <a:ext cx="1333440" cy="720"/>
          </a:xfrm>
          <a:prstGeom prst="straightConnector1">
            <a:avLst/>
          </a:prstGeom>
          <a:ln w="12700">
            <a:solidFill>
              <a:srgbClr val="ff0053"/>
            </a:solidFill>
            <a:round/>
          </a:ln>
        </p:spPr>
      </p:cxnSp>
      <p:cxnSp>
        <p:nvCxnSpPr>
          <p:cNvPr id="184" name="Прямая соединительная линия 36"/>
          <p:cNvCxnSpPr/>
          <p:nvPr/>
        </p:nvCxnSpPr>
        <p:spPr>
          <a:xfrm>
            <a:off x="8780400" y="3862080"/>
            <a:ext cx="1333080" cy="720"/>
          </a:xfrm>
          <a:prstGeom prst="straightConnector1">
            <a:avLst/>
          </a:prstGeom>
          <a:ln w="12700">
            <a:solidFill>
              <a:srgbClr val="ff0053"/>
            </a:solidFill>
            <a:round/>
          </a:ln>
        </p:spPr>
      </p:cxnSp>
      <p:cxnSp>
        <p:nvCxnSpPr>
          <p:cNvPr id="185" name="Прямая соединительная линия 37"/>
          <p:cNvCxnSpPr/>
          <p:nvPr/>
        </p:nvCxnSpPr>
        <p:spPr>
          <a:xfrm>
            <a:off x="1608840" y="2934720"/>
            <a:ext cx="720" cy="573840"/>
          </a:xfrm>
          <a:prstGeom prst="straightConnector1">
            <a:avLst/>
          </a:prstGeom>
          <a:ln w="12700">
            <a:solidFill>
              <a:srgbClr val="ff0053"/>
            </a:solidFill>
            <a:round/>
          </a:ln>
        </p:spPr>
      </p:cxnSp>
      <p:cxnSp>
        <p:nvCxnSpPr>
          <p:cNvPr id="186" name="Прямая соединительная линия 38"/>
          <p:cNvCxnSpPr/>
          <p:nvPr/>
        </p:nvCxnSpPr>
        <p:spPr>
          <a:xfrm>
            <a:off x="3855240" y="4215960"/>
            <a:ext cx="1800" cy="576000"/>
          </a:xfrm>
          <a:prstGeom prst="straightConnector1">
            <a:avLst/>
          </a:prstGeom>
          <a:ln w="12700">
            <a:solidFill>
              <a:srgbClr val="ff0053"/>
            </a:solidFill>
            <a:round/>
          </a:ln>
        </p:spPr>
      </p:cxnSp>
      <p:cxnSp>
        <p:nvCxnSpPr>
          <p:cNvPr id="187" name="Прямая соединительная линия 39"/>
          <p:cNvCxnSpPr/>
          <p:nvPr/>
        </p:nvCxnSpPr>
        <p:spPr>
          <a:xfrm>
            <a:off x="6095880" y="2934720"/>
            <a:ext cx="6120" cy="573840"/>
          </a:xfrm>
          <a:prstGeom prst="straightConnector1">
            <a:avLst/>
          </a:prstGeom>
          <a:ln w="12700">
            <a:solidFill>
              <a:srgbClr val="ff0053"/>
            </a:solidFill>
            <a:round/>
          </a:ln>
        </p:spPr>
      </p:cxnSp>
      <p:cxnSp>
        <p:nvCxnSpPr>
          <p:cNvPr id="188" name="Прямая соединительная линия 40"/>
          <p:cNvCxnSpPr/>
          <p:nvPr/>
        </p:nvCxnSpPr>
        <p:spPr>
          <a:xfrm flipH="1">
            <a:off x="8343360" y="4215960"/>
            <a:ext cx="5040" cy="576000"/>
          </a:xfrm>
          <a:prstGeom prst="straightConnector1">
            <a:avLst/>
          </a:prstGeom>
          <a:ln w="12700">
            <a:solidFill>
              <a:srgbClr val="ff0053"/>
            </a:solidFill>
            <a:round/>
          </a:ln>
        </p:spPr>
      </p:cxnSp>
      <p:cxnSp>
        <p:nvCxnSpPr>
          <p:cNvPr id="189" name="Прямая соединительная линия 41"/>
          <p:cNvCxnSpPr/>
          <p:nvPr/>
        </p:nvCxnSpPr>
        <p:spPr>
          <a:xfrm>
            <a:off x="10593720" y="2934720"/>
            <a:ext cx="720" cy="573840"/>
          </a:xfrm>
          <a:prstGeom prst="straightConnector1">
            <a:avLst/>
          </a:prstGeom>
          <a:ln w="12700">
            <a:solidFill>
              <a:srgbClr val="ff0053"/>
            </a:solidFill>
            <a:round/>
          </a:ln>
        </p:spPr>
      </p:cxnSp>
      <p:sp>
        <p:nvSpPr>
          <p:cNvPr id="190" name="Скругленный прямоугольник 42"/>
          <p:cNvSpPr/>
          <p:nvPr/>
        </p:nvSpPr>
        <p:spPr>
          <a:xfrm>
            <a:off x="1191240" y="3508200"/>
            <a:ext cx="874080" cy="70740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  <a:ea typeface="Montserrat"/>
              </a:rPr>
              <a:t>1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Скругленный прямоугольник 43"/>
          <p:cNvSpPr/>
          <p:nvPr/>
        </p:nvSpPr>
        <p:spPr>
          <a:xfrm>
            <a:off x="3412440" y="3506040"/>
            <a:ext cx="874080" cy="70740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  <a:ea typeface="Montserrat"/>
              </a:rPr>
              <a:t>2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Скругленный прямоугольник 44"/>
          <p:cNvSpPr/>
          <p:nvPr/>
        </p:nvSpPr>
        <p:spPr>
          <a:xfrm>
            <a:off x="5658480" y="3516120"/>
            <a:ext cx="874080" cy="70740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  <a:ea typeface="Montserrat"/>
              </a:rPr>
              <a:t>3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Скругленный прямоугольник 52"/>
          <p:cNvSpPr/>
          <p:nvPr/>
        </p:nvSpPr>
        <p:spPr>
          <a:xfrm>
            <a:off x="7889760" y="3506040"/>
            <a:ext cx="874080" cy="70740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  <a:ea typeface="Montserrat"/>
              </a:rPr>
              <a:t>4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Скругленный прямоугольник 53"/>
          <p:cNvSpPr/>
          <p:nvPr/>
        </p:nvSpPr>
        <p:spPr>
          <a:xfrm>
            <a:off x="10113120" y="3538800"/>
            <a:ext cx="874080" cy="707400"/>
          </a:xfrm>
          <a:prstGeom prst="roundRect">
            <a:avLst>
              <a:gd name="adj" fmla="val 16667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ru-RU" sz="2400" spc="-1" strike="noStrike">
                <a:solidFill>
                  <a:schemeClr val="accent1"/>
                </a:solidFill>
                <a:latin typeface="Montserrat"/>
                <a:ea typeface="Montserrat"/>
              </a:rPr>
              <a:t>5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7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1840" cy="37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АРХИТЕКТУРА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Скругленный прямоугольник 13"/>
          <p:cNvSpPr/>
          <p:nvPr/>
        </p:nvSpPr>
        <p:spPr>
          <a:xfrm>
            <a:off x="186480" y="1370520"/>
            <a:ext cx="2835360" cy="158076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  <a:ea typeface="Montserrat"/>
            </a:endParaRPr>
          </a:p>
        </p:txBody>
      </p:sp>
      <p:sp>
        <p:nvSpPr>
          <p:cNvPr id="197" name="Скругленный прямоугольник 15"/>
          <p:cNvSpPr/>
          <p:nvPr/>
        </p:nvSpPr>
        <p:spPr>
          <a:xfrm>
            <a:off x="4644360" y="1370520"/>
            <a:ext cx="2835360" cy="158076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  <a:ea typeface="Montserrat"/>
            </a:endParaRPr>
          </a:p>
        </p:txBody>
      </p:sp>
      <p:sp>
        <p:nvSpPr>
          <p:cNvPr id="198" name="Скругленный прямоугольник 16"/>
          <p:cNvSpPr/>
          <p:nvPr/>
        </p:nvSpPr>
        <p:spPr>
          <a:xfrm>
            <a:off x="9101880" y="1370520"/>
            <a:ext cx="2835360" cy="158076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  <a:ea typeface="Montserrat"/>
            </a:endParaRPr>
          </a:p>
        </p:txBody>
      </p:sp>
      <p:sp>
        <p:nvSpPr>
          <p:cNvPr id="199" name="Скругленный прямоугольник 17"/>
          <p:cNvSpPr/>
          <p:nvPr/>
        </p:nvSpPr>
        <p:spPr>
          <a:xfrm>
            <a:off x="2471760" y="4825440"/>
            <a:ext cx="2835360" cy="158076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  <a:ea typeface="Montserrat"/>
            </a:endParaRPr>
          </a:p>
        </p:txBody>
      </p:sp>
      <p:sp>
        <p:nvSpPr>
          <p:cNvPr id="200" name="Скругленный прямоугольник 18"/>
          <p:cNvSpPr/>
          <p:nvPr/>
        </p:nvSpPr>
        <p:spPr>
          <a:xfrm>
            <a:off x="6948720" y="4791240"/>
            <a:ext cx="2835360" cy="1580760"/>
          </a:xfrm>
          <a:prstGeom prst="roundRect">
            <a:avLst>
              <a:gd name="adj" fmla="val 10884"/>
            </a:avLst>
          </a:prstGeom>
          <a:noFill/>
          <a:ln w="12700">
            <a:solidFill>
              <a:srgbClr val="ff00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1" lang="ru-RU" sz="2400" spc="-1" strike="noStrike">
              <a:solidFill>
                <a:schemeClr val="accent1"/>
              </a:solidFill>
              <a:latin typeface="Montserrat"/>
              <a:ea typeface="Montserra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Скругленный прямоугольник 2"/>
          <p:cNvSpPr/>
          <p:nvPr/>
        </p:nvSpPr>
        <p:spPr>
          <a:xfrm>
            <a:off x="345960" y="324720"/>
            <a:ext cx="3111120" cy="62028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8000"/>
              </a:lnSpc>
              <a:tabLst>
                <a:tab algn="l" pos="0"/>
              </a:tabLst>
            </a:pPr>
            <a:r>
              <a:rPr b="1" lang="ru-RU" sz="2100" spc="-1" strike="noStrike">
                <a:solidFill>
                  <a:srgbClr val="ffffff"/>
                </a:solidFill>
                <a:latin typeface="Montserrat"/>
                <a:ea typeface="Montserrat"/>
              </a:rPr>
              <a:t>ЖИВОЕ ДЕМО</a:t>
            </a:r>
            <a:endParaRPr b="0" lang="ru-RU" sz="2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2" name="Рисунок 1" descr=""/>
          <p:cNvPicPr/>
          <p:nvPr/>
        </p:nvPicPr>
        <p:blipFill>
          <a:blip r:embed="rId2"/>
          <a:srcRect l="0" t="1125" r="0" b="1125"/>
          <a:stretch/>
        </p:blipFill>
        <p:spPr>
          <a:xfrm>
            <a:off x="5009760" y="1235880"/>
            <a:ext cx="2171520" cy="4601880"/>
          </a:xfrm>
          <a:prstGeom prst="rect">
            <a:avLst/>
          </a:prstGeom>
          <a:ln w="0">
            <a:noFill/>
          </a:ln>
        </p:spPr>
      </p:pic>
      <p:sp>
        <p:nvSpPr>
          <p:cNvPr id="203" name="Текст 3"/>
          <p:cNvSpPr/>
          <p:nvPr/>
        </p:nvSpPr>
        <p:spPr>
          <a:xfrm>
            <a:off x="356400" y="1641240"/>
            <a:ext cx="3812040" cy="10209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  <a:ea typeface="Montserrat"/>
              </a:rPr>
              <a:t>Загрузка фото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Текст 5"/>
          <p:cNvSpPr/>
          <p:nvPr/>
        </p:nvSpPr>
        <p:spPr>
          <a:xfrm>
            <a:off x="8039880" y="1641240"/>
            <a:ext cx="3812040" cy="10209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  <a:ea typeface="Montserrat"/>
              </a:rPr>
              <a:t>Одна карточка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Текст 7"/>
          <p:cNvSpPr/>
          <p:nvPr/>
        </p:nvSpPr>
        <p:spPr>
          <a:xfrm>
            <a:off x="356400" y="3864600"/>
            <a:ext cx="3812040" cy="10209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  <a:ea typeface="Montserrat"/>
              </a:rPr>
              <a:t>Вина нет в каталоге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Текст 9"/>
          <p:cNvSpPr/>
          <p:nvPr/>
        </p:nvSpPr>
        <p:spPr>
          <a:xfrm>
            <a:off x="8039880" y="3864600"/>
            <a:ext cx="3812040" cy="10209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  <a:ea typeface="Montserrat"/>
              </a:rPr>
              <a:t>Проверка результата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PlaceHolder 1"/>
          <p:cNvSpPr>
            <a:spLocks noGrp="1"/>
          </p:cNvSpPr>
          <p:nvPr>
            <p:ph type="sldNum" idx="67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 defTabSz="914400">
              <a:lnSpc>
                <a:spcPct val="108000"/>
              </a:lnSpc>
              <a:buNone/>
              <a:tabLst>
                <a:tab algn="l" pos="0"/>
              </a:tabLst>
              <a:defRPr b="0" lang="ru-RU" sz="1130" spc="-1" strike="noStrike">
                <a:solidFill>
                  <a:srgbClr val="520978"/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8000"/>
              </a:lnSpc>
              <a:buNone/>
              <a:tabLst>
                <a:tab algn="l" pos="0"/>
              </a:tabLst>
            </a:pPr>
            <a:fld id="{DA989409-A6E2-44BA-A166-5870B24FFEE4}" type="slidenum">
              <a:rPr b="0" lang="ru-RU" sz="1130" spc="-1" strike="noStrike">
                <a:solidFill>
                  <a:srgbClr val="520978"/>
                </a:solidFill>
                <a:latin typeface="Montserrat"/>
                <a:ea typeface="Montserrat"/>
              </a:rPr>
              <a:t>9</a:t>
            </a:fld>
            <a:endParaRPr b="0" lang="ru-RU" sz="1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Полилиния: фигура 13"/>
          <p:cNvSpPr/>
          <p:nvPr/>
        </p:nvSpPr>
        <p:spPr>
          <a:xfrm>
            <a:off x="4973760" y="1208880"/>
            <a:ext cx="2240640" cy="4662000"/>
          </a:xfrm>
          <a:custGeom>
            <a:avLst/>
            <a:gdLst>
              <a:gd name="textAreaLeft" fmla="*/ 0 w 2240640"/>
              <a:gd name="textAreaRight" fmla="*/ 2241360 w 2240640"/>
              <a:gd name="textAreaTop" fmla="*/ 0 h 4662000"/>
              <a:gd name="textAreaBottom" fmla="*/ 4662720 h 4662000"/>
            </a:gdLst>
            <a:ahLst/>
            <a:rect l="textAreaLeft" t="textAreaTop" r="textAreaRight" b="textAreaBottom"/>
            <a:pathLst>
              <a:path w="1781175" h="3705225">
                <a:moveTo>
                  <a:pt x="1525905" y="7144"/>
                </a:moveTo>
                <a:lnTo>
                  <a:pt x="257461" y="7144"/>
                </a:lnTo>
                <a:cubicBezTo>
                  <a:pt x="119253" y="7144"/>
                  <a:pt x="7144" y="119253"/>
                  <a:pt x="7144" y="257461"/>
                </a:cubicBezTo>
                <a:lnTo>
                  <a:pt x="7144" y="3450050"/>
                </a:lnTo>
                <a:cubicBezTo>
                  <a:pt x="7144" y="3588258"/>
                  <a:pt x="119253" y="3700367"/>
                  <a:pt x="257461" y="3700367"/>
                </a:cubicBezTo>
                <a:lnTo>
                  <a:pt x="1525905" y="3700367"/>
                </a:lnTo>
                <a:cubicBezTo>
                  <a:pt x="1664113" y="3700367"/>
                  <a:pt x="1776222" y="3588258"/>
                  <a:pt x="1776222" y="3450050"/>
                </a:cubicBezTo>
                <a:lnTo>
                  <a:pt x="1776222" y="257461"/>
                </a:lnTo>
                <a:cubicBezTo>
                  <a:pt x="1776222" y="119253"/>
                  <a:pt x="1664113" y="7144"/>
                  <a:pt x="1525905" y="7144"/>
                </a:cubicBezTo>
                <a:close/>
                <a:moveTo>
                  <a:pt x="1751933" y="3441287"/>
                </a:moveTo>
                <a:cubicBezTo>
                  <a:pt x="1751933" y="3570923"/>
                  <a:pt x="1646777" y="3676079"/>
                  <a:pt x="1517142" y="3676079"/>
                </a:cubicBezTo>
                <a:lnTo>
                  <a:pt x="266224" y="3676079"/>
                </a:lnTo>
                <a:cubicBezTo>
                  <a:pt x="136589" y="3676079"/>
                  <a:pt x="31433" y="3570923"/>
                  <a:pt x="31433" y="3441287"/>
                </a:cubicBezTo>
                <a:lnTo>
                  <a:pt x="31433" y="266224"/>
                </a:lnTo>
                <a:cubicBezTo>
                  <a:pt x="31433" y="136589"/>
                  <a:pt x="136589" y="31433"/>
                  <a:pt x="266224" y="31433"/>
                </a:cubicBezTo>
                <a:lnTo>
                  <a:pt x="1517047" y="31433"/>
                </a:lnTo>
                <a:cubicBezTo>
                  <a:pt x="1646682" y="31433"/>
                  <a:pt x="1751838" y="136589"/>
                  <a:pt x="1751838" y="266224"/>
                </a:cubicBezTo>
                <a:lnTo>
                  <a:pt x="1751838" y="3441287"/>
                </a:lnTo>
                <a:close/>
              </a:path>
            </a:pathLst>
          </a:custGeom>
          <a:solidFill>
            <a:schemeClr val="accent5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09" name="Полилиния: фигура 14"/>
          <p:cNvSpPr/>
          <p:nvPr/>
        </p:nvSpPr>
        <p:spPr>
          <a:xfrm>
            <a:off x="5054400" y="1208880"/>
            <a:ext cx="2144880" cy="370800"/>
          </a:xfrm>
          <a:custGeom>
            <a:avLst/>
            <a:gdLst>
              <a:gd name="textAreaLeft" fmla="*/ 0 w 2144880"/>
              <a:gd name="textAreaRight" fmla="*/ 2145600 w 2144880"/>
              <a:gd name="textAreaTop" fmla="*/ 0 h 370800"/>
              <a:gd name="textAreaBottom" fmla="*/ 371520 h 370800"/>
            </a:gdLst>
            <a:ahLst/>
            <a:rect l="textAreaLeft" t="textAreaTop" r="textAreaRight" b="textAreaBottom"/>
            <a:pathLst>
              <a:path w="1704975" h="295275">
                <a:moveTo>
                  <a:pt x="7144" y="93266"/>
                </a:moveTo>
                <a:cubicBezTo>
                  <a:pt x="58103" y="47736"/>
                  <a:pt x="124015" y="12303"/>
                  <a:pt x="201454" y="13256"/>
                </a:cubicBezTo>
                <a:lnTo>
                  <a:pt x="1404271" y="15637"/>
                </a:lnTo>
                <a:cubicBezTo>
                  <a:pt x="1560767" y="25067"/>
                  <a:pt x="1698498" y="110697"/>
                  <a:pt x="1703832" y="292815"/>
                </a:cubicBezTo>
                <a:cubicBezTo>
                  <a:pt x="1703832" y="312912"/>
                  <a:pt x="1714595" y="140319"/>
                  <a:pt x="1602772" y="64596"/>
                </a:cubicBezTo>
                <a:cubicBezTo>
                  <a:pt x="1549622" y="26496"/>
                  <a:pt x="1471136" y="9827"/>
                  <a:pt x="1423987" y="8874"/>
                </a:cubicBezTo>
                <a:cubicBezTo>
                  <a:pt x="1346740" y="7446"/>
                  <a:pt x="327660" y="5826"/>
                  <a:pt x="202787" y="8874"/>
                </a:cubicBezTo>
                <a:cubicBezTo>
                  <a:pt x="98203" y="11446"/>
                  <a:pt x="49149" y="53642"/>
                  <a:pt x="7144" y="93266"/>
                </a:cubicBezTo>
                <a:close/>
              </a:path>
            </a:pathLst>
          </a:cu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10" name="Полилиния: фигура 15"/>
          <p:cNvSpPr/>
          <p:nvPr/>
        </p:nvSpPr>
        <p:spPr>
          <a:xfrm>
            <a:off x="5000760" y="1239120"/>
            <a:ext cx="2180880" cy="4601880"/>
          </a:xfrm>
          <a:custGeom>
            <a:avLst/>
            <a:gdLst>
              <a:gd name="textAreaLeft" fmla="*/ 0 w 2180880"/>
              <a:gd name="textAreaRight" fmla="*/ 2181600 w 2180880"/>
              <a:gd name="textAreaTop" fmla="*/ 0 h 4601880"/>
              <a:gd name="textAreaBottom" fmla="*/ 4602600 h 4601880"/>
            </a:gdLst>
            <a:ahLst/>
            <a:rect l="textAreaLeft" t="textAreaTop" r="textAreaRight" b="textAreaBottom"/>
            <a:pathLst>
              <a:path w="1733550" h="3657600">
                <a:moveTo>
                  <a:pt x="1492758" y="7144"/>
                </a:moveTo>
                <a:lnTo>
                  <a:pt x="241935" y="7144"/>
                </a:lnTo>
                <a:cubicBezTo>
                  <a:pt x="112300" y="7144"/>
                  <a:pt x="7144" y="112300"/>
                  <a:pt x="7144" y="241935"/>
                </a:cubicBezTo>
                <a:lnTo>
                  <a:pt x="7144" y="3416999"/>
                </a:lnTo>
                <a:cubicBezTo>
                  <a:pt x="7144" y="3546634"/>
                  <a:pt x="112300" y="3651790"/>
                  <a:pt x="241935" y="3651790"/>
                </a:cubicBezTo>
                <a:lnTo>
                  <a:pt x="1492758" y="3651790"/>
                </a:lnTo>
                <a:cubicBezTo>
                  <a:pt x="1622393" y="3651790"/>
                  <a:pt x="1727549" y="3546634"/>
                  <a:pt x="1727549" y="3416999"/>
                </a:cubicBezTo>
                <a:lnTo>
                  <a:pt x="1727549" y="241935"/>
                </a:lnTo>
                <a:cubicBezTo>
                  <a:pt x="1727549" y="112300"/>
                  <a:pt x="1622393" y="7144"/>
                  <a:pt x="1492758" y="7144"/>
                </a:cubicBezTo>
                <a:close/>
                <a:moveTo>
                  <a:pt x="1715357" y="3409950"/>
                </a:moveTo>
                <a:cubicBezTo>
                  <a:pt x="1715357" y="3536823"/>
                  <a:pt x="1612487" y="3639693"/>
                  <a:pt x="1485614" y="3639693"/>
                </a:cubicBezTo>
                <a:lnTo>
                  <a:pt x="248984" y="3639693"/>
                </a:lnTo>
                <a:cubicBezTo>
                  <a:pt x="122111" y="3639693"/>
                  <a:pt x="19241" y="3536823"/>
                  <a:pt x="19241" y="3409950"/>
                </a:cubicBezTo>
                <a:lnTo>
                  <a:pt x="19241" y="248984"/>
                </a:lnTo>
                <a:cubicBezTo>
                  <a:pt x="19241" y="122111"/>
                  <a:pt x="122111" y="19336"/>
                  <a:pt x="248984" y="19336"/>
                </a:cubicBezTo>
                <a:lnTo>
                  <a:pt x="1485710" y="19336"/>
                </a:lnTo>
                <a:cubicBezTo>
                  <a:pt x="1612583" y="19336"/>
                  <a:pt x="1715452" y="122206"/>
                  <a:pt x="1715452" y="249079"/>
                </a:cubicBezTo>
                <a:lnTo>
                  <a:pt x="1715452" y="3409950"/>
                </a:lnTo>
                <a:close/>
              </a:path>
            </a:pathLst>
          </a:custGeom>
          <a:solidFill>
            <a:schemeClr val="accent5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11" name="Полилиния: фигура 16"/>
          <p:cNvSpPr/>
          <p:nvPr/>
        </p:nvSpPr>
        <p:spPr>
          <a:xfrm>
            <a:off x="4999320" y="1080000"/>
            <a:ext cx="2200680" cy="4759200"/>
          </a:xfrm>
          <a:custGeom>
            <a:avLst/>
            <a:gdLst>
              <a:gd name="textAreaLeft" fmla="*/ 0 w 2200680"/>
              <a:gd name="textAreaRight" fmla="*/ 2201400 w 2200680"/>
              <a:gd name="textAreaTop" fmla="*/ 0 h 4759200"/>
              <a:gd name="textAreaBottom" fmla="*/ 4759920 h 4759200"/>
            </a:gdLst>
            <a:ahLst/>
            <a:rect l="textAreaLeft" t="textAreaTop" r="textAreaRight" b="textAreaBottom"/>
            <a:pathLst>
              <a:path w="1733550" h="3657600">
                <a:moveTo>
                  <a:pt x="1493996" y="3654266"/>
                </a:moveTo>
                <a:lnTo>
                  <a:pt x="243078" y="3654266"/>
                </a:lnTo>
                <a:cubicBezTo>
                  <a:pt x="112967" y="3654266"/>
                  <a:pt x="7144" y="3548444"/>
                  <a:pt x="7144" y="3418237"/>
                </a:cubicBezTo>
                <a:lnTo>
                  <a:pt x="7144" y="243173"/>
                </a:lnTo>
                <a:cubicBezTo>
                  <a:pt x="7049" y="113062"/>
                  <a:pt x="112967" y="7144"/>
                  <a:pt x="243078" y="7144"/>
                </a:cubicBezTo>
                <a:lnTo>
                  <a:pt x="1493996" y="7144"/>
                </a:lnTo>
                <a:cubicBezTo>
                  <a:pt x="1624108" y="7144"/>
                  <a:pt x="1729931" y="112967"/>
                  <a:pt x="1729931" y="243078"/>
                </a:cubicBezTo>
                <a:lnTo>
                  <a:pt x="1729931" y="3418142"/>
                </a:lnTo>
                <a:cubicBezTo>
                  <a:pt x="1729931" y="3548253"/>
                  <a:pt x="1624108" y="3654171"/>
                  <a:pt x="1493996" y="3654171"/>
                </a:cubicBezTo>
                <a:close/>
                <a:moveTo>
                  <a:pt x="243078" y="9525"/>
                </a:moveTo>
                <a:cubicBezTo>
                  <a:pt x="114300" y="9525"/>
                  <a:pt x="9430" y="114395"/>
                  <a:pt x="9430" y="243173"/>
                </a:cubicBezTo>
                <a:lnTo>
                  <a:pt x="9430" y="3418237"/>
                </a:lnTo>
                <a:cubicBezTo>
                  <a:pt x="9430" y="3547015"/>
                  <a:pt x="114205" y="3651885"/>
                  <a:pt x="242983" y="3651885"/>
                </a:cubicBezTo>
                <a:lnTo>
                  <a:pt x="1493901" y="3651885"/>
                </a:lnTo>
                <a:cubicBezTo>
                  <a:pt x="1622679" y="3651885"/>
                  <a:pt x="1727454" y="3547110"/>
                  <a:pt x="1727454" y="3418237"/>
                </a:cubicBezTo>
                <a:lnTo>
                  <a:pt x="1727454" y="243173"/>
                </a:lnTo>
                <a:cubicBezTo>
                  <a:pt x="1727454" y="114395"/>
                  <a:pt x="1622679" y="9620"/>
                  <a:pt x="1493901" y="9620"/>
                </a:cubicBezTo>
                <a:lnTo>
                  <a:pt x="243078" y="9620"/>
                </a:lnTo>
                <a:close/>
                <a:moveTo>
                  <a:pt x="1486853" y="3642074"/>
                </a:moveTo>
                <a:lnTo>
                  <a:pt x="250127" y="3642074"/>
                </a:lnTo>
                <a:cubicBezTo>
                  <a:pt x="122777" y="3642074"/>
                  <a:pt x="19241" y="3538442"/>
                  <a:pt x="19241" y="3411188"/>
                </a:cubicBezTo>
                <a:lnTo>
                  <a:pt x="19241" y="250222"/>
                </a:lnTo>
                <a:cubicBezTo>
                  <a:pt x="19241" y="122968"/>
                  <a:pt x="122873" y="19336"/>
                  <a:pt x="250127" y="19336"/>
                </a:cubicBezTo>
                <a:lnTo>
                  <a:pt x="1486853" y="19336"/>
                </a:lnTo>
                <a:cubicBezTo>
                  <a:pt x="1614202" y="19336"/>
                  <a:pt x="1717739" y="122968"/>
                  <a:pt x="1717739" y="250222"/>
                </a:cubicBezTo>
                <a:lnTo>
                  <a:pt x="1717739" y="3411093"/>
                </a:lnTo>
                <a:cubicBezTo>
                  <a:pt x="1717739" y="3538442"/>
                  <a:pt x="1614107" y="3641979"/>
                  <a:pt x="1486853" y="3641979"/>
                </a:cubicBezTo>
                <a:close/>
                <a:moveTo>
                  <a:pt x="250127" y="21717"/>
                </a:moveTo>
                <a:cubicBezTo>
                  <a:pt x="124111" y="21717"/>
                  <a:pt x="21622" y="124206"/>
                  <a:pt x="21622" y="250222"/>
                </a:cubicBezTo>
                <a:lnTo>
                  <a:pt x="21622" y="3411093"/>
                </a:lnTo>
                <a:cubicBezTo>
                  <a:pt x="21622" y="3537109"/>
                  <a:pt x="124111" y="3639598"/>
                  <a:pt x="250127" y="3639598"/>
                </a:cubicBezTo>
                <a:lnTo>
                  <a:pt x="1486853" y="3639598"/>
                </a:lnTo>
                <a:cubicBezTo>
                  <a:pt x="1612868" y="3639598"/>
                  <a:pt x="1715357" y="3537109"/>
                  <a:pt x="1715357" y="3411093"/>
                </a:cubicBezTo>
                <a:lnTo>
                  <a:pt x="1715357" y="250222"/>
                </a:lnTo>
                <a:cubicBezTo>
                  <a:pt x="1715357" y="124206"/>
                  <a:pt x="1612868" y="21717"/>
                  <a:pt x="1486853" y="21717"/>
                </a:cubicBezTo>
                <a:lnTo>
                  <a:pt x="250127" y="21717"/>
                </a:lnTo>
                <a:close/>
              </a:path>
            </a:pathLst>
          </a:cu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12" name="Полилиния: фигура 17"/>
          <p:cNvSpPr/>
          <p:nvPr/>
        </p:nvSpPr>
        <p:spPr>
          <a:xfrm>
            <a:off x="5054400" y="5493960"/>
            <a:ext cx="2144880" cy="370800"/>
          </a:xfrm>
          <a:custGeom>
            <a:avLst/>
            <a:gdLst>
              <a:gd name="textAreaLeft" fmla="*/ 0 w 2144880"/>
              <a:gd name="textAreaRight" fmla="*/ 2145600 w 2144880"/>
              <a:gd name="textAreaTop" fmla="*/ 0 h 370800"/>
              <a:gd name="textAreaBottom" fmla="*/ 371520 h 370800"/>
            </a:gdLst>
            <a:ahLst/>
            <a:rect l="textAreaLeft" t="textAreaTop" r="textAreaRight" b="textAreaBottom"/>
            <a:pathLst>
              <a:path w="1704975" h="295275">
                <a:moveTo>
                  <a:pt x="7144" y="208404"/>
                </a:moveTo>
                <a:cubicBezTo>
                  <a:pt x="58103" y="253933"/>
                  <a:pt x="124015" y="289366"/>
                  <a:pt x="201454" y="288318"/>
                </a:cubicBezTo>
                <a:lnTo>
                  <a:pt x="1404271" y="285937"/>
                </a:lnTo>
                <a:cubicBezTo>
                  <a:pt x="1560767" y="276507"/>
                  <a:pt x="1698498" y="190878"/>
                  <a:pt x="1703832" y="8760"/>
                </a:cubicBezTo>
                <a:cubicBezTo>
                  <a:pt x="1703832" y="-11338"/>
                  <a:pt x="1714595" y="161255"/>
                  <a:pt x="1602772" y="236979"/>
                </a:cubicBezTo>
                <a:cubicBezTo>
                  <a:pt x="1549622" y="275079"/>
                  <a:pt x="1471136" y="291748"/>
                  <a:pt x="1423987" y="292700"/>
                </a:cubicBezTo>
                <a:cubicBezTo>
                  <a:pt x="1346740" y="294129"/>
                  <a:pt x="327660" y="295748"/>
                  <a:pt x="202787" y="292700"/>
                </a:cubicBezTo>
                <a:cubicBezTo>
                  <a:pt x="98203" y="290128"/>
                  <a:pt x="49054" y="247932"/>
                  <a:pt x="7144" y="208404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13" name="Полилиния: фигура 18"/>
          <p:cNvSpPr/>
          <p:nvPr/>
        </p:nvSpPr>
        <p:spPr>
          <a:xfrm>
            <a:off x="7196400" y="2180520"/>
            <a:ext cx="23400" cy="502560"/>
          </a:xfrm>
          <a:custGeom>
            <a:avLst/>
            <a:gdLst>
              <a:gd name="textAreaLeft" fmla="*/ 0 w 23400"/>
              <a:gd name="textAreaRight" fmla="*/ 24120 w 23400"/>
              <a:gd name="textAreaTop" fmla="*/ 0 h 502560"/>
              <a:gd name="textAreaBottom" fmla="*/ 503280 h 502560"/>
            </a:gdLst>
            <a:ahLst/>
            <a:rect l="textAreaLeft" t="textAreaTop" r="textAreaRight" b="textAreaBottom"/>
            <a:pathLst>
              <a:path w="19050" h="400050">
                <a:moveTo>
                  <a:pt x="7144" y="7144"/>
                </a:moveTo>
                <a:lnTo>
                  <a:pt x="12763" y="7144"/>
                </a:lnTo>
                <a:lnTo>
                  <a:pt x="12763" y="402241"/>
                </a:lnTo>
                <a:lnTo>
                  <a:pt x="7144" y="402241"/>
                </a:lnTo>
                <a:close/>
              </a:path>
            </a:pathLst>
          </a:cu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14" name="Полилиния: фигура 19"/>
          <p:cNvSpPr/>
          <p:nvPr/>
        </p:nvSpPr>
        <p:spPr>
          <a:xfrm>
            <a:off x="7203600" y="2180880"/>
            <a:ext cx="11160" cy="502560"/>
          </a:xfrm>
          <a:custGeom>
            <a:avLst/>
            <a:gdLst>
              <a:gd name="textAreaLeft" fmla="*/ 0 w 11160"/>
              <a:gd name="textAreaRight" fmla="*/ 11880 w 11160"/>
              <a:gd name="textAreaTop" fmla="*/ 0 h 502560"/>
              <a:gd name="textAreaBottom" fmla="*/ 503280 h 502560"/>
            </a:gdLst>
            <a:ahLst/>
            <a:rect l="textAreaLeft" t="textAreaTop" r="textAreaRight" b="textAreaBottom"/>
            <a:pathLst>
              <a:path w="9525" h="400050">
                <a:moveTo>
                  <a:pt x="7144" y="402145"/>
                </a:moveTo>
                <a:lnTo>
                  <a:pt x="7144" y="7144"/>
                </a:lnTo>
                <a:lnTo>
                  <a:pt x="10001" y="10573"/>
                </a:lnTo>
                <a:cubicBezTo>
                  <a:pt x="8572" y="38862"/>
                  <a:pt x="8668" y="370522"/>
                  <a:pt x="10001" y="398717"/>
                </a:cubicBezTo>
                <a:lnTo>
                  <a:pt x="7144" y="402145"/>
                </a:lnTo>
                <a:close/>
              </a:path>
            </a:pathLst>
          </a:cu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15" name="Полилиния: фигура 20"/>
          <p:cNvSpPr/>
          <p:nvPr/>
        </p:nvSpPr>
        <p:spPr>
          <a:xfrm>
            <a:off x="4955400" y="2180520"/>
            <a:ext cx="23400" cy="347040"/>
          </a:xfrm>
          <a:custGeom>
            <a:avLst/>
            <a:gdLst>
              <a:gd name="textAreaLeft" fmla="*/ 0 w 23400"/>
              <a:gd name="textAreaRight" fmla="*/ 24120 w 23400"/>
              <a:gd name="textAreaTop" fmla="*/ 0 h 347040"/>
              <a:gd name="textAreaBottom" fmla="*/ 347760 h 347040"/>
            </a:gdLst>
            <a:ahLst/>
            <a:rect l="textAreaLeft" t="textAreaTop" r="textAreaRight" b="textAreaBottom"/>
            <a:pathLst>
              <a:path w="19050" h="276225">
                <a:moveTo>
                  <a:pt x="7144" y="7144"/>
                </a:moveTo>
                <a:lnTo>
                  <a:pt x="12764" y="7144"/>
                </a:lnTo>
                <a:lnTo>
                  <a:pt x="12764" y="272701"/>
                </a:lnTo>
                <a:lnTo>
                  <a:pt x="7144" y="272701"/>
                </a:lnTo>
                <a:close/>
              </a:path>
            </a:pathLst>
          </a:custGeom>
          <a:solidFill>
            <a:srgbClr val="fe095f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16" name="Полилиния: фигура 21"/>
          <p:cNvSpPr/>
          <p:nvPr/>
        </p:nvSpPr>
        <p:spPr>
          <a:xfrm>
            <a:off x="4951800" y="2180880"/>
            <a:ext cx="11160" cy="347040"/>
          </a:xfrm>
          <a:custGeom>
            <a:avLst/>
            <a:gdLst>
              <a:gd name="textAreaLeft" fmla="*/ 0 w 11160"/>
              <a:gd name="textAreaRight" fmla="*/ 11880 w 11160"/>
              <a:gd name="textAreaTop" fmla="*/ 0 h 347040"/>
              <a:gd name="textAreaBottom" fmla="*/ 347760 h 347040"/>
            </a:gdLst>
            <a:ahLst/>
            <a:rect l="textAreaLeft" t="textAreaTop" r="textAreaRight" b="textAreaBottom"/>
            <a:pathLst>
              <a:path w="9525" h="276225">
                <a:moveTo>
                  <a:pt x="10001" y="272605"/>
                </a:moveTo>
                <a:lnTo>
                  <a:pt x="10001" y="7144"/>
                </a:lnTo>
                <a:lnTo>
                  <a:pt x="7144" y="10573"/>
                </a:lnTo>
                <a:cubicBezTo>
                  <a:pt x="8573" y="38862"/>
                  <a:pt x="8477" y="240982"/>
                  <a:pt x="7144" y="269176"/>
                </a:cubicBezTo>
                <a:lnTo>
                  <a:pt x="10001" y="272605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17" name="Полилиния: фигура 22"/>
          <p:cNvSpPr/>
          <p:nvPr/>
        </p:nvSpPr>
        <p:spPr>
          <a:xfrm>
            <a:off x="4962600" y="2180880"/>
            <a:ext cx="23400" cy="347040"/>
          </a:xfrm>
          <a:custGeom>
            <a:avLst/>
            <a:gdLst>
              <a:gd name="textAreaLeft" fmla="*/ 0 w 23400"/>
              <a:gd name="textAreaRight" fmla="*/ 24120 w 23400"/>
              <a:gd name="textAreaTop" fmla="*/ 0 h 347040"/>
              <a:gd name="textAreaBottom" fmla="*/ 347760 h 347040"/>
            </a:gdLst>
            <a:ahLst/>
            <a:rect l="textAreaLeft" t="textAreaTop" r="textAreaRight" b="textAreaBottom"/>
            <a:pathLst>
              <a:path w="19050" h="276225">
                <a:moveTo>
                  <a:pt x="7144" y="7144"/>
                </a:moveTo>
                <a:lnTo>
                  <a:pt x="13240" y="7144"/>
                </a:lnTo>
                <a:lnTo>
                  <a:pt x="13240" y="272701"/>
                </a:lnTo>
                <a:lnTo>
                  <a:pt x="7144" y="272701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18" name="Полилиния: фигура 23"/>
          <p:cNvSpPr/>
          <p:nvPr/>
        </p:nvSpPr>
        <p:spPr>
          <a:xfrm>
            <a:off x="4955400" y="2599560"/>
            <a:ext cx="23400" cy="347040"/>
          </a:xfrm>
          <a:custGeom>
            <a:avLst/>
            <a:gdLst>
              <a:gd name="textAreaLeft" fmla="*/ 0 w 23400"/>
              <a:gd name="textAreaRight" fmla="*/ 24120 w 23400"/>
              <a:gd name="textAreaTop" fmla="*/ 0 h 347040"/>
              <a:gd name="textAreaBottom" fmla="*/ 347760 h 347040"/>
            </a:gdLst>
            <a:ahLst/>
            <a:rect l="textAreaLeft" t="textAreaTop" r="textAreaRight" b="textAreaBottom"/>
            <a:pathLst>
              <a:path w="19050" h="276225">
                <a:moveTo>
                  <a:pt x="7144" y="7144"/>
                </a:moveTo>
                <a:lnTo>
                  <a:pt x="12764" y="7144"/>
                </a:lnTo>
                <a:lnTo>
                  <a:pt x="12764" y="272701"/>
                </a:lnTo>
                <a:lnTo>
                  <a:pt x="7144" y="272701"/>
                </a:lnTo>
                <a:close/>
              </a:path>
            </a:pathLst>
          </a:custGeom>
          <a:solidFill>
            <a:srgbClr val="fe095f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19" name="Полилиния: фигура 24"/>
          <p:cNvSpPr/>
          <p:nvPr/>
        </p:nvSpPr>
        <p:spPr>
          <a:xfrm>
            <a:off x="4951800" y="2599920"/>
            <a:ext cx="11160" cy="347040"/>
          </a:xfrm>
          <a:custGeom>
            <a:avLst/>
            <a:gdLst>
              <a:gd name="textAreaLeft" fmla="*/ 0 w 11160"/>
              <a:gd name="textAreaRight" fmla="*/ 11880 w 11160"/>
              <a:gd name="textAreaTop" fmla="*/ 0 h 347040"/>
              <a:gd name="textAreaBottom" fmla="*/ 347760 h 347040"/>
            </a:gdLst>
            <a:ahLst/>
            <a:rect l="textAreaLeft" t="textAreaTop" r="textAreaRight" b="textAreaBottom"/>
            <a:pathLst>
              <a:path w="9525" h="276225">
                <a:moveTo>
                  <a:pt x="10001" y="272605"/>
                </a:moveTo>
                <a:lnTo>
                  <a:pt x="10001" y="7144"/>
                </a:lnTo>
                <a:lnTo>
                  <a:pt x="7144" y="10573"/>
                </a:lnTo>
                <a:cubicBezTo>
                  <a:pt x="8573" y="38862"/>
                  <a:pt x="8477" y="240983"/>
                  <a:pt x="7144" y="269176"/>
                </a:cubicBezTo>
                <a:lnTo>
                  <a:pt x="10001" y="272605"/>
                </a:lnTo>
                <a:close/>
              </a:path>
            </a:pathLst>
          </a:cu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20" name="Полилиния: фигура 25"/>
          <p:cNvSpPr/>
          <p:nvPr/>
        </p:nvSpPr>
        <p:spPr>
          <a:xfrm>
            <a:off x="4962600" y="2599560"/>
            <a:ext cx="23400" cy="347040"/>
          </a:xfrm>
          <a:custGeom>
            <a:avLst/>
            <a:gdLst>
              <a:gd name="textAreaLeft" fmla="*/ 0 w 23400"/>
              <a:gd name="textAreaRight" fmla="*/ 24120 w 23400"/>
              <a:gd name="textAreaTop" fmla="*/ 0 h 347040"/>
              <a:gd name="textAreaBottom" fmla="*/ 347760 h 347040"/>
            </a:gdLst>
            <a:ahLst/>
            <a:rect l="textAreaLeft" t="textAreaTop" r="textAreaRight" b="textAreaBottom"/>
            <a:pathLst>
              <a:path w="19050" h="276225">
                <a:moveTo>
                  <a:pt x="7144" y="7144"/>
                </a:moveTo>
                <a:lnTo>
                  <a:pt x="13240" y="7144"/>
                </a:lnTo>
                <a:lnTo>
                  <a:pt x="13240" y="272701"/>
                </a:lnTo>
                <a:lnTo>
                  <a:pt x="7144" y="272701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21" name="Полилиния: фигура 26"/>
          <p:cNvSpPr/>
          <p:nvPr/>
        </p:nvSpPr>
        <p:spPr>
          <a:xfrm>
            <a:off x="4955400" y="1784880"/>
            <a:ext cx="23400" cy="191160"/>
          </a:xfrm>
          <a:custGeom>
            <a:avLst/>
            <a:gdLst>
              <a:gd name="textAreaLeft" fmla="*/ 0 w 23400"/>
              <a:gd name="textAreaRight" fmla="*/ 24120 w 23400"/>
              <a:gd name="textAreaTop" fmla="*/ 0 h 191160"/>
              <a:gd name="textAreaBottom" fmla="*/ 191880 h 191160"/>
            </a:gdLst>
            <a:ahLst/>
            <a:rect l="textAreaLeft" t="textAreaTop" r="textAreaRight" b="textAreaBottom"/>
            <a:pathLst>
              <a:path w="19050" h="152400">
                <a:moveTo>
                  <a:pt x="7144" y="7144"/>
                </a:moveTo>
                <a:lnTo>
                  <a:pt x="12764" y="7144"/>
                </a:lnTo>
                <a:lnTo>
                  <a:pt x="12764" y="151257"/>
                </a:lnTo>
                <a:lnTo>
                  <a:pt x="7144" y="151257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22" name="Полилиния: фигура 27"/>
          <p:cNvSpPr/>
          <p:nvPr/>
        </p:nvSpPr>
        <p:spPr>
          <a:xfrm>
            <a:off x="4951800" y="1785240"/>
            <a:ext cx="11160" cy="191160"/>
          </a:xfrm>
          <a:custGeom>
            <a:avLst/>
            <a:gdLst>
              <a:gd name="textAreaLeft" fmla="*/ 0 w 11160"/>
              <a:gd name="textAreaRight" fmla="*/ 11880 w 11160"/>
              <a:gd name="textAreaTop" fmla="*/ 0 h 191160"/>
              <a:gd name="textAreaBottom" fmla="*/ 191880 h 191160"/>
            </a:gdLst>
            <a:ahLst/>
            <a:rect l="textAreaLeft" t="textAreaTop" r="textAreaRight" b="textAreaBottom"/>
            <a:pathLst>
              <a:path w="9525" h="152400">
                <a:moveTo>
                  <a:pt x="10001" y="151162"/>
                </a:moveTo>
                <a:lnTo>
                  <a:pt x="10001" y="7144"/>
                </a:lnTo>
                <a:lnTo>
                  <a:pt x="7144" y="10573"/>
                </a:lnTo>
                <a:cubicBezTo>
                  <a:pt x="8573" y="38862"/>
                  <a:pt x="8477" y="119539"/>
                  <a:pt x="7144" y="147733"/>
                </a:cubicBezTo>
                <a:lnTo>
                  <a:pt x="10001" y="151162"/>
                </a:lnTo>
                <a:close/>
              </a:path>
            </a:pathLst>
          </a:custGeom>
          <a:solidFill>
            <a:srgbClr val="a0a0a0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23" name="Полилиния: фигура 28"/>
          <p:cNvSpPr/>
          <p:nvPr/>
        </p:nvSpPr>
        <p:spPr>
          <a:xfrm>
            <a:off x="4962600" y="1785240"/>
            <a:ext cx="23400" cy="191160"/>
          </a:xfrm>
          <a:custGeom>
            <a:avLst/>
            <a:gdLst>
              <a:gd name="textAreaLeft" fmla="*/ 0 w 23400"/>
              <a:gd name="textAreaRight" fmla="*/ 24120 w 23400"/>
              <a:gd name="textAreaTop" fmla="*/ 0 h 191160"/>
              <a:gd name="textAreaBottom" fmla="*/ 191880 h 191160"/>
            </a:gdLst>
            <a:ahLst/>
            <a:rect l="textAreaLeft" t="textAreaTop" r="textAreaRight" b="textAreaBottom"/>
            <a:pathLst>
              <a:path w="19050" h="152400">
                <a:moveTo>
                  <a:pt x="7144" y="7144"/>
                </a:moveTo>
                <a:lnTo>
                  <a:pt x="13240" y="7144"/>
                </a:lnTo>
                <a:lnTo>
                  <a:pt x="13240" y="151257"/>
                </a:lnTo>
                <a:lnTo>
                  <a:pt x="7144" y="151257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24" name="Полилиния: фигура 29"/>
          <p:cNvSpPr/>
          <p:nvPr/>
        </p:nvSpPr>
        <p:spPr>
          <a:xfrm>
            <a:off x="5953320" y="5847840"/>
            <a:ext cx="275040" cy="23400"/>
          </a:xfrm>
          <a:custGeom>
            <a:avLst/>
            <a:gdLst>
              <a:gd name="textAreaLeft" fmla="*/ 0 w 275040"/>
              <a:gd name="textAreaRight" fmla="*/ 275760 w 275040"/>
              <a:gd name="textAreaTop" fmla="*/ 0 h 23400"/>
              <a:gd name="textAreaBottom" fmla="*/ 24120 h 23400"/>
            </a:gdLst>
            <a:ahLst/>
            <a:rect l="textAreaLeft" t="textAreaTop" r="textAreaRight" b="textAreaBottom"/>
            <a:pathLst>
              <a:path w="219075" h="19050">
                <a:moveTo>
                  <a:pt x="197851" y="7144"/>
                </a:moveTo>
                <a:lnTo>
                  <a:pt x="22782" y="7144"/>
                </a:lnTo>
                <a:cubicBezTo>
                  <a:pt x="19257" y="7144"/>
                  <a:pt x="16114" y="7620"/>
                  <a:pt x="15162" y="8192"/>
                </a:cubicBezTo>
                <a:lnTo>
                  <a:pt x="7446" y="11525"/>
                </a:lnTo>
                <a:cubicBezTo>
                  <a:pt x="6018" y="12478"/>
                  <a:pt x="9828" y="13430"/>
                  <a:pt x="15066" y="13430"/>
                </a:cubicBezTo>
                <a:lnTo>
                  <a:pt x="205662" y="13430"/>
                </a:lnTo>
                <a:cubicBezTo>
                  <a:pt x="210900" y="13430"/>
                  <a:pt x="214710" y="12478"/>
                  <a:pt x="213282" y="11525"/>
                </a:cubicBezTo>
                <a:lnTo>
                  <a:pt x="205566" y="8192"/>
                </a:lnTo>
                <a:cubicBezTo>
                  <a:pt x="204614" y="7525"/>
                  <a:pt x="201471" y="7144"/>
                  <a:pt x="197946" y="7144"/>
                </a:cubicBezTo>
                <a:close/>
              </a:path>
            </a:pathLst>
          </a:custGeom>
          <a:solidFill>
            <a:srgbClr val="000000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0880" bIns="-2088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25" name="Полилиния: фигура 30"/>
          <p:cNvSpPr/>
          <p:nvPr/>
        </p:nvSpPr>
        <p:spPr>
          <a:xfrm>
            <a:off x="5797440" y="1302840"/>
            <a:ext cx="574560" cy="178920"/>
          </a:xfrm>
          <a:custGeom>
            <a:avLst/>
            <a:gdLst>
              <a:gd name="textAreaLeft" fmla="*/ 0 w 574560"/>
              <a:gd name="textAreaRight" fmla="*/ 575280 w 574560"/>
              <a:gd name="textAreaTop" fmla="*/ 0 h 178920"/>
              <a:gd name="textAreaBottom" fmla="*/ 179640 h 178920"/>
            </a:gdLst>
            <a:ahLst/>
            <a:rect l="textAreaLeft" t="textAreaTop" r="textAreaRight" b="textAreaBottom"/>
            <a:pathLst>
              <a:path w="457200" h="142875">
                <a:moveTo>
                  <a:pt x="390620" y="136970"/>
                </a:moveTo>
                <a:lnTo>
                  <a:pt x="72009" y="136970"/>
                </a:lnTo>
                <a:cubicBezTo>
                  <a:pt x="36195" y="136970"/>
                  <a:pt x="7144" y="107918"/>
                  <a:pt x="7144" y="72009"/>
                </a:cubicBezTo>
                <a:lnTo>
                  <a:pt x="7144" y="72009"/>
                </a:lnTo>
                <a:cubicBezTo>
                  <a:pt x="7144" y="36195"/>
                  <a:pt x="36195" y="7144"/>
                  <a:pt x="72009" y="7144"/>
                </a:cubicBezTo>
                <a:lnTo>
                  <a:pt x="390620" y="7144"/>
                </a:lnTo>
                <a:cubicBezTo>
                  <a:pt x="426434" y="7144"/>
                  <a:pt x="455486" y="36195"/>
                  <a:pt x="455486" y="72009"/>
                </a:cubicBezTo>
                <a:lnTo>
                  <a:pt x="455486" y="72009"/>
                </a:lnTo>
                <a:cubicBezTo>
                  <a:pt x="455486" y="107823"/>
                  <a:pt x="426434" y="136970"/>
                  <a:pt x="390620" y="136970"/>
                </a:cubicBezTo>
                <a:close/>
              </a:path>
            </a:pathLst>
          </a:custGeom>
          <a:solidFill>
            <a:srgbClr val="000000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26" name="Полилиния: фигура 31"/>
          <p:cNvSpPr/>
          <p:nvPr/>
        </p:nvSpPr>
        <p:spPr>
          <a:xfrm>
            <a:off x="6221880" y="1348920"/>
            <a:ext cx="83160" cy="83160"/>
          </a:xfrm>
          <a:custGeom>
            <a:avLst/>
            <a:gdLst>
              <a:gd name="textAreaLeft" fmla="*/ 0 w 83160"/>
              <a:gd name="textAreaRight" fmla="*/ 83880 w 83160"/>
              <a:gd name="textAreaTop" fmla="*/ 0 h 83160"/>
              <a:gd name="textAreaBottom" fmla="*/ 83880 h 83160"/>
            </a:gdLst>
            <a:ahLst/>
            <a:rect l="textAreaLeft" t="textAreaTop" r="textAreaRight" b="textAreaBottom"/>
            <a:pathLst>
              <a:path w="66675" h="66675">
                <a:moveTo>
                  <a:pt x="63913" y="35528"/>
                </a:moveTo>
                <a:cubicBezTo>
                  <a:pt x="63913" y="51205"/>
                  <a:pt x="51205" y="63913"/>
                  <a:pt x="35528" y="63913"/>
                </a:cubicBezTo>
                <a:cubicBezTo>
                  <a:pt x="19852" y="63913"/>
                  <a:pt x="7144" y="51205"/>
                  <a:pt x="7144" y="35528"/>
                </a:cubicBezTo>
                <a:cubicBezTo>
                  <a:pt x="7144" y="19852"/>
                  <a:pt x="19852" y="7144"/>
                  <a:pt x="35528" y="7144"/>
                </a:cubicBezTo>
                <a:cubicBezTo>
                  <a:pt x="51205" y="7144"/>
                  <a:pt x="63913" y="19852"/>
                  <a:pt x="63913" y="35528"/>
                </a:cubicBezTo>
                <a:close/>
              </a:path>
            </a:pathLst>
          </a:custGeom>
          <a:solidFill>
            <a:srgbClr val="666666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27" name="Рисунок 32"/>
          <p:cNvSpPr/>
          <p:nvPr/>
        </p:nvSpPr>
        <p:spPr>
          <a:xfrm>
            <a:off x="6232320" y="1359720"/>
            <a:ext cx="71280" cy="59040"/>
          </a:xfrm>
          <a:custGeom>
            <a:avLst/>
            <a:gdLst>
              <a:gd name="textAreaLeft" fmla="*/ 0 w 71280"/>
              <a:gd name="textAreaRight" fmla="*/ 72000 w 71280"/>
              <a:gd name="textAreaTop" fmla="*/ 0 h 59040"/>
              <a:gd name="textAreaBottom" fmla="*/ 59760 h 59040"/>
            </a:gdLst>
            <a:ahLst/>
            <a:rect l="textAreaLeft" t="textAreaTop" r="textAreaRight" b="textAreaBottom"/>
            <a:pathLst>
              <a:path w="57150" h="47625">
                <a:moveTo>
                  <a:pt x="0" y="0"/>
                </a:moveTo>
                <a:lnTo>
                  <a:pt x="57150" y="0"/>
                </a:lnTo>
                <a:lnTo>
                  <a:pt x="57150" y="57150"/>
                </a:lnTo>
                <a:lnTo>
                  <a:pt x="0" y="5715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4760" bIns="1476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28" name="Полилиния: фигура 33"/>
          <p:cNvSpPr/>
          <p:nvPr/>
        </p:nvSpPr>
        <p:spPr>
          <a:xfrm>
            <a:off x="6237000" y="1364040"/>
            <a:ext cx="47160" cy="47160"/>
          </a:xfrm>
          <a:custGeom>
            <a:avLst/>
            <a:gdLst>
              <a:gd name="textAreaLeft" fmla="*/ 0 w 47160"/>
              <a:gd name="textAreaRight" fmla="*/ 47880 w 47160"/>
              <a:gd name="textAreaTop" fmla="*/ 0 h 47160"/>
              <a:gd name="textAreaBottom" fmla="*/ 47880 h 47160"/>
            </a:gdLst>
            <a:ahLst/>
            <a:rect l="textAreaLeft" t="textAreaTop" r="textAreaRight" b="textAreaBottom"/>
            <a:pathLst>
              <a:path w="38100" h="38100">
                <a:moveTo>
                  <a:pt x="39529" y="23336"/>
                </a:moveTo>
                <a:cubicBezTo>
                  <a:pt x="39529" y="32279"/>
                  <a:pt x="32279" y="39529"/>
                  <a:pt x="23336" y="39529"/>
                </a:cubicBezTo>
                <a:cubicBezTo>
                  <a:pt x="14393" y="39529"/>
                  <a:pt x="7144" y="32279"/>
                  <a:pt x="7144" y="23336"/>
                </a:cubicBezTo>
                <a:cubicBezTo>
                  <a:pt x="7144" y="14393"/>
                  <a:pt x="14393" y="7144"/>
                  <a:pt x="23336" y="7144"/>
                </a:cubicBezTo>
                <a:cubicBezTo>
                  <a:pt x="32279" y="7144"/>
                  <a:pt x="39529" y="14393"/>
                  <a:pt x="39529" y="23336"/>
                </a:cubicBezTo>
                <a:close/>
              </a:path>
            </a:pathLst>
          </a:custGeom>
          <a:solidFill>
            <a:srgbClr val="0b131c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80" bIns="288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29" name="Полилиния: фигура 34"/>
          <p:cNvSpPr/>
          <p:nvPr/>
        </p:nvSpPr>
        <p:spPr>
          <a:xfrm>
            <a:off x="6239520" y="1366560"/>
            <a:ext cx="47160" cy="47160"/>
          </a:xfrm>
          <a:custGeom>
            <a:avLst/>
            <a:gdLst>
              <a:gd name="textAreaLeft" fmla="*/ 0 w 47160"/>
              <a:gd name="textAreaRight" fmla="*/ 47880 w 47160"/>
              <a:gd name="textAreaTop" fmla="*/ 0 h 47160"/>
              <a:gd name="textAreaBottom" fmla="*/ 47880 h 47160"/>
            </a:gdLst>
            <a:ahLst/>
            <a:rect l="textAreaLeft" t="textAreaTop" r="textAreaRight" b="textAreaBottom"/>
            <a:pathLst>
              <a:path w="38100" h="38100">
                <a:moveTo>
                  <a:pt x="35528" y="21336"/>
                </a:moveTo>
                <a:cubicBezTo>
                  <a:pt x="35528" y="29147"/>
                  <a:pt x="29147" y="35528"/>
                  <a:pt x="21336" y="35528"/>
                </a:cubicBezTo>
                <a:cubicBezTo>
                  <a:pt x="13525" y="35528"/>
                  <a:pt x="7144" y="29242"/>
                  <a:pt x="7144" y="21336"/>
                </a:cubicBezTo>
                <a:cubicBezTo>
                  <a:pt x="7144" y="13430"/>
                  <a:pt x="13430" y="7144"/>
                  <a:pt x="21336" y="7144"/>
                </a:cubicBezTo>
                <a:cubicBezTo>
                  <a:pt x="29242" y="7144"/>
                  <a:pt x="35528" y="13430"/>
                  <a:pt x="35528" y="21336"/>
                </a:cubicBezTo>
                <a:close/>
              </a:path>
            </a:pathLst>
          </a:custGeom>
          <a:solidFill>
            <a:srgbClr val="231f20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80" bIns="288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30" name="Полилиния: фигура 35"/>
          <p:cNvSpPr/>
          <p:nvPr/>
        </p:nvSpPr>
        <p:spPr>
          <a:xfrm>
            <a:off x="6239520" y="1366560"/>
            <a:ext cx="47160" cy="47160"/>
          </a:xfrm>
          <a:custGeom>
            <a:avLst/>
            <a:gdLst>
              <a:gd name="textAreaLeft" fmla="*/ 0 w 47160"/>
              <a:gd name="textAreaRight" fmla="*/ 47880 w 47160"/>
              <a:gd name="textAreaTop" fmla="*/ 0 h 47160"/>
              <a:gd name="textAreaBottom" fmla="*/ 47880 h 47160"/>
            </a:gdLst>
            <a:ahLst/>
            <a:rect l="textAreaLeft" t="textAreaTop" r="textAreaRight" b="textAreaBottom"/>
            <a:pathLst>
              <a:path w="38100" h="38100">
                <a:moveTo>
                  <a:pt x="35528" y="21336"/>
                </a:moveTo>
                <a:cubicBezTo>
                  <a:pt x="35528" y="29147"/>
                  <a:pt x="29147" y="35528"/>
                  <a:pt x="21336" y="35528"/>
                </a:cubicBezTo>
                <a:cubicBezTo>
                  <a:pt x="13525" y="35528"/>
                  <a:pt x="7144" y="29242"/>
                  <a:pt x="7144" y="21336"/>
                </a:cubicBezTo>
                <a:cubicBezTo>
                  <a:pt x="7144" y="13430"/>
                  <a:pt x="13430" y="7144"/>
                  <a:pt x="21336" y="7144"/>
                </a:cubicBezTo>
                <a:cubicBezTo>
                  <a:pt x="29242" y="7144"/>
                  <a:pt x="35528" y="13430"/>
                  <a:pt x="35528" y="21336"/>
                </a:cubicBezTo>
                <a:close/>
              </a:path>
            </a:pathLst>
          </a:custGeom>
          <a:solidFill>
            <a:srgbClr val="231f20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80" bIns="288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31" name="Полилиния: фигура 36"/>
          <p:cNvSpPr/>
          <p:nvPr/>
        </p:nvSpPr>
        <p:spPr>
          <a:xfrm>
            <a:off x="6260760" y="1387440"/>
            <a:ext cx="23400" cy="23400"/>
          </a:xfrm>
          <a:custGeom>
            <a:avLst/>
            <a:gdLst>
              <a:gd name="textAreaLeft" fmla="*/ 0 w 23400"/>
              <a:gd name="textAreaRight" fmla="*/ 24120 w 23400"/>
              <a:gd name="textAreaTop" fmla="*/ 0 h 23400"/>
              <a:gd name="textAreaBottom" fmla="*/ 24120 h 23400"/>
            </a:gdLst>
            <a:ahLst/>
            <a:rect l="textAreaLeft" t="textAreaTop" r="textAreaRight" b="textAreaBottom"/>
            <a:pathLst>
              <a:path w="19050" h="19050">
                <a:moveTo>
                  <a:pt x="17240" y="12192"/>
                </a:moveTo>
                <a:cubicBezTo>
                  <a:pt x="17240" y="9430"/>
                  <a:pt x="14954" y="7144"/>
                  <a:pt x="12192" y="7144"/>
                </a:cubicBezTo>
                <a:cubicBezTo>
                  <a:pt x="9430" y="7144"/>
                  <a:pt x="7144" y="9430"/>
                  <a:pt x="7144" y="12192"/>
                </a:cubicBezTo>
                <a:cubicBezTo>
                  <a:pt x="7144" y="14954"/>
                  <a:pt x="9430" y="17240"/>
                  <a:pt x="12192" y="17240"/>
                </a:cubicBezTo>
                <a:cubicBezTo>
                  <a:pt x="14954" y="17240"/>
                  <a:pt x="17240" y="14954"/>
                  <a:pt x="17240" y="12192"/>
                </a:cubicBezTo>
                <a:close/>
              </a:path>
            </a:pathLst>
          </a:custGeom>
          <a:solidFill>
            <a:srgbClr val="cccccc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0880" bIns="-20880" anchor="ctr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32" name=""/>
          <p:cNvSpPr/>
          <p:nvPr/>
        </p:nvSpPr>
        <p:spPr>
          <a:xfrm>
            <a:off x="356400" y="2020680"/>
            <a:ext cx="381204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Фото с камеры или из галереи. Начинаем с вина, которое есть в каталоге.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8039880" y="2020680"/>
            <a:ext cx="381204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Показываем карточку; спорный ответ — со свёрнутым «Не оно?» и своим снимком.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356400" y="4244040"/>
            <a:ext cx="381204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Второй пример: отказ с чтением этикетки (3–5 с) и аналоги других виноделен.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8039880" y="4244040"/>
            <a:ext cx="381204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В режиме ?debug видны время и уверенность. После поиска переходим к сомелье.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Скругленный прямоугольник 1"/>
          <p:cNvSpPr/>
          <p:nvPr/>
        </p:nvSpPr>
        <p:spPr>
          <a:xfrm>
            <a:off x="345960" y="324720"/>
            <a:ext cx="3111120" cy="62028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237" name="Скругленный прямоугольник 16"/>
          <p:cNvSpPr/>
          <p:nvPr/>
        </p:nvSpPr>
        <p:spPr>
          <a:xfrm>
            <a:off x="5951880" y="1366560"/>
            <a:ext cx="5904720" cy="79092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38" name="Скругленный прямоугольник 17"/>
          <p:cNvSpPr/>
          <p:nvPr/>
        </p:nvSpPr>
        <p:spPr>
          <a:xfrm>
            <a:off x="5951880" y="2377080"/>
            <a:ext cx="5904720" cy="79092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39" name="Скругленный прямоугольник 18"/>
          <p:cNvSpPr/>
          <p:nvPr/>
        </p:nvSpPr>
        <p:spPr>
          <a:xfrm>
            <a:off x="5951880" y="3387600"/>
            <a:ext cx="5904720" cy="79092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40" name="Скругленный прямоугольник 22"/>
          <p:cNvSpPr/>
          <p:nvPr/>
        </p:nvSpPr>
        <p:spPr>
          <a:xfrm>
            <a:off x="5951880" y="4398480"/>
            <a:ext cx="5904720" cy="79092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41" name="Скругленный прямоугольник 23"/>
          <p:cNvSpPr/>
          <p:nvPr/>
        </p:nvSpPr>
        <p:spPr>
          <a:xfrm>
            <a:off x="5951880" y="5409000"/>
            <a:ext cx="5904720" cy="79092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42" name="Скругленный прямоугольник 14"/>
          <p:cNvSpPr/>
          <p:nvPr/>
        </p:nvSpPr>
        <p:spPr>
          <a:xfrm>
            <a:off x="345960" y="1366560"/>
            <a:ext cx="5388840" cy="483372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43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280" cy="413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lang="ru-RU" sz="1500" spc="-1" strike="noStrike" b="1">
                <a:solidFill>
                  <a:srgbClr val="1c1d22"/>
                </a:solidFill>
                <a:latin typeface="Montserrat"/>
                <a:ea typeface="Montserrat"/>
              </a:rPr>
              <a:t>Публичные снимки организатора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100 фотографий. В оценке 97: три со спорной разметкой исключены.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62 кадра с вином каталога, 35 с отсутствующим вином.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Набор использовался при разработке. Это регрессионная проверка.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Итог 88/97 предполагает зачёт правильного отказа. Правило закрытой оценки требует подтверждения.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RTX 5060 Ti 16 ГБ, локальный API.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F1 с отказом: TP — верная карточка, FP — чужая, FN — верной карточки нет.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59760" cy="5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lang="ru-RU" sz="1729" spc="-1" strike="noStrike" b="1">
                <a:solidFill>
                  <a:srgbClr val="520978"/>
                </a:solidFill>
                <a:latin typeface="Montserrat"/>
                <a:ea typeface="Montserrat"/>
              </a:rPr>
              <a:t>F1 топ-1 через API: 90,3%</a:t>
            </a:r>
            <a:endParaRPr b="0" lang="ru-RU" sz="1729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lang="ru-RU" sz="1729" spc="-1" strike="noStrike" b="0">
                <a:solidFill>
                  <a:srgbClr val="520978"/>
                </a:solidFill>
                <a:latin typeface="Montserrat"/>
                <a:ea typeface="Montserrat"/>
              </a:rPr>
              <a:t>test 90,0%; база до VLM: 86,7% / 90,0%</a:t>
            </a:r>
            <a:endParaRPr b="0" lang="ru-RU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59760" cy="5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lang="ru-RU" sz="1729" spc="-1" strike="noStrike" b="1">
                <a:solidFill>
                  <a:srgbClr val="520978"/>
                </a:solidFill>
                <a:latin typeface="Montserrat"/>
                <a:ea typeface="Montserrat"/>
              </a:rPr>
              <a:t>90,3% (56/62)</a:t>
            </a:r>
            <a:endParaRPr b="0" lang="ru-RU" sz="1729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lang="ru-RU" sz="1729" spc="-1" strike="noStrike" b="0">
                <a:solidFill>
                  <a:srgbClr val="520978"/>
                </a:solidFill>
                <a:latin typeface="Montserrat"/>
                <a:ea typeface="Montserrat"/>
              </a:rPr>
              <a:t>Точный slug для вина каталога</a:t>
            </a:r>
            <a:endParaRPr b="0" lang="ru-RU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59760" cy="5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lang="ru-RU" sz="1729" spc="-1" strike="noStrike" b="1">
                <a:solidFill>
                  <a:srgbClr val="520978"/>
                </a:solidFill>
                <a:latin typeface="Montserrat"/>
                <a:ea typeface="Montserrat"/>
              </a:rPr>
              <a:t>91,4% (32/35)</a:t>
            </a:r>
            <a:endParaRPr b="0" lang="ru-RU" sz="1729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lang="ru-RU" sz="1729" spc="-1" strike="noStrike" b="0">
                <a:solidFill>
                  <a:srgbClr val="520978"/>
                </a:solidFill>
                <a:latin typeface="Montserrat"/>
                <a:ea typeface="Montserrat"/>
              </a:rPr>
              <a:t>Верный отказ для вина вне каталога</a:t>
            </a:r>
            <a:endParaRPr b="0" lang="ru-RU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59760" cy="5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lang="ru-RU" sz="1729" spc="-1" strike="noStrike" b="1">
                <a:solidFill>
                  <a:srgbClr val="520978"/>
                </a:solidFill>
                <a:latin typeface="Montserrat"/>
                <a:ea typeface="Montserrat"/>
              </a:rPr>
              <a:t>90,7% (88/97)</a:t>
            </a:r>
            <a:endParaRPr b="0" lang="ru-RU" sz="1729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lang="ru-RU" sz="1729" spc="-1" strike="noStrike" b="0">
                <a:solidFill>
                  <a:srgbClr val="520978"/>
                </a:solidFill>
                <a:latin typeface="Montserrat"/>
                <a:ea typeface="Montserrat"/>
              </a:rPr>
              <a:t>Верный slug или верный отказ</a:t>
            </a:r>
            <a:endParaRPr b="0" lang="ru-RU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59760" cy="5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lang="ru-RU" sz="1729" spc="-1" strike="noStrike" b="1">
                <a:solidFill>
                  <a:srgbClr val="520978"/>
                </a:solidFill>
                <a:latin typeface="Montserrat"/>
                <a:ea typeface="Montserrat"/>
              </a:rPr>
              <a:t>Медиана 1,3 с, p95 4,8 с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lang="ru-RU" sz="1729" spc="-1" strike="noStrike" b="0">
                <a:solidFill>
                  <a:srgbClr val="520978"/>
                </a:solidFill>
                <a:latin typeface="Montserrat"/>
                <a:ea typeface="Montserrat"/>
              </a:rPr>
              <a:t>31 из 97 дольше 3 с — перепроверка VLM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7"/>
          <p:cNvSpPr>
            <a:spLocks noGrp="1"/>
          </p:cNvSpPr>
          <p:nvPr>
            <p:ph type="sldNum" idx="68"/>
          </p:nvPr>
        </p:nvSpPr>
        <p:spPr>
          <a:xfrm>
            <a:off x="11633040" y="6356520"/>
            <a:ext cx="558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 defTabSz="914400">
              <a:lnSpc>
                <a:spcPct val="108000"/>
              </a:lnSpc>
              <a:buNone/>
              <a:tabLst>
                <a:tab algn="l" pos="0"/>
              </a:tabLst>
              <a:defRPr b="0" lang="ru-RU" sz="1130" spc="-1" strike="noStrike">
                <a:solidFill>
                  <a:srgbClr val="520978"/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8000"/>
              </a:lnSpc>
              <a:buNone/>
              <a:tabLst>
                <a:tab algn="l" pos="0"/>
              </a:tabLst>
            </a:pPr>
            <a:fld id="{57CADB8D-4AA6-4EC9-88C5-EEE7091467C6}" type="slidenum">
              <a:rPr b="0" lang="ru-RU" sz="1130" spc="-1" strike="noStrike">
                <a:solidFill>
                  <a:srgbClr val="520978"/>
                </a:solidFill>
                <a:latin typeface="Montserrat"/>
                <a:ea typeface="Montserrat"/>
              </a:rPr>
              <a:t>10</a:t>
            </a:fld>
            <a:endParaRPr b="0" lang="ru-RU" sz="1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PlaceHolder 8"/>
          <p:cNvSpPr>
            <a:spLocks noGrp="1"/>
          </p:cNvSpPr>
          <p:nvPr>
            <p:ph type="title"/>
          </p:nvPr>
        </p:nvSpPr>
        <p:spPr>
          <a:xfrm>
            <a:off x="523800" y="419040"/>
            <a:ext cx="10382040" cy="38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1" lang="ru-RU" sz="2100" spc="-1" strike="noStrike">
                <a:solidFill>
                  <a:srgbClr val="ffffff"/>
                </a:solidFill>
                <a:latin typeface="Montserrat"/>
                <a:ea typeface="Montserrat"/>
              </a:rPr>
              <a:t>МЕТРИКИ API</a:t>
            </a:r>
            <a:endParaRPr b="0" lang="ru-RU" sz="2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Скругленный прямоугольник 7"/>
          <p:cNvSpPr/>
          <p:nvPr/>
        </p:nvSpPr>
        <p:spPr>
          <a:xfrm>
            <a:off x="4419360" y="1522080"/>
            <a:ext cx="3398760" cy="46782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252" name="Скругленный прямоугольник 8"/>
          <p:cNvSpPr/>
          <p:nvPr/>
        </p:nvSpPr>
        <p:spPr>
          <a:xfrm>
            <a:off x="8366040" y="1522080"/>
            <a:ext cx="3247920" cy="46782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253" name="Скругленный прямоугольник 9"/>
          <p:cNvSpPr/>
          <p:nvPr/>
        </p:nvSpPr>
        <p:spPr>
          <a:xfrm>
            <a:off x="623880" y="1522080"/>
            <a:ext cx="3247920" cy="46782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254" name="PlaceHolder 1"/>
          <p:cNvSpPr>
            <a:spLocks noGrp="1"/>
          </p:cNvSpPr>
          <p:nvPr>
            <p:ph type="sldNum" idx="69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 defTabSz="914400">
              <a:lnSpc>
                <a:spcPct val="108000"/>
              </a:lnSpc>
              <a:buNone/>
              <a:tabLst>
                <a:tab algn="l" pos="0"/>
              </a:tabLst>
              <a:defRPr b="0" lang="ru-RU" sz="1130" spc="-1" strike="noStrike">
                <a:solidFill>
                  <a:srgbClr val="520978"/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8000"/>
              </a:lnSpc>
              <a:buNone/>
              <a:tabLst>
                <a:tab algn="l" pos="0"/>
              </a:tabLst>
            </a:pPr>
            <a:fld id="{FC51E9B1-0016-4569-9DD4-B9124B8C715E}" type="slidenum">
              <a:rPr b="0" lang="ru-RU" sz="1130" spc="-1" strike="noStrike">
                <a:solidFill>
                  <a:srgbClr val="520978"/>
                </a:solidFill>
                <a:latin typeface="Montserrat"/>
                <a:ea typeface="Montserrat"/>
              </a:rPr>
              <a:t>14</a:t>
            </a:fld>
            <a:endParaRPr b="0" lang="ru-RU" sz="1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4960" cy="42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  <a:ea typeface="Montserrat"/>
              </a:rPr>
              <a:t>У ОРГАНИЗАТОРА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4960" cy="279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В публичной выборке 35 из 97 кадров содержат вино вне выгрузки. Сервис возвращает null, когда не может подтвердить совпадение.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080" cy="40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  <a:ea typeface="Montserrat"/>
              </a:rPr>
              <a:t>ТОЛЬКО ДАТАСЕТ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080" cy="279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У 12 из 2103 позиций отсутствует эталон. Индекс использует только фотографии датасета кейса. Для этих позиций нужны данные платформы.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4800" cy="40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  <a:ea typeface="Montserrat"/>
              </a:rPr>
              <a:t>ПРАВИЛЬНЫЕ ОТКАЗЫ</a:t>
            </a:r>
            <a:endParaRPr b="0" lang="ru-RU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4800" cy="279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В трёх случаях сервис показал карточку другого вина. На закрытой проверке правило зачёта null нужно согласовать с организатором.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0640" cy="37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  <a:ea typeface="Montserrat"/>
              </a:rPr>
              <a:t>ВИНА ВНЕ КАТАЛОГА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400" cy="60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  <a:ea typeface="Montserrat"/>
              </a:rPr>
              <a:t>35/97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10"/>
          <p:cNvSpPr>
            <a:spLocks noGrp="1"/>
          </p:cNvSpPr>
          <p:nvPr>
            <p:ph/>
          </p:nvPr>
        </p:nvSpPr>
        <p:spPr>
          <a:xfrm>
            <a:off x="4615200" y="1772280"/>
            <a:ext cx="1310400" cy="60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  <a:ea typeface="Montserrat"/>
              </a:rPr>
              <a:t>12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11"/>
          <p:cNvSpPr>
            <a:spLocks noGrp="1"/>
          </p:cNvSpPr>
          <p:nvPr>
            <p:ph/>
          </p:nvPr>
        </p:nvSpPr>
        <p:spPr>
          <a:xfrm>
            <a:off x="8543880" y="1772280"/>
            <a:ext cx="2476080" cy="60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  <a:ea typeface="Montserrat"/>
              </a:rPr>
              <a:t>32/35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Скругленный прямоугольник 1"/>
          <p:cNvSpPr/>
          <p:nvPr/>
        </p:nvSpPr>
        <p:spPr>
          <a:xfrm>
            <a:off x="345960" y="324720"/>
            <a:ext cx="3111120" cy="62028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266" name="PlaceHolder 1"/>
          <p:cNvSpPr>
            <a:spLocks noGrp="1"/>
          </p:cNvSpPr>
          <p:nvPr>
            <p:ph type="sldNum" idx="70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 defTabSz="914400">
              <a:lnSpc>
                <a:spcPct val="108000"/>
              </a:lnSpc>
              <a:buNone/>
              <a:tabLst>
                <a:tab algn="l" pos="0"/>
              </a:tabLst>
              <a:defRPr b="0" lang="ru-RU" sz="1130" spc="-1" strike="noStrike">
                <a:solidFill>
                  <a:srgbClr val="520978"/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8000"/>
              </a:lnSpc>
              <a:buNone/>
              <a:tabLst>
                <a:tab algn="l" pos="0"/>
              </a:tabLst>
            </a:pPr>
            <a:fld id="{26F82C54-103A-4C1B-B9EE-3A78679B9F8B}" type="slidenum">
              <a:rPr b="0" lang="ru-RU" sz="1130" spc="-1" strike="noStrike">
                <a:solidFill>
                  <a:srgbClr val="520978"/>
                </a:solidFill>
                <a:latin typeface="Montserrat"/>
                <a:ea typeface="Montserrat"/>
              </a:rPr>
              <a:t>11</a:t>
            </a:fld>
            <a:endParaRPr b="0" lang="ru-RU" sz="113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67" name="Рисунок 2" descr=""/>
          <p:cNvPicPr/>
          <p:nvPr/>
        </p:nvPicPr>
        <p:blipFill>
          <a:blip r:embed="rId2"/>
          <a:stretch/>
        </p:blipFill>
        <p:spPr>
          <a:xfrm>
            <a:off x="997200" y="2428920"/>
            <a:ext cx="4348800" cy="3333240"/>
          </a:xfrm>
          <a:prstGeom prst="rect">
            <a:avLst/>
          </a:prstGeom>
          <a:ln w="0">
            <a:noFill/>
          </a:ln>
        </p:spPr>
      </p:pic>
      <p:pic>
        <p:nvPicPr>
          <p:cNvPr id="268" name="Рисунок 4" descr=""/>
          <p:cNvPicPr/>
          <p:nvPr/>
        </p:nvPicPr>
        <p:blipFill>
          <a:blip r:embed="rId3"/>
          <a:stretch/>
        </p:blipFill>
        <p:spPr>
          <a:xfrm>
            <a:off x="6661080" y="2143080"/>
            <a:ext cx="4774680" cy="3857400"/>
          </a:xfrm>
          <a:prstGeom prst="rect">
            <a:avLst/>
          </a:prstGeom>
          <a:ln w="0">
            <a:noFill/>
          </a:ln>
        </p:spPr>
      </p:pic>
      <p:sp>
        <p:nvSpPr>
          <p:cNvPr id="269" name="Текст 5"/>
          <p:cNvSpPr/>
          <p:nvPr/>
        </p:nvSpPr>
        <p:spPr>
          <a:xfrm>
            <a:off x="399960" y="1047600"/>
            <a:ext cx="11334240" cy="952200"/>
          </a:xfrm>
          <a:prstGeom prst="roundRect">
            <a:avLst>
              <a:gd name="adj" fmla="val 10128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8000"/>
              </a:lnSpc>
              <a:tabLst>
                <a:tab algn="l" pos="0"/>
              </a:tabLst>
            </a:pPr>
            <a:r>
              <a:rPr b="0" lang="ru-RU" sz="1729" spc="-1" strike="noStrike">
                <a:solidFill>
                  <a:srgbClr val="1c1d22"/>
                </a:solidFill>
                <a:latin typeface="Montserrat"/>
                <a:ea typeface="Montserrat"/>
              </a:rPr>
              <a:t>Сомелье подбирает вина к блюду и объясняет выбор. Аналоги помогают сравнить подходящие позиции других производителей.</a:t>
            </a:r>
            <a:endParaRPr b="0" lang="ru-RU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2774880" cy="37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ПОСЛЕ ПОИСКА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"/>
          <p:cNvSpPr/>
          <p:nvPr/>
        </p:nvSpPr>
        <p:spPr>
          <a:xfrm>
            <a:off x="457200" y="1990800"/>
            <a:ext cx="542880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650" spc="-1" strike="noStrike">
                <a:solidFill>
                  <a:srgbClr val="520978"/>
                </a:solidFill>
                <a:latin typeface="Montserrat"/>
                <a:ea typeface="Montserrat"/>
              </a:rPr>
              <a:t>Ужин дома, сыры, полусладкое</a:t>
            </a:r>
            <a:endParaRPr b="0" lang="ru-RU" sz="1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Скругленный прямоугольник 1"/>
          <p:cNvSpPr/>
          <p:nvPr/>
        </p:nvSpPr>
        <p:spPr>
          <a:xfrm>
            <a:off x="345960" y="324720"/>
            <a:ext cx="3111120" cy="620280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273" name="Скругленный прямоугольник 16"/>
          <p:cNvSpPr/>
          <p:nvPr/>
        </p:nvSpPr>
        <p:spPr>
          <a:xfrm>
            <a:off x="5951880" y="1366560"/>
            <a:ext cx="5904720" cy="79092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74" name="Скругленный прямоугольник 17"/>
          <p:cNvSpPr/>
          <p:nvPr/>
        </p:nvSpPr>
        <p:spPr>
          <a:xfrm>
            <a:off x="5951880" y="2377080"/>
            <a:ext cx="5904720" cy="79092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75" name="Скругленный прямоугольник 18"/>
          <p:cNvSpPr/>
          <p:nvPr/>
        </p:nvSpPr>
        <p:spPr>
          <a:xfrm>
            <a:off x="5951880" y="3387600"/>
            <a:ext cx="5904720" cy="79092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76" name="Скругленный прямоугольник 22"/>
          <p:cNvSpPr/>
          <p:nvPr/>
        </p:nvSpPr>
        <p:spPr>
          <a:xfrm>
            <a:off x="5951880" y="4398480"/>
            <a:ext cx="5904720" cy="79092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77" name="Скругленный прямоугольник 23"/>
          <p:cNvSpPr/>
          <p:nvPr/>
        </p:nvSpPr>
        <p:spPr>
          <a:xfrm>
            <a:off x="5951880" y="5409000"/>
            <a:ext cx="5904720" cy="790920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78" name="Скругленный прямоугольник 14"/>
          <p:cNvSpPr/>
          <p:nvPr/>
        </p:nvSpPr>
        <p:spPr>
          <a:xfrm>
            <a:off x="345960" y="1366560"/>
            <a:ext cx="5388840" cy="4833720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279" name="PlaceHolder 1"/>
          <p:cNvSpPr>
            <a:spLocks noGrp="1"/>
          </p:cNvSpPr>
          <p:nvPr>
            <p:ph/>
          </p:nvPr>
        </p:nvSpPr>
        <p:spPr>
          <a:xfrm>
            <a:off x="623880" y="1731960"/>
            <a:ext cx="4733280" cy="413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lang="ru-RU" sz="1580" spc="-1" strike="noStrike" b="1">
                <a:solidFill>
                  <a:srgbClr val="1c1d22"/>
                </a:solidFill>
                <a:latin typeface="Montserrat"/>
                <a:ea typeface="Montserrat"/>
              </a:rPr>
              <a:t>Шесть ошибок на 62 кадрах с вином каталога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Два кадра «Заката»: нет эталона.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АРАТТИ «Каберне по-белому»: в каталоге две карточки (13% и полусухое 12%), выбрана вторая.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Formula Q и «Поздний сбор»: перепутаны соседи по линейке.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Velvet Season: отказ при существующем ответе.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/>
          </p:nvPr>
        </p:nvSpPr>
        <p:spPr>
          <a:xfrm>
            <a:off x="6172560" y="1445400"/>
            <a:ext cx="5459760" cy="5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lang="ru-RU" sz="1580" spc="-1" strike="noStrike" b="1">
                <a:solidFill>
                  <a:srgbClr val="520978"/>
                </a:solidFill>
                <a:latin typeface="Montserrat"/>
                <a:ea typeface="Montserrat"/>
              </a:rPr>
              <a:t>Независимая съёмка 300+ кадров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520978"/>
                </a:solidFill>
                <a:latin typeface="Montserrat"/>
                <a:ea typeface="Montserrat"/>
              </a:rPr>
              <a:t>Согласованный каталог и правило зачёта null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/>
          </p:nvPr>
        </p:nvSpPr>
        <p:spPr>
          <a:xfrm>
            <a:off x="6172560" y="2472840"/>
            <a:ext cx="5459760" cy="5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lang="ru-RU" sz="1580" spc="-1" strike="noStrike" b="1">
                <a:solidFill>
                  <a:srgbClr val="520978"/>
                </a:solidFill>
                <a:latin typeface="Montserrat"/>
                <a:ea typeface="Montserrat"/>
              </a:rPr>
              <a:t>Сокращение задержки VLM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520978"/>
                </a:solidFill>
                <a:latin typeface="Montserrat"/>
                <a:ea typeface="Montserrat"/>
              </a:rPr>
              <a:t>Проверка качества вместе с p95 и долей &gt; 3 с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4"/>
          <p:cNvSpPr>
            <a:spLocks noGrp="1"/>
          </p:cNvSpPr>
          <p:nvPr>
            <p:ph/>
          </p:nvPr>
        </p:nvSpPr>
        <p:spPr>
          <a:xfrm>
            <a:off x="6172560" y="3485880"/>
            <a:ext cx="5459760" cy="5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lang="ru-RU" sz="1580" spc="-1" strike="noStrike" b="1">
                <a:solidFill>
                  <a:srgbClr val="520978"/>
                </a:solidFill>
                <a:latin typeface="Montserrat"/>
                <a:ea typeface="Montserrat"/>
              </a:rPr>
              <a:t>Эталоны и дубли карточек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520978"/>
                </a:solidFill>
                <a:latin typeface="Montserrat"/>
                <a:ea typeface="Montserrat"/>
              </a:rPr>
              <a:t>Закрыть пробелы вместе с платформой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5"/>
          <p:cNvSpPr>
            <a:spLocks noGrp="1"/>
          </p:cNvSpPr>
          <p:nvPr>
            <p:ph/>
          </p:nvPr>
        </p:nvSpPr>
        <p:spPr>
          <a:xfrm>
            <a:off x="6172560" y="4496760"/>
            <a:ext cx="5459760" cy="5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lang="ru-RU" sz="1580" spc="-1" strike="noStrike" b="1">
                <a:solidFill>
                  <a:srgbClr val="520978"/>
                </a:solidFill>
                <a:latin typeface="Montserrat"/>
                <a:ea typeface="Montserrat"/>
              </a:rPr>
              <a:t>Различение соседних вин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520978"/>
                </a:solidFill>
                <a:latin typeface="Montserrat"/>
                <a:ea typeface="Montserrat"/>
              </a:rPr>
              <a:t>Проверить чтение названия и контрэтикетку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6"/>
          <p:cNvSpPr>
            <a:spLocks noGrp="1"/>
          </p:cNvSpPr>
          <p:nvPr>
            <p:ph/>
          </p:nvPr>
        </p:nvSpPr>
        <p:spPr>
          <a:xfrm>
            <a:off x="6172560" y="5517000"/>
            <a:ext cx="5459760" cy="5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lang="ru-RU" sz="1580" spc="-1" strike="noStrike" b="1">
                <a:solidFill>
                  <a:srgbClr val="520978"/>
                </a:solidFill>
                <a:latin typeface="Montserrat"/>
                <a:ea typeface="Montserrat"/>
              </a:rPr>
              <a:t>Дообучение на новой съёмке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520978"/>
                </a:solidFill>
                <a:latin typeface="Montserrat"/>
                <a:ea typeface="Montserrat"/>
              </a:rPr>
              <a:t>Принимать только подтверждённый прирост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7"/>
          <p:cNvSpPr>
            <a:spLocks noGrp="1"/>
          </p:cNvSpPr>
          <p:nvPr>
            <p:ph type="sldNum" idx="71"/>
          </p:nvPr>
        </p:nvSpPr>
        <p:spPr>
          <a:xfrm>
            <a:off x="11633040" y="6356520"/>
            <a:ext cx="558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 defTabSz="914400">
              <a:lnSpc>
                <a:spcPct val="108000"/>
              </a:lnSpc>
              <a:buNone/>
              <a:tabLst>
                <a:tab algn="l" pos="0"/>
              </a:tabLst>
              <a:defRPr b="0" lang="ru-RU" sz="1130" spc="-1" strike="noStrike">
                <a:solidFill>
                  <a:srgbClr val="520978"/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8000"/>
              </a:lnSpc>
              <a:buNone/>
              <a:tabLst>
                <a:tab algn="l" pos="0"/>
              </a:tabLst>
            </a:pPr>
            <a:fld id="{68BF52AA-76B3-495A-869E-478535895482}" type="slidenum">
              <a:rPr b="0" lang="ru-RU" sz="1130" spc="-1" strike="noStrike">
                <a:solidFill>
                  <a:srgbClr val="520978"/>
                </a:solidFill>
                <a:latin typeface="Montserrat"/>
                <a:ea typeface="Montserrat"/>
              </a:rPr>
              <a:t>12</a:t>
            </a:fld>
            <a:endParaRPr b="0" lang="ru-RU" sz="1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8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1840" cy="37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ЧТО ДАЛЬШЕ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Скругленный прямоугольник 9"/>
          <p:cNvSpPr/>
          <p:nvPr/>
        </p:nvSpPr>
        <p:spPr>
          <a:xfrm>
            <a:off x="345960" y="324720"/>
            <a:ext cx="3111120" cy="62028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288" name="Скругленный прямоугольник 22"/>
          <p:cNvSpPr/>
          <p:nvPr/>
        </p:nvSpPr>
        <p:spPr>
          <a:xfrm>
            <a:off x="3288600" y="1522080"/>
            <a:ext cx="2671920" cy="46782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289" name="Скругленный прямоугольник 23"/>
          <p:cNvSpPr/>
          <p:nvPr/>
        </p:nvSpPr>
        <p:spPr>
          <a:xfrm>
            <a:off x="6230880" y="1522080"/>
            <a:ext cx="2671920" cy="46782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290" name="Скругленный прямоугольник 24"/>
          <p:cNvSpPr/>
          <p:nvPr/>
        </p:nvSpPr>
        <p:spPr>
          <a:xfrm>
            <a:off x="9173160" y="1522080"/>
            <a:ext cx="2671920" cy="46782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291" name="Скругленный прямоугольник 26"/>
          <p:cNvSpPr/>
          <p:nvPr/>
        </p:nvSpPr>
        <p:spPr>
          <a:xfrm>
            <a:off x="345960" y="1522080"/>
            <a:ext cx="2671920" cy="46782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292" name="PlaceHolder 1"/>
          <p:cNvSpPr>
            <a:spLocks noGrp="1"/>
          </p:cNvSpPr>
          <p:nvPr>
            <p:ph type="sldNum" idx="72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 defTabSz="914400">
              <a:lnSpc>
                <a:spcPct val="108000"/>
              </a:lnSpc>
              <a:buNone/>
              <a:tabLst>
                <a:tab algn="l" pos="0"/>
              </a:tabLst>
              <a:defRPr b="0" lang="ru-RU" sz="1130" spc="-1" strike="noStrike">
                <a:solidFill>
                  <a:srgbClr val="ffffff"/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8000"/>
              </a:lnSpc>
              <a:buNone/>
              <a:tabLst>
                <a:tab algn="l" pos="0"/>
              </a:tabLst>
            </a:pPr>
            <a:fld id="{FF67867E-F7F1-4D21-AF5A-3A29CE231F8F}" type="slidenum">
              <a:rPr b="0" lang="ru-RU" sz="1130" spc="-1" strike="noStrike">
                <a:solidFill>
                  <a:srgbClr val="ffffff"/>
                </a:solidFill>
                <a:latin typeface="Montserrat"/>
                <a:ea typeface="Montserrat"/>
              </a:rPr>
              <a:t>13</a:t>
            </a:fld>
            <a:endParaRPr b="0" lang="ru-RU" sz="113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/>
          </p:nvPr>
        </p:nvSpPr>
        <p:spPr>
          <a:xfrm>
            <a:off x="520920" y="2339640"/>
            <a:ext cx="2283480" cy="42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1" lang="ru-RU" sz="1729" spc="-1" strike="noStrike">
                <a:solidFill>
                  <a:srgbClr val="520978"/>
                </a:solidFill>
                <a:latin typeface="Montserrat"/>
                <a:ea typeface="Montserrat"/>
              </a:rPr>
              <a:t>РАБОЧИЙ СЕРВИС</a:t>
            </a:r>
            <a:endParaRPr b="0" lang="ru-RU" sz="172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/>
          </p:nvPr>
        </p:nvSpPr>
        <p:spPr>
          <a:xfrm>
            <a:off x="520920" y="3128760"/>
            <a:ext cx="2283480" cy="279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Фото открывает карточку вина.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API совместим со скриптом оценки.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Docker содержит API и pgvector. Интерфейс запускается отдельно.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/>
          </p:nvPr>
        </p:nvSpPr>
        <p:spPr>
          <a:xfrm>
            <a:off x="3457800" y="2373480"/>
            <a:ext cx="2336760" cy="40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1" lang="ru-RU" sz="1729" spc="-1" strike="noStrike">
                <a:solidFill>
                  <a:srgbClr val="520978"/>
                </a:solidFill>
                <a:latin typeface="Montserrat"/>
                <a:ea typeface="Montserrat"/>
              </a:rPr>
              <a:t>90,3% ПО КАТАЛОГУ</a:t>
            </a:r>
            <a:endParaRPr b="0" lang="ru-RU" sz="172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PlaceHolder 5"/>
          <p:cNvSpPr>
            <a:spLocks noGrp="1"/>
          </p:cNvSpPr>
          <p:nvPr>
            <p:ph/>
          </p:nvPr>
        </p:nvSpPr>
        <p:spPr>
          <a:xfrm>
            <a:off x="3457800" y="3134160"/>
            <a:ext cx="2336760" cy="279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spcAft>
                <a:spcPts val="9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56/62 кадров — точный slug.</a:t>
            </a:r>
            <a:endParaRPr b="0" lang="ru-RU" sz="15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9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32/35 вне каталога — верный отказ.</a:t>
            </a:r>
            <a:endParaRPr b="0" lang="ru-RU" sz="15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9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F1 топ-1 через API: 90,3%.</a:t>
            </a:r>
            <a:endParaRPr b="0" lang="ru-RU" sz="150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9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Публичный набор, регрессионная проверка.</a:t>
            </a:r>
            <a:endParaRPr b="0" lang="ru-RU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PlaceHolder 6"/>
          <p:cNvSpPr>
            <a:spLocks noGrp="1"/>
          </p:cNvSpPr>
          <p:nvPr>
            <p:ph/>
          </p:nvPr>
        </p:nvSpPr>
        <p:spPr>
          <a:xfrm>
            <a:off x="6448320" y="2333520"/>
            <a:ext cx="2285640" cy="666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1" lang="ru-RU" sz="1729" spc="-1" strike="noStrike">
                <a:solidFill>
                  <a:srgbClr val="520978"/>
                </a:solidFill>
                <a:latin typeface="Montserrat"/>
                <a:ea typeface="Montserrat"/>
              </a:rPr>
              <a:t>ПОЛЕЗНО ПОСЛЕ ПОИСКА</a:t>
            </a:r>
            <a:endParaRPr b="0" lang="ru-RU" sz="172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PlaceHolder 7"/>
          <p:cNvSpPr>
            <a:spLocks noGrp="1"/>
          </p:cNvSpPr>
          <p:nvPr>
            <p:ph/>
          </p:nvPr>
        </p:nvSpPr>
        <p:spPr>
          <a:xfrm>
            <a:off x="6456240" y="3136680"/>
            <a:ext cx="2267640" cy="279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Сомелье подбирает вино к блюду.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Аналоги показывают варианты других виноделен.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Каждая рекомендация ведёт в карточку каталога.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PlaceHolder 8"/>
          <p:cNvSpPr>
            <a:spLocks noGrp="1"/>
          </p:cNvSpPr>
          <p:nvPr>
            <p:ph/>
          </p:nvPr>
        </p:nvSpPr>
        <p:spPr>
          <a:xfrm>
            <a:off x="9407520" y="2339640"/>
            <a:ext cx="2262960" cy="42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1" lang="ru-RU" sz="1729" spc="-1" strike="noStrike">
                <a:solidFill>
                  <a:srgbClr val="520978"/>
                </a:solidFill>
                <a:latin typeface="Montserrat"/>
                <a:ea typeface="Montserrat"/>
              </a:rPr>
              <a:t>СЛЕДУЮЩИЙ ЭТАП</a:t>
            </a:r>
            <a:endParaRPr b="0" lang="ru-RU" sz="172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PlaceHolder 9"/>
          <p:cNvSpPr>
            <a:spLocks noGrp="1"/>
          </p:cNvSpPr>
          <p:nvPr>
            <p:ph/>
          </p:nvPr>
        </p:nvSpPr>
        <p:spPr>
          <a:xfrm>
            <a:off x="9407520" y="3128760"/>
            <a:ext cx="2262960" cy="279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Закрытая проверка на новых снимках.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Снижение задержки спорных запросов.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301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Уточнение эталонов и дублей вместе с платформой.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PlaceHolder 10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1840" cy="37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chemeClr val="lt1">
                    <a:lumMod val="95000"/>
                  </a:schemeClr>
                </a:solidFill>
                <a:latin typeface="Montserrat"/>
                <a:ea typeface="Montserrat"/>
              </a:rPr>
              <a:t>ВЫВОДЫ</a:t>
            </a:r>
            <a:endParaRPr b="0" lang="ru-RU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PlaceHolder 11"/>
          <p:cNvSpPr>
            <a:spLocks noGrp="1"/>
          </p:cNvSpPr>
          <p:nvPr>
            <p:ph/>
          </p:nvPr>
        </p:nvSpPr>
        <p:spPr>
          <a:xfrm>
            <a:off x="520920" y="1772280"/>
            <a:ext cx="770400" cy="42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  <a:ea typeface="Montserrat"/>
              </a:rPr>
              <a:t>01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PlaceHolder 12"/>
          <p:cNvSpPr>
            <a:spLocks noGrp="1"/>
          </p:cNvSpPr>
          <p:nvPr>
            <p:ph/>
          </p:nvPr>
        </p:nvSpPr>
        <p:spPr>
          <a:xfrm>
            <a:off x="3449880" y="1766160"/>
            <a:ext cx="770400" cy="40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  <a:ea typeface="Montserrat"/>
              </a:rPr>
              <a:t>02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PlaceHolder 13"/>
          <p:cNvSpPr>
            <a:spLocks noGrp="1"/>
          </p:cNvSpPr>
          <p:nvPr>
            <p:ph/>
          </p:nvPr>
        </p:nvSpPr>
        <p:spPr>
          <a:xfrm>
            <a:off x="6456240" y="1766160"/>
            <a:ext cx="770400" cy="40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  <a:ea typeface="Montserrat"/>
              </a:rPr>
              <a:t>03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PlaceHolder 14"/>
          <p:cNvSpPr>
            <a:spLocks noGrp="1"/>
          </p:cNvSpPr>
          <p:nvPr>
            <p:ph/>
          </p:nvPr>
        </p:nvSpPr>
        <p:spPr>
          <a:xfrm>
            <a:off x="9407520" y="1772280"/>
            <a:ext cx="770400" cy="42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  <a:ea typeface="Montserrat"/>
              </a:rPr>
              <a:t>04</a:t>
            </a:r>
            <a:endParaRPr b="0" lang="ru-RU" sz="2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Скругленный прямоугольник 7"/>
          <p:cNvSpPr/>
          <p:nvPr/>
        </p:nvSpPr>
        <p:spPr>
          <a:xfrm>
            <a:off x="4419360" y="1522080"/>
            <a:ext cx="3398760" cy="46782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307" name="Скругленный прямоугольник 8"/>
          <p:cNvSpPr/>
          <p:nvPr/>
        </p:nvSpPr>
        <p:spPr>
          <a:xfrm>
            <a:off x="8366040" y="1522080"/>
            <a:ext cx="3247920" cy="46782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308" name="Скругленный прямоугольник 9"/>
          <p:cNvSpPr/>
          <p:nvPr/>
        </p:nvSpPr>
        <p:spPr>
          <a:xfrm>
            <a:off x="623880" y="1522080"/>
            <a:ext cx="3247920" cy="46782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309" name="PlaceHolder 1"/>
          <p:cNvSpPr>
            <a:spLocks noGrp="1"/>
          </p:cNvSpPr>
          <p:nvPr>
            <p:ph type="sldNum" idx="73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 defTabSz="914400">
              <a:lnSpc>
                <a:spcPct val="108000"/>
              </a:lnSpc>
              <a:buNone/>
              <a:tabLst>
                <a:tab algn="l" pos="0"/>
              </a:tabLst>
              <a:defRPr b="0" lang="ru-RU" sz="1130" spc="-1" strike="noStrike">
                <a:solidFill>
                  <a:srgbClr val="520978"/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8000"/>
              </a:lnSpc>
              <a:buNone/>
              <a:tabLst>
                <a:tab algn="l" pos="0"/>
              </a:tabLst>
            </a:pPr>
            <a:fld id="{0A0C22DB-56B6-4457-8ECC-94F39D108E2F}" type="slidenum">
              <a:rPr b="0" lang="ru-RU" sz="1130" spc="-1" strike="noStrike">
                <a:solidFill>
                  <a:srgbClr val="520978"/>
                </a:solidFill>
                <a:latin typeface="Montserrat"/>
                <a:ea typeface="Montserrat"/>
              </a:rPr>
              <a:t>8</a:t>
            </a:fld>
            <a:endParaRPr b="0" lang="ru-RU" sz="1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4960" cy="42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  <a:ea typeface="Montserrat"/>
              </a:rPr>
              <a:t>ТОЛЬКО SIGLIP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4960" cy="279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Эмбеддинг отвечает, похожа ли этикетка. Мелкий шрифт линейки он не видит.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63,5% top-1 на синтетических почти-дублях.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Синтетика, не итоговое качество API.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080" cy="40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  <a:ea typeface="Montserrat"/>
              </a:rPr>
              <a:t>ГЕОМЕТРИЯ + ПОРОГ</a:t>
            </a:r>
            <a:endParaRPr b="0" lang="ru-RU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080" cy="279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Совпавшие точки отвечают, та же ли это этикетка. Одна геометрия на прежнем индексе — 96,8%.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Сейчас: 91,0% при отрыве 0,25 и 84,1% при 0,50 — порог выбран по съёмке у полки.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4800" cy="40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  <a:ea typeface="Montserrat"/>
              </a:rPr>
              <a:t>ЦЕНА ГЛУБИНЫ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4800" cy="279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Топ-100 вместо топ-20 увеличил стоимость примерно в 4 раза при приросте 1,0 п.п.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8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Второй вид кадра поднял recall@20 с 91,2% до 96,8%.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0640" cy="37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rgbClr val="520978"/>
                </a:solidFill>
                <a:latin typeface="Montserrat"/>
                <a:ea typeface="Montserrat"/>
              </a:rPr>
              <a:t>ПОЧЕМУ ДВЕ СТУПЕНИ</a:t>
            </a:r>
            <a:endParaRPr b="0" lang="ru-RU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400" cy="60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  <a:ea typeface="Montserrat"/>
              </a:rPr>
              <a:t>63,5%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10"/>
          <p:cNvSpPr>
            <a:spLocks noGrp="1"/>
          </p:cNvSpPr>
          <p:nvPr>
            <p:ph/>
          </p:nvPr>
        </p:nvSpPr>
        <p:spPr>
          <a:xfrm>
            <a:off x="4615200" y="1772280"/>
            <a:ext cx="1310400" cy="60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  <a:ea typeface="Montserrat"/>
              </a:rPr>
              <a:t>84,1%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11"/>
          <p:cNvSpPr>
            <a:spLocks noGrp="1"/>
          </p:cNvSpPr>
          <p:nvPr>
            <p:ph/>
          </p:nvPr>
        </p:nvSpPr>
        <p:spPr>
          <a:xfrm>
            <a:off x="8547840" y="1772280"/>
            <a:ext cx="1310400" cy="60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  <a:ea typeface="Montserrat"/>
              </a:rPr>
              <a:t>×4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Скругленный прямоугольник 1"/>
          <p:cNvSpPr/>
          <p:nvPr/>
        </p:nvSpPr>
        <p:spPr>
          <a:xfrm>
            <a:off x="345960" y="324720"/>
            <a:ext cx="3111120" cy="62028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321" name="PlaceHolder 1"/>
          <p:cNvSpPr>
            <a:spLocks noGrp="1"/>
          </p:cNvSpPr>
          <p:nvPr>
            <p:ph type="sldNum" idx="74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 defTabSz="914400">
              <a:lnSpc>
                <a:spcPct val="108000"/>
              </a:lnSpc>
              <a:buNone/>
              <a:tabLst>
                <a:tab algn="l" pos="0"/>
              </a:tabLst>
              <a:defRPr b="0" lang="ru-RU" sz="1130" spc="-1" strike="noStrike">
                <a:solidFill>
                  <a:srgbClr val="520978"/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8000"/>
              </a:lnSpc>
              <a:buNone/>
              <a:tabLst>
                <a:tab algn="l" pos="0"/>
              </a:tabLst>
            </a:pPr>
            <a:fld id="{C1713507-A618-4D44-90F1-0325BAC921E8}" type="slidenum">
              <a:rPr b="0" lang="ru-RU" sz="1130" spc="-1" strike="noStrike">
                <a:solidFill>
                  <a:srgbClr val="520978"/>
                </a:solidFill>
                <a:latin typeface="Montserrat"/>
                <a:ea typeface="Montserrat"/>
              </a:rPr>
              <a:t>15</a:t>
            </a:fld>
            <a:endParaRPr b="0" lang="ru-RU" sz="1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Текст 2"/>
          <p:cNvSpPr/>
          <p:nvPr/>
        </p:nvSpPr>
        <p:spPr>
          <a:xfrm>
            <a:off x="6755400" y="1343160"/>
            <a:ext cx="4789440" cy="10209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ff0053"/>
                </a:solidFill>
                <a:latin typeface="Montserrat"/>
                <a:ea typeface="Montserrat"/>
              </a:rPr>
              <a:t>Детекция бутылки: +14,8 п.п.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/>
          </p:nvPr>
        </p:nvSpPr>
        <p:spPr>
          <a:xfrm>
            <a:off x="6755400" y="1722960"/>
            <a:ext cx="4789440" cy="64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  <a:ea typeface="Montserrat"/>
              </a:rPr>
              <a:t>Набор hard, только косинус: 58,3% → 73,0%. Без кропа вектор описывает полку.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Текст 4"/>
          <p:cNvSpPr/>
          <p:nvPr/>
        </p:nvSpPr>
        <p:spPr>
          <a:xfrm>
            <a:off x="6755400" y="2611800"/>
            <a:ext cx="4789440" cy="10209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520978"/>
                </a:solidFill>
                <a:latin typeface="Montserrat"/>
                <a:ea typeface="Montserrat"/>
              </a:rPr>
              <a:t>Геометрическая проверка: +13,5 п.п.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/>
          </p:nvPr>
        </p:nvSpPr>
        <p:spPr>
          <a:xfrm>
            <a:off x="6755400" y="2991240"/>
            <a:ext cx="4789440" cy="64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  <a:ea typeface="Montserrat"/>
              </a:rPr>
              <a:t>Набор sharp, одновидовой индекс: 74,0% → 87,5%. SIFT и гомография переупорядочивают топ-20.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Текст 6"/>
          <p:cNvSpPr/>
          <p:nvPr/>
        </p:nvSpPr>
        <p:spPr>
          <a:xfrm>
            <a:off x="6755400" y="3880440"/>
            <a:ext cx="4789440" cy="10209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8a83d1"/>
                </a:solidFill>
                <a:latin typeface="Montserrat"/>
                <a:ea typeface="Montserrat"/>
              </a:rPr>
              <a:t>Второй вид кадра: +2,8 п.п.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4"/>
          <p:cNvSpPr>
            <a:spLocks noGrp="1"/>
          </p:cNvSpPr>
          <p:nvPr>
            <p:ph/>
          </p:nvPr>
        </p:nvSpPr>
        <p:spPr>
          <a:xfrm>
            <a:off x="6755400" y="4259880"/>
            <a:ext cx="4789440" cy="64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  <a:ea typeface="Montserrat"/>
              </a:rPr>
              <a:t>Позиция описана двумя векторами: 87,5% → 90,3%, recall@20 91,2% → 96,8%.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Текст 8"/>
          <p:cNvSpPr/>
          <p:nvPr/>
        </p:nvSpPr>
        <p:spPr>
          <a:xfrm>
            <a:off x="6755400" y="5149080"/>
            <a:ext cx="4789440" cy="10209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578880">
              <a:lnSpc>
                <a:spcPct val="90000"/>
              </a:lnSpc>
              <a:spcBef>
                <a:spcPts val="632"/>
              </a:spcBef>
            </a:pPr>
            <a:r>
              <a:rPr b="1" lang="ru-RU" sz="1800" spc="-1" strike="noStrike">
                <a:solidFill>
                  <a:srgbClr val="310f53"/>
                </a:solidFill>
                <a:latin typeface="Montserrat"/>
                <a:ea typeface="Montserrat"/>
              </a:rPr>
              <a:t>Текст на этикетке: +0,8 п.п.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/>
          </p:nvPr>
        </p:nvSpPr>
        <p:spPr>
          <a:xfrm>
            <a:off x="6755400" y="5528520"/>
            <a:ext cx="4789440" cy="64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1c1d22"/>
                </a:solidFill>
                <a:latin typeface="Montserrat"/>
                <a:ea typeface="Montserrat"/>
              </a:rPr>
              <a:t>Правило близких лидеров срабатывало на 15% запросов. Всё — синтетика (400 запросов), на итоговый API напрямую не переносится.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6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1840" cy="37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1" lang="ru-RU" sz="2100" spc="-1" strike="noStrike">
                <a:solidFill>
                  <a:srgbClr val="ffffff"/>
                </a:solidFill>
                <a:latin typeface="Montserrat"/>
                <a:ea typeface="Montserrat"/>
              </a:rPr>
              <a:t>ВКЛАД ЭТАПОВ</a:t>
            </a:r>
            <a:endParaRPr b="0" lang="ru-RU" sz="21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31" name="Chart"/>
          <p:cNvGraphicFramePr/>
          <p:nvPr/>
        </p:nvGraphicFramePr>
        <p:xfrm>
          <a:off x="345960" y="1424520"/>
          <a:ext cx="5749200" cy="440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Скругленный прямоугольник 13"/>
          <p:cNvSpPr/>
          <p:nvPr/>
        </p:nvSpPr>
        <p:spPr>
          <a:xfrm>
            <a:off x="6286680" y="4747320"/>
            <a:ext cx="5569920" cy="166608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33" name="Скругленный прямоугольник 11"/>
          <p:cNvSpPr/>
          <p:nvPr/>
        </p:nvSpPr>
        <p:spPr>
          <a:xfrm>
            <a:off x="6286680" y="2832480"/>
            <a:ext cx="5569920" cy="166608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34" name="Скругленный прямоугольник 10"/>
          <p:cNvSpPr/>
          <p:nvPr/>
        </p:nvSpPr>
        <p:spPr>
          <a:xfrm>
            <a:off x="6286680" y="917640"/>
            <a:ext cx="5569920" cy="1666080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35" name="Скругленный прямоугольник 1"/>
          <p:cNvSpPr/>
          <p:nvPr/>
        </p:nvSpPr>
        <p:spPr>
          <a:xfrm>
            <a:off x="347400" y="329040"/>
            <a:ext cx="3748680" cy="62136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336" name="Текст 2"/>
          <p:cNvSpPr/>
          <p:nvPr/>
        </p:nvSpPr>
        <p:spPr>
          <a:xfrm>
            <a:off x="6591600" y="1049760"/>
            <a:ext cx="4789440" cy="59724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8000"/>
              </a:lnSpc>
              <a:tabLst>
                <a:tab algn="l" pos="0"/>
              </a:tabLst>
            </a:pPr>
            <a:r>
              <a:rPr b="1" lang="ru-RU" sz="1870" spc="-1" strike="noStrike">
                <a:solidFill>
                  <a:srgbClr val="520978"/>
                </a:solidFill>
                <a:latin typeface="Montserrat"/>
                <a:ea typeface="Montserrat"/>
              </a:rPr>
              <a:t>До VLM-арбитража</a:t>
            </a:r>
            <a:endParaRPr b="0" lang="ru-RU" sz="1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PlaceHolder 1"/>
          <p:cNvSpPr>
            <a:spLocks noGrp="1"/>
          </p:cNvSpPr>
          <p:nvPr>
            <p:ph/>
          </p:nvPr>
        </p:nvSpPr>
        <p:spPr>
          <a:xfrm>
            <a:off x="6591600" y="1649880"/>
            <a:ext cx="4789440" cy="77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График показывает базовое ранжирование и пороговый отказ. Итоговый API с VLM оценивается отдельно.</a:t>
            </a:r>
            <a:endParaRPr b="0" lang="ru-RU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Текст 4"/>
          <p:cNvSpPr/>
          <p:nvPr/>
        </p:nvSpPr>
        <p:spPr>
          <a:xfrm>
            <a:off x="6591600" y="2915640"/>
            <a:ext cx="4789440" cy="56268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8000"/>
              </a:lnSpc>
              <a:tabLst>
                <a:tab algn="l" pos="0"/>
              </a:tabLst>
            </a:pPr>
            <a:r>
              <a:rPr b="1" lang="ru-RU" sz="1870" spc="-1" strike="noStrike">
                <a:solidFill>
                  <a:srgbClr val="520978"/>
                </a:solidFill>
                <a:latin typeface="Montserrat"/>
                <a:ea typeface="Montserrat"/>
              </a:rPr>
              <a:t>Тестовая часть (test)</a:t>
            </a:r>
            <a:endParaRPr b="0" lang="ru-RU" sz="1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/>
          </p:nvPr>
        </p:nvSpPr>
        <p:spPr>
          <a:xfrm>
            <a:off x="6591600" y="3515760"/>
            <a:ext cx="4789440" cy="86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00" spc="-1" strike="noStrike">
                <a:solidFill>
                  <a:srgbClr val="1c1d22"/>
                </a:solidFill>
                <a:latin typeface="Montserrat"/>
                <a:ea typeface="Montserrat"/>
              </a:rPr>
              <a:t>43 кадра организатора: 29 с вином каталога, 14 без. Эта часть уже участвовала в разборе ошибок и не является независимой проверкой.</a:t>
            </a:r>
            <a:endParaRPr b="0" lang="ru-RU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Текст 6"/>
          <p:cNvSpPr/>
          <p:nvPr/>
        </p:nvSpPr>
        <p:spPr>
          <a:xfrm>
            <a:off x="6591600" y="4871880"/>
            <a:ext cx="4789440" cy="59724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8000"/>
              </a:lnSpc>
              <a:tabLst>
                <a:tab algn="l" pos="0"/>
              </a:tabLst>
            </a:pPr>
            <a:r>
              <a:rPr b="1" lang="ru-RU" sz="1870" spc="-1" strike="noStrike">
                <a:solidFill>
                  <a:srgbClr val="520978"/>
                </a:solidFill>
                <a:latin typeface="Montserrat"/>
                <a:ea typeface="Montserrat"/>
              </a:rPr>
              <a:t>Метрики разных наборов</a:t>
            </a:r>
            <a:endParaRPr b="0" lang="ru-RU" sz="1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6591600" y="5471640"/>
            <a:ext cx="4789440" cy="847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430" spc="-1" strike="noStrike">
                <a:solidFill>
                  <a:srgbClr val="1c1d22"/>
                </a:solidFill>
                <a:latin typeface="Montserrat"/>
                <a:ea typeface="Montserrat"/>
              </a:rPr>
              <a:t>Синтетика: top-k на 400 запросах, F1 на 214 отложенных положительных. Съёмка: часть test. При сравнении учитываем разные наборы.</a:t>
            </a:r>
            <a:endParaRPr b="0" lang="ru-RU" sz="14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 type="title"/>
          </p:nvPr>
        </p:nvSpPr>
        <p:spPr>
          <a:xfrm>
            <a:off x="530280" y="420480"/>
            <a:ext cx="3565800" cy="37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1" lang="ru-RU" sz="2020" spc="-1" strike="noStrike">
                <a:solidFill>
                  <a:srgbClr val="ffffff"/>
                </a:solidFill>
                <a:latin typeface="Montserrat"/>
                <a:ea typeface="Montserrat"/>
              </a:rPr>
              <a:t>БАЗОВЫЙ КОНВЕЙЕР</a:t>
            </a:r>
            <a:endParaRPr b="0" lang="ru-RU" sz="20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PlaceHolder 5"/>
          <p:cNvSpPr>
            <a:spLocks noGrp="1"/>
          </p:cNvSpPr>
          <p:nvPr>
            <p:ph type="sldNum" idx="75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200" spc="-1" strike="noStrike">
              <a:solidFill>
                <a:schemeClr val="lt1">
                  <a:lumMod val="95000"/>
                </a:schemeClr>
              </a:solidFill>
              <a:latin typeface="Montserrat"/>
              <a:ea typeface="Montserrat"/>
            </a:endParaRPr>
          </a:p>
        </p:txBody>
      </p:sp>
      <p:graphicFrame>
        <p:nvGraphicFramePr>
          <p:cNvPr id="344" name="Chart"/>
          <p:cNvGraphicFramePr/>
          <p:nvPr/>
        </p:nvGraphicFramePr>
        <p:xfrm>
          <a:off x="345960" y="1424520"/>
          <a:ext cx="5749200" cy="440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45" name=""/>
          <p:cNvSpPr/>
          <p:nvPr/>
        </p:nvSpPr>
        <p:spPr>
          <a:xfrm>
            <a:off x="11525400" y="6419880"/>
            <a:ext cx="4377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fld id="{87D4DBD1-BDA5-477E-9F20-19CE5008362B}" type="slidenum">
              <a:rPr b="0" lang="ru-RU" sz="1130" spc="-1" strike="noStrike">
                <a:solidFill>
                  <a:srgbClr val="ffffff"/>
                </a:solidFill>
                <a:latin typeface="Montserrat"/>
                <a:ea typeface="Montserrat"/>
              </a:rPr>
              <a:t>16</a:t>
            </a:fld>
            <a:endParaRPr b="0" lang="ru-RU" sz="113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Скругленный прямоугольник 7"/>
          <p:cNvSpPr/>
          <p:nvPr/>
        </p:nvSpPr>
        <p:spPr>
          <a:xfrm>
            <a:off x="429120" y="3008160"/>
            <a:ext cx="3727800" cy="365616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47" name="Скругленный прямоугольник 9"/>
          <p:cNvSpPr/>
          <p:nvPr/>
        </p:nvSpPr>
        <p:spPr>
          <a:xfrm>
            <a:off x="4327200" y="3008160"/>
            <a:ext cx="3727800" cy="365616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48" name="Скругленный прямоугольник 10"/>
          <p:cNvSpPr/>
          <p:nvPr/>
        </p:nvSpPr>
        <p:spPr>
          <a:xfrm>
            <a:off x="8225280" y="3008160"/>
            <a:ext cx="3727800" cy="3656160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49" name="Скругленный прямоугольник 1"/>
          <p:cNvSpPr/>
          <p:nvPr/>
        </p:nvSpPr>
        <p:spPr>
          <a:xfrm>
            <a:off x="345960" y="324720"/>
            <a:ext cx="3111120" cy="620280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350" name="Скругленный прямоугольник 16"/>
          <p:cNvSpPr/>
          <p:nvPr/>
        </p:nvSpPr>
        <p:spPr>
          <a:xfrm>
            <a:off x="5340240" y="1366560"/>
            <a:ext cx="1503720" cy="14004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351" name="Скругленный прямоугольник 6"/>
          <p:cNvSpPr/>
          <p:nvPr/>
        </p:nvSpPr>
        <p:spPr>
          <a:xfrm>
            <a:off x="1541160" y="1366560"/>
            <a:ext cx="1503720" cy="14004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352" name="PlaceHolder 1"/>
          <p:cNvSpPr>
            <a:spLocks noGrp="1"/>
          </p:cNvSpPr>
          <p:nvPr>
            <p:ph type="sldNum" idx="76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 defTabSz="914400">
              <a:lnSpc>
                <a:spcPct val="108000"/>
              </a:lnSpc>
              <a:buNone/>
              <a:tabLst>
                <a:tab algn="l" pos="0"/>
              </a:tabLst>
              <a:defRPr b="0" lang="ru-RU" sz="1130" spc="-1" strike="noStrike">
                <a:solidFill>
                  <a:srgbClr val="520978"/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8000"/>
              </a:lnSpc>
              <a:buNone/>
              <a:tabLst>
                <a:tab algn="l" pos="0"/>
              </a:tabLst>
            </a:pPr>
            <a:fld id="{F337E18B-1EEE-4C73-B35B-4D918BE879BD}" type="slidenum">
              <a:rPr b="0" lang="ru-RU" sz="1130" spc="-1" strike="noStrike">
                <a:solidFill>
                  <a:srgbClr val="520978"/>
                </a:solidFill>
                <a:latin typeface="Montserrat"/>
                <a:ea typeface="Montserrat"/>
              </a:rPr>
              <a:t>17</a:t>
            </a:fld>
            <a:endParaRPr b="0" lang="ru-RU" sz="113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3" name="Текст 2"/>
          <p:cNvSpPr/>
          <p:nvPr/>
        </p:nvSpPr>
        <p:spPr>
          <a:xfrm>
            <a:off x="616320" y="3286800"/>
            <a:ext cx="3263400" cy="23745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8000"/>
              </a:lnSpc>
              <a:spcAft>
                <a:spcPts val="1001"/>
              </a:spcAft>
              <a:tabLst>
                <a:tab algn="l" pos="0"/>
              </a:tabLst>
            </a:pPr>
            <a:r>
              <a:rPr lang="ru-RU" sz="1580" spc="-1" strike="noStrike" b="1">
                <a:solidFill>
                  <a:srgbClr val="520978"/>
                </a:solidFill>
                <a:latin typeface="Montserrat"/>
                <a:ea typeface="Montserrat"/>
              </a:rPr>
              <a:t>РАНЖИРОВАНИЕ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8000"/>
              </a:lnSpc>
              <a:spcAft>
                <a:spcPts val="1001"/>
              </a:spcAft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Проверены DINOv2, LightGlue, обучаемый ранжировщик и перестановка пятёрки по VLM.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8000"/>
              </a:lnSpc>
              <a:spcAft>
                <a:spcPts val="1001"/>
              </a:spcAft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Улучшение отдельной метрики не всегда сохраняло верные ответы на других кадрах.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Текст 3"/>
          <p:cNvSpPr/>
          <p:nvPr/>
        </p:nvSpPr>
        <p:spPr>
          <a:xfrm>
            <a:off x="4569840" y="3264480"/>
            <a:ext cx="3263400" cy="23745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8000"/>
              </a:lnSpc>
              <a:spcAft>
                <a:spcPts val="1001"/>
              </a:spcAft>
              <a:tabLst>
                <a:tab algn="l" pos="0"/>
              </a:tabLst>
            </a:pPr>
            <a:r>
              <a:rPr lang="ru-RU" sz="1580" spc="-1" strike="noStrike" b="1">
                <a:solidFill>
                  <a:srgbClr val="520978"/>
                </a:solidFill>
                <a:latin typeface="Montserrat"/>
                <a:ea typeface="Montserrat"/>
              </a:rPr>
              <a:t>ПРЕДОБРАБОТКА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8000"/>
              </a:lnSpc>
              <a:spcAft>
                <a:spcPts val="1001"/>
              </a:spcAft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Проверены развёртка этикетки, цвет, зоны текста и увеличение масштаба.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8000"/>
              </a:lnSpc>
              <a:spcAft>
                <a:spcPts val="1001"/>
              </a:spcAft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Изменения принимались по парному сравнению ответов на одинаковых кадрах.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Текст 4"/>
          <p:cNvSpPr/>
          <p:nvPr/>
        </p:nvSpPr>
        <p:spPr>
          <a:xfrm>
            <a:off x="8404920" y="3277440"/>
            <a:ext cx="3263400" cy="2374560"/>
          </a:xfrm>
          <a:prstGeom prst="roundRect">
            <a:avLst>
              <a:gd name="adj" fmla="val 0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8000"/>
              </a:lnSpc>
              <a:spcAft>
                <a:spcPts val="1001"/>
              </a:spcAft>
              <a:tabLst>
                <a:tab algn="l" pos="0"/>
              </a:tabLst>
            </a:pPr>
            <a:r>
              <a:rPr lang="ru-RU" sz="1580" spc="-1" strike="noStrike" b="1">
                <a:solidFill>
                  <a:srgbClr val="520978"/>
                </a:solidFill>
                <a:latin typeface="Montserrat"/>
                <a:ea typeface="Montserrat"/>
              </a:rPr>
              <a:t>ВОСПРОИЗВОДИМОСТЬ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8000"/>
              </a:lnSpc>
              <a:spcAft>
                <a:spcPts val="1001"/>
              </a:spcAft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Код экспериментов и отчёты находятся в репозитории.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8000"/>
              </a:lnSpc>
              <a:spcAft>
                <a:spcPts val="1001"/>
              </a:spcAft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История результатов: docs/metrics.md.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8000"/>
              </a:lnSpc>
              <a:spcAft>
                <a:spcPts val="1001"/>
              </a:spcAft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Независимая проверка остаётся отдельным следующим шагом.</a:t>
            </a:r>
            <a:endParaRPr b="0" lang="ru-RU" sz="158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356" name="Google Shape;2799;p94"/>
          <p:cNvCxnSpPr/>
          <p:nvPr/>
        </p:nvCxnSpPr>
        <p:spPr>
          <a:xfrm flipV="1">
            <a:off x="3041640" y="2120760"/>
            <a:ext cx="2289600" cy="12240"/>
          </a:xfrm>
          <a:prstGeom prst="straightConnector1">
            <a:avLst/>
          </a:prstGeom>
          <a:ln w="12700">
            <a:solidFill>
              <a:srgbClr val="ff0053"/>
            </a:solidFill>
            <a:round/>
          </a:ln>
        </p:spPr>
      </p:cxnSp>
      <p:sp>
        <p:nvSpPr>
          <p:cNvPr id="357" name="Google Shape;2830;p94"/>
          <p:cNvSpPr/>
          <p:nvPr/>
        </p:nvSpPr>
        <p:spPr>
          <a:xfrm>
            <a:off x="1899000" y="1753200"/>
            <a:ext cx="737640" cy="687240"/>
          </a:xfrm>
          <a:custGeom>
            <a:avLst/>
            <a:gdLst>
              <a:gd name="textAreaLeft" fmla="*/ 0 w 737640"/>
              <a:gd name="textAreaRight" fmla="*/ 738360 w 737640"/>
              <a:gd name="textAreaTop" fmla="*/ 0 h 687240"/>
              <a:gd name="textAreaBottom" fmla="*/ 687960 h 687240"/>
            </a:gdLst>
            <a:ahLst/>
            <a:rect l="textAreaLeft" t="textAreaTop" r="textAreaRight" b="textAreaBottom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>
            <a:srgbClr val="fd0c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58" name="Google Shape;2831;p94"/>
          <p:cNvSpPr/>
          <p:nvPr/>
        </p:nvSpPr>
        <p:spPr>
          <a:xfrm>
            <a:off x="1975680" y="1888560"/>
            <a:ext cx="310320" cy="243360"/>
          </a:xfrm>
          <a:custGeom>
            <a:avLst/>
            <a:gdLst>
              <a:gd name="textAreaLeft" fmla="*/ 0 w 310320"/>
              <a:gd name="textAreaRight" fmla="*/ 311040 w 310320"/>
              <a:gd name="textAreaTop" fmla="*/ 0 h 243360"/>
              <a:gd name="textAreaBottom" fmla="*/ 244080 h 243360"/>
            </a:gdLst>
            <a:ahLst/>
            <a:rect l="textAreaLeft" t="textAreaTop" r="textAreaRight" b="textAreaBottom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59" name="Google Shape;2832;p94"/>
          <p:cNvSpPr/>
          <p:nvPr/>
        </p:nvSpPr>
        <p:spPr>
          <a:xfrm>
            <a:off x="2041560" y="1938600"/>
            <a:ext cx="20160" cy="29520"/>
          </a:xfrm>
          <a:custGeom>
            <a:avLst/>
            <a:gdLst>
              <a:gd name="textAreaLeft" fmla="*/ 0 w 20160"/>
              <a:gd name="textAreaRight" fmla="*/ 20880 w 20160"/>
              <a:gd name="textAreaTop" fmla="*/ 0 h 29520"/>
              <a:gd name="textAreaBottom" fmla="*/ 30240 h 29520"/>
            </a:gdLst>
            <a:ahLst/>
            <a:rect l="textAreaLeft" t="textAreaTop" r="textAreaRight" b="textAreaBottom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5120" bIns="151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60" name="Google Shape;2833;p94"/>
          <p:cNvSpPr/>
          <p:nvPr/>
        </p:nvSpPr>
        <p:spPr>
          <a:xfrm>
            <a:off x="2147760" y="1908360"/>
            <a:ext cx="21960" cy="29520"/>
          </a:xfrm>
          <a:custGeom>
            <a:avLst/>
            <a:gdLst>
              <a:gd name="textAreaLeft" fmla="*/ 0 w 21960"/>
              <a:gd name="textAreaRight" fmla="*/ 22680 w 21960"/>
              <a:gd name="textAreaTop" fmla="*/ 0 h 29520"/>
              <a:gd name="textAreaBottom" fmla="*/ 30240 h 29520"/>
            </a:gdLst>
            <a:ahLst/>
            <a:rect l="textAreaLeft" t="textAreaTop" r="textAreaRight" b="textAreaBottom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5120" bIns="151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61" name="Google Shape;2834;p94"/>
          <p:cNvSpPr/>
          <p:nvPr/>
        </p:nvSpPr>
        <p:spPr>
          <a:xfrm>
            <a:off x="2248200" y="1843200"/>
            <a:ext cx="21960" cy="29520"/>
          </a:xfrm>
          <a:custGeom>
            <a:avLst/>
            <a:gdLst>
              <a:gd name="textAreaLeft" fmla="*/ 0 w 21960"/>
              <a:gd name="textAreaRight" fmla="*/ 22680 w 21960"/>
              <a:gd name="textAreaTop" fmla="*/ 0 h 29520"/>
              <a:gd name="textAreaBottom" fmla="*/ 30240 h 29520"/>
            </a:gdLst>
            <a:ahLst/>
            <a:rect l="textAreaLeft" t="textAreaTop" r="textAreaRight" b="textAreaBottom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5120" bIns="151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62" name="Google Shape;2835;p94"/>
          <p:cNvSpPr/>
          <p:nvPr/>
        </p:nvSpPr>
        <p:spPr>
          <a:xfrm>
            <a:off x="1975680" y="1811520"/>
            <a:ext cx="58320" cy="20520"/>
          </a:xfrm>
          <a:custGeom>
            <a:avLst/>
            <a:gdLst>
              <a:gd name="textAreaLeft" fmla="*/ 0 w 58320"/>
              <a:gd name="textAreaRight" fmla="*/ 59040 w 58320"/>
              <a:gd name="textAreaTop" fmla="*/ 0 h 20520"/>
              <a:gd name="textAreaBottom" fmla="*/ 21240 h 20520"/>
            </a:gdLst>
            <a:ahLst/>
            <a:rect l="textAreaLeft" t="textAreaTop" r="textAreaRight" b="textAreaBottom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0440" bIns="10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63" name="Google Shape;2836;p94"/>
          <p:cNvSpPr/>
          <p:nvPr/>
        </p:nvSpPr>
        <p:spPr>
          <a:xfrm>
            <a:off x="1975680" y="1852200"/>
            <a:ext cx="101880" cy="22320"/>
          </a:xfrm>
          <a:custGeom>
            <a:avLst/>
            <a:gdLst>
              <a:gd name="textAreaLeft" fmla="*/ 0 w 101880"/>
              <a:gd name="textAreaRight" fmla="*/ 102600 w 101880"/>
              <a:gd name="textAreaTop" fmla="*/ 0 h 22320"/>
              <a:gd name="textAreaBottom" fmla="*/ 23040 h 22320"/>
            </a:gdLst>
            <a:ahLst/>
            <a:rect l="textAreaLeft" t="textAreaTop" r="textAreaRight" b="textAreaBottom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1520" bIns="1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64" name="Google Shape;2837;p94"/>
          <p:cNvSpPr/>
          <p:nvPr/>
        </p:nvSpPr>
        <p:spPr>
          <a:xfrm>
            <a:off x="2451600" y="1846800"/>
            <a:ext cx="66960" cy="115560"/>
          </a:xfrm>
          <a:custGeom>
            <a:avLst/>
            <a:gdLst>
              <a:gd name="textAreaLeft" fmla="*/ 0 w 66960"/>
              <a:gd name="textAreaRight" fmla="*/ 67680 w 66960"/>
              <a:gd name="textAreaTop" fmla="*/ 0 h 115560"/>
              <a:gd name="textAreaBottom" fmla="*/ 116280 h 115560"/>
            </a:gdLst>
            <a:ahLst/>
            <a:rect l="textAreaLeft" t="textAreaTop" r="textAreaRight" b="textAreaBottom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57960" bIns="579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65" name="Google Shape;2838;p94"/>
          <p:cNvSpPr/>
          <p:nvPr/>
        </p:nvSpPr>
        <p:spPr>
          <a:xfrm>
            <a:off x="2394360" y="1811520"/>
            <a:ext cx="181800" cy="184680"/>
          </a:xfrm>
          <a:custGeom>
            <a:avLst/>
            <a:gdLst>
              <a:gd name="textAreaLeft" fmla="*/ 0 w 181800"/>
              <a:gd name="textAreaRight" fmla="*/ 182520 w 181800"/>
              <a:gd name="textAreaTop" fmla="*/ 0 h 184680"/>
              <a:gd name="textAreaBottom" fmla="*/ 185400 h 184680"/>
            </a:gdLst>
            <a:ahLst/>
            <a:rect l="textAreaLeft" t="textAreaTop" r="textAreaRight" b="textAreaBottom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66" name="Google Shape;2839;p94"/>
          <p:cNvSpPr/>
          <p:nvPr/>
        </p:nvSpPr>
        <p:spPr>
          <a:xfrm>
            <a:off x="2385720" y="2023200"/>
            <a:ext cx="98280" cy="22320"/>
          </a:xfrm>
          <a:custGeom>
            <a:avLst/>
            <a:gdLst>
              <a:gd name="textAreaLeft" fmla="*/ 0 w 98280"/>
              <a:gd name="textAreaRight" fmla="*/ 99000 w 98280"/>
              <a:gd name="textAreaTop" fmla="*/ 0 h 22320"/>
              <a:gd name="textAreaBottom" fmla="*/ 23040 h 22320"/>
            </a:gdLst>
            <a:ahLst/>
            <a:rect l="textAreaLeft" t="textAreaTop" r="textAreaRight" b="textAreaBottom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1520" bIns="1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67" name="Google Shape;2840;p94"/>
          <p:cNvSpPr/>
          <p:nvPr/>
        </p:nvSpPr>
        <p:spPr>
          <a:xfrm>
            <a:off x="2519280" y="2067120"/>
            <a:ext cx="55080" cy="20520"/>
          </a:xfrm>
          <a:custGeom>
            <a:avLst/>
            <a:gdLst>
              <a:gd name="textAreaLeft" fmla="*/ 0 w 55080"/>
              <a:gd name="textAreaRight" fmla="*/ 55800 w 55080"/>
              <a:gd name="textAreaTop" fmla="*/ 0 h 20520"/>
              <a:gd name="textAreaBottom" fmla="*/ 21240 h 20520"/>
            </a:gdLst>
            <a:ahLst/>
            <a:rect l="textAreaLeft" t="textAreaTop" r="textAreaRight" b="textAreaBottom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0440" bIns="10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68" name="Google Shape;2841;p94"/>
          <p:cNvSpPr/>
          <p:nvPr/>
        </p:nvSpPr>
        <p:spPr>
          <a:xfrm>
            <a:off x="2385720" y="2067120"/>
            <a:ext cx="61920" cy="20520"/>
          </a:xfrm>
          <a:custGeom>
            <a:avLst/>
            <a:gdLst>
              <a:gd name="textAreaLeft" fmla="*/ 0 w 61920"/>
              <a:gd name="textAreaRight" fmla="*/ 62640 w 61920"/>
              <a:gd name="textAreaTop" fmla="*/ 0 h 20520"/>
              <a:gd name="textAreaBottom" fmla="*/ 21240 h 20520"/>
            </a:gdLst>
            <a:ahLst/>
            <a:rect l="textAreaLeft" t="textAreaTop" r="textAreaRight" b="textAreaBottom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0440" bIns="10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69" name="Google Shape;2842;p94"/>
          <p:cNvSpPr/>
          <p:nvPr/>
        </p:nvSpPr>
        <p:spPr>
          <a:xfrm>
            <a:off x="2463840" y="2067120"/>
            <a:ext cx="41040" cy="20520"/>
          </a:xfrm>
          <a:custGeom>
            <a:avLst/>
            <a:gdLst>
              <a:gd name="textAreaLeft" fmla="*/ 0 w 41040"/>
              <a:gd name="textAreaRight" fmla="*/ 41760 w 41040"/>
              <a:gd name="textAreaTop" fmla="*/ 0 h 20520"/>
              <a:gd name="textAreaBottom" fmla="*/ 21240 h 20520"/>
            </a:gdLst>
            <a:ahLst/>
            <a:rect l="textAreaLeft" t="textAreaTop" r="textAreaRight" b="textAreaBottom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0440" bIns="10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70" name="Google Shape;2843;p94"/>
          <p:cNvSpPr/>
          <p:nvPr/>
        </p:nvSpPr>
        <p:spPr>
          <a:xfrm>
            <a:off x="2385720" y="2109600"/>
            <a:ext cx="186840" cy="22320"/>
          </a:xfrm>
          <a:custGeom>
            <a:avLst/>
            <a:gdLst>
              <a:gd name="textAreaLeft" fmla="*/ 0 w 186840"/>
              <a:gd name="textAreaRight" fmla="*/ 187560 w 186840"/>
              <a:gd name="textAreaTop" fmla="*/ 0 h 22320"/>
              <a:gd name="textAreaBottom" fmla="*/ 23040 h 22320"/>
            </a:gdLst>
            <a:ahLst/>
            <a:rect l="textAreaLeft" t="textAreaTop" r="textAreaRight" b="textAreaBottom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1520" bIns="1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71" name="Google Shape;2819;p94"/>
          <p:cNvSpPr/>
          <p:nvPr/>
        </p:nvSpPr>
        <p:spPr>
          <a:xfrm>
            <a:off x="6120720" y="1913760"/>
            <a:ext cx="37440" cy="28080"/>
          </a:xfrm>
          <a:custGeom>
            <a:avLst/>
            <a:gdLst>
              <a:gd name="textAreaLeft" fmla="*/ 0 w 37440"/>
              <a:gd name="textAreaRight" fmla="*/ 38160 w 37440"/>
              <a:gd name="textAreaTop" fmla="*/ 0 h 28080"/>
              <a:gd name="textAreaBottom" fmla="*/ 28800 h 28080"/>
            </a:gdLst>
            <a:ahLst/>
            <a:rect l="textAreaLeft" t="textAreaTop" r="textAreaRight" b="textAreaBottom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4400" bIns="144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72" name="Google Shape;2820;p94"/>
          <p:cNvSpPr/>
          <p:nvPr/>
        </p:nvSpPr>
        <p:spPr>
          <a:xfrm>
            <a:off x="6098040" y="1873080"/>
            <a:ext cx="34200" cy="33480"/>
          </a:xfrm>
          <a:custGeom>
            <a:avLst/>
            <a:gdLst>
              <a:gd name="textAreaLeft" fmla="*/ 0 w 34200"/>
              <a:gd name="textAreaRight" fmla="*/ 34920 w 34200"/>
              <a:gd name="textAreaTop" fmla="*/ 0 h 33480"/>
              <a:gd name="textAreaBottom" fmla="*/ 34200 h 33480"/>
            </a:gdLst>
            <a:ahLst/>
            <a:rect l="textAreaLeft" t="textAreaTop" r="textAreaRight" b="textAreaBottom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6920" bIns="169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73" name="Google Shape;2821;p94"/>
          <p:cNvSpPr/>
          <p:nvPr/>
        </p:nvSpPr>
        <p:spPr>
          <a:xfrm>
            <a:off x="6129360" y="1960200"/>
            <a:ext cx="37440" cy="24120"/>
          </a:xfrm>
          <a:custGeom>
            <a:avLst/>
            <a:gdLst>
              <a:gd name="textAreaLeft" fmla="*/ 0 w 37440"/>
              <a:gd name="textAreaRight" fmla="*/ 38160 w 37440"/>
              <a:gd name="textAreaTop" fmla="*/ 0 h 24120"/>
              <a:gd name="textAreaBottom" fmla="*/ 24840 h 24120"/>
            </a:gdLst>
            <a:ahLst/>
            <a:rect l="textAreaLeft" t="textAreaTop" r="textAreaRight" b="textAreaBottom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2240" bIns="122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74" name="Google Shape;2822;p94"/>
          <p:cNvSpPr/>
          <p:nvPr/>
        </p:nvSpPr>
        <p:spPr>
          <a:xfrm>
            <a:off x="5710320" y="1722600"/>
            <a:ext cx="737640" cy="730800"/>
          </a:xfrm>
          <a:custGeom>
            <a:avLst/>
            <a:gdLst>
              <a:gd name="textAreaLeft" fmla="*/ 0 w 737640"/>
              <a:gd name="textAreaRight" fmla="*/ 738360 w 737640"/>
              <a:gd name="textAreaTop" fmla="*/ 0 h 730800"/>
              <a:gd name="textAreaBottom" fmla="*/ 731520 h 730800"/>
            </a:gdLst>
            <a:ahLst/>
            <a:rect l="textAreaLeft" t="textAreaTop" r="textAreaRight" b="textAreaBottom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75" name="Google Shape;2823;p94"/>
          <p:cNvSpPr/>
          <p:nvPr/>
        </p:nvSpPr>
        <p:spPr>
          <a:xfrm>
            <a:off x="5807880" y="1881720"/>
            <a:ext cx="369360" cy="347760"/>
          </a:xfrm>
          <a:custGeom>
            <a:avLst/>
            <a:gdLst>
              <a:gd name="textAreaLeft" fmla="*/ 0 w 369360"/>
              <a:gd name="textAreaRight" fmla="*/ 370080 w 369360"/>
              <a:gd name="textAreaTop" fmla="*/ 0 h 347760"/>
              <a:gd name="textAreaBottom" fmla="*/ 348480 h 347760"/>
            </a:gdLst>
            <a:ahLst/>
            <a:rect l="textAreaLeft" t="textAreaTop" r="textAreaRight" b="textAreaBottom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>
            <a:srgbClr val="fd0c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76" name="Google Shape;2824;p94"/>
          <p:cNvSpPr/>
          <p:nvPr/>
        </p:nvSpPr>
        <p:spPr>
          <a:xfrm>
            <a:off x="5823360" y="1838160"/>
            <a:ext cx="101880" cy="54360"/>
          </a:xfrm>
          <a:custGeom>
            <a:avLst/>
            <a:gdLst>
              <a:gd name="textAreaLeft" fmla="*/ 0 w 101880"/>
              <a:gd name="textAreaRight" fmla="*/ 102600 w 101880"/>
              <a:gd name="textAreaTop" fmla="*/ 0 h 54360"/>
              <a:gd name="textAreaBottom" fmla="*/ 55080 h 54360"/>
            </a:gdLst>
            <a:ahLst/>
            <a:rect l="textAreaLeft" t="textAreaTop" r="textAreaRight" b="textAreaBottom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7360" bIns="273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77" name="Google Shape;2825;p94"/>
          <p:cNvSpPr/>
          <p:nvPr/>
        </p:nvSpPr>
        <p:spPr>
          <a:xfrm>
            <a:off x="5839200" y="1891800"/>
            <a:ext cx="55080" cy="34200"/>
          </a:xfrm>
          <a:custGeom>
            <a:avLst/>
            <a:gdLst>
              <a:gd name="textAreaLeft" fmla="*/ 0 w 55080"/>
              <a:gd name="textAreaRight" fmla="*/ 55800 w 55080"/>
              <a:gd name="textAreaTop" fmla="*/ 0 h 34200"/>
              <a:gd name="textAreaBottom" fmla="*/ 34920 h 34200"/>
            </a:gdLst>
            <a:ahLst/>
            <a:rect l="textAreaLeft" t="textAreaTop" r="textAreaRight" b="textAreaBottom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7280" bIns="1728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78" name="Google Shape;2826;p94"/>
          <p:cNvSpPr/>
          <p:nvPr/>
        </p:nvSpPr>
        <p:spPr>
          <a:xfrm>
            <a:off x="5889600" y="2336040"/>
            <a:ext cx="75960" cy="20520"/>
          </a:xfrm>
          <a:custGeom>
            <a:avLst/>
            <a:gdLst>
              <a:gd name="textAreaLeft" fmla="*/ 0 w 75960"/>
              <a:gd name="textAreaRight" fmla="*/ 76680 w 75960"/>
              <a:gd name="textAreaTop" fmla="*/ 0 h 20520"/>
              <a:gd name="textAreaBottom" fmla="*/ 21240 h 20520"/>
            </a:gdLst>
            <a:ahLst/>
            <a:rect l="textAreaLeft" t="textAreaTop" r="textAreaRight" b="textAreaBottom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0440" bIns="10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79" name="Google Shape;2827;p94"/>
          <p:cNvSpPr/>
          <p:nvPr/>
        </p:nvSpPr>
        <p:spPr>
          <a:xfrm>
            <a:off x="5889600" y="2374560"/>
            <a:ext cx="176400" cy="22320"/>
          </a:xfrm>
          <a:custGeom>
            <a:avLst/>
            <a:gdLst>
              <a:gd name="textAreaLeft" fmla="*/ 0 w 176400"/>
              <a:gd name="textAreaRight" fmla="*/ 177120 w 176400"/>
              <a:gd name="textAreaTop" fmla="*/ 0 h 22320"/>
              <a:gd name="textAreaBottom" fmla="*/ 23040 h 22320"/>
            </a:gdLst>
            <a:ahLst/>
            <a:rect l="textAreaLeft" t="textAreaTop" r="textAreaRight" b="textAreaBottom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1520" bIns="1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80" name="Google Shape;2806;p94"/>
          <p:cNvSpPr/>
          <p:nvPr/>
        </p:nvSpPr>
        <p:spPr>
          <a:xfrm>
            <a:off x="9757440" y="1749600"/>
            <a:ext cx="738000" cy="694080"/>
          </a:xfrm>
          <a:custGeom>
            <a:avLst/>
            <a:gdLst>
              <a:gd name="textAreaLeft" fmla="*/ 0 w 738000"/>
              <a:gd name="textAreaRight" fmla="*/ 738720 w 738000"/>
              <a:gd name="textAreaTop" fmla="*/ 0 h 694080"/>
              <a:gd name="textAreaBottom" fmla="*/ 694800 h 694080"/>
            </a:gdLst>
            <a:ahLst/>
            <a:rect l="textAreaLeft" t="textAreaTop" r="textAreaRight" b="textAreaBottom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>
            <a:srgbClr val="fd0c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81" name="Google Shape;2807;p94"/>
          <p:cNvSpPr/>
          <p:nvPr/>
        </p:nvSpPr>
        <p:spPr>
          <a:xfrm>
            <a:off x="10315080" y="2192400"/>
            <a:ext cx="98280" cy="20520"/>
          </a:xfrm>
          <a:custGeom>
            <a:avLst/>
            <a:gdLst>
              <a:gd name="textAreaLeft" fmla="*/ 0 w 98280"/>
              <a:gd name="textAreaRight" fmla="*/ 99000 w 98280"/>
              <a:gd name="textAreaTop" fmla="*/ 0 h 20520"/>
              <a:gd name="textAreaBottom" fmla="*/ 21240 h 20520"/>
            </a:gdLst>
            <a:ahLst/>
            <a:rect l="textAreaLeft" t="textAreaTop" r="textAreaRight" b="textAreaBottom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0440" bIns="10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82" name="Google Shape;2808;p94"/>
          <p:cNvSpPr/>
          <p:nvPr/>
        </p:nvSpPr>
        <p:spPr>
          <a:xfrm>
            <a:off x="10240560" y="2231280"/>
            <a:ext cx="173160" cy="22320"/>
          </a:xfrm>
          <a:custGeom>
            <a:avLst/>
            <a:gdLst>
              <a:gd name="textAreaLeft" fmla="*/ 0 w 173160"/>
              <a:gd name="textAreaRight" fmla="*/ 173880 w 173160"/>
              <a:gd name="textAreaTop" fmla="*/ 0 h 22320"/>
              <a:gd name="textAreaBottom" fmla="*/ 23040 h 22320"/>
            </a:gdLst>
            <a:ahLst/>
            <a:rect l="textAreaLeft" t="textAreaTop" r="textAreaRight" b="textAreaBottom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1520" bIns="1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83" name="Google Shape;2809;p94"/>
          <p:cNvSpPr/>
          <p:nvPr/>
        </p:nvSpPr>
        <p:spPr>
          <a:xfrm>
            <a:off x="10240560" y="1903320"/>
            <a:ext cx="36000" cy="22320"/>
          </a:xfrm>
          <a:custGeom>
            <a:avLst/>
            <a:gdLst>
              <a:gd name="textAreaLeft" fmla="*/ 0 w 36000"/>
              <a:gd name="textAreaRight" fmla="*/ 36720 w 36000"/>
              <a:gd name="textAreaTop" fmla="*/ 0 h 22320"/>
              <a:gd name="textAreaBottom" fmla="*/ 23040 h 22320"/>
            </a:gdLst>
            <a:ahLst/>
            <a:rect l="textAreaLeft" t="textAreaTop" r="textAreaRight" b="textAreaBottom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1520" bIns="1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84" name="Google Shape;2810;p94"/>
          <p:cNvSpPr/>
          <p:nvPr/>
        </p:nvSpPr>
        <p:spPr>
          <a:xfrm>
            <a:off x="10294200" y="1903320"/>
            <a:ext cx="119160" cy="22320"/>
          </a:xfrm>
          <a:custGeom>
            <a:avLst/>
            <a:gdLst>
              <a:gd name="textAreaLeft" fmla="*/ 0 w 119160"/>
              <a:gd name="textAreaRight" fmla="*/ 119880 w 119160"/>
              <a:gd name="textAreaTop" fmla="*/ 0 h 22320"/>
              <a:gd name="textAreaBottom" fmla="*/ 23040 h 22320"/>
            </a:gdLst>
            <a:ahLst/>
            <a:rect l="textAreaLeft" t="textAreaTop" r="textAreaRight" b="textAreaBottom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1520" bIns="115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85" name="Google Shape;2811;p94"/>
          <p:cNvSpPr/>
          <p:nvPr/>
        </p:nvSpPr>
        <p:spPr>
          <a:xfrm>
            <a:off x="10240560" y="1943640"/>
            <a:ext cx="173160" cy="20520"/>
          </a:xfrm>
          <a:custGeom>
            <a:avLst/>
            <a:gdLst>
              <a:gd name="textAreaLeft" fmla="*/ 0 w 173160"/>
              <a:gd name="textAreaRight" fmla="*/ 173880 w 173160"/>
              <a:gd name="textAreaTop" fmla="*/ 0 h 20520"/>
              <a:gd name="textAreaBottom" fmla="*/ 21240 h 20520"/>
            </a:gdLst>
            <a:ahLst/>
            <a:rect l="textAreaLeft" t="textAreaTop" r="textAreaRight" b="textAreaBottom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0440" bIns="10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86" name="Google Shape;2812;p94"/>
          <p:cNvSpPr/>
          <p:nvPr/>
        </p:nvSpPr>
        <p:spPr>
          <a:xfrm>
            <a:off x="10240560" y="2008800"/>
            <a:ext cx="173160" cy="140400"/>
          </a:xfrm>
          <a:custGeom>
            <a:avLst/>
            <a:gdLst>
              <a:gd name="textAreaLeft" fmla="*/ 0 w 173160"/>
              <a:gd name="textAreaRight" fmla="*/ 173880 w 173160"/>
              <a:gd name="textAreaTop" fmla="*/ 0 h 140400"/>
              <a:gd name="textAreaBottom" fmla="*/ 141120 h 140400"/>
            </a:gdLst>
            <a:ahLst/>
            <a:rect l="textAreaLeft" t="textAreaTop" r="textAreaRight" b="textAreaBottom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0560" bIns="7056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87" name="Google Shape;2813;p94"/>
          <p:cNvSpPr/>
          <p:nvPr/>
        </p:nvSpPr>
        <p:spPr>
          <a:xfrm>
            <a:off x="9833760" y="1885320"/>
            <a:ext cx="364320" cy="369720"/>
          </a:xfrm>
          <a:custGeom>
            <a:avLst/>
            <a:gdLst>
              <a:gd name="textAreaLeft" fmla="*/ 0 w 364320"/>
              <a:gd name="textAreaRight" fmla="*/ 365040 w 364320"/>
              <a:gd name="textAreaTop" fmla="*/ 0 h 369720"/>
              <a:gd name="textAreaBottom" fmla="*/ 370440 h 369720"/>
            </a:gdLst>
            <a:ahLst/>
            <a:rect l="textAreaLeft" t="textAreaTop" r="textAreaRight" b="textAreaBottom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88" name="Google Shape;2814;p94"/>
          <p:cNvSpPr/>
          <p:nvPr/>
        </p:nvSpPr>
        <p:spPr>
          <a:xfrm>
            <a:off x="9844200" y="2227320"/>
            <a:ext cx="51480" cy="37080"/>
          </a:xfrm>
          <a:custGeom>
            <a:avLst/>
            <a:gdLst>
              <a:gd name="textAreaLeft" fmla="*/ 0 w 51480"/>
              <a:gd name="textAreaRight" fmla="*/ 52200 w 51480"/>
              <a:gd name="textAreaTop" fmla="*/ 0 h 37080"/>
              <a:gd name="textAreaBottom" fmla="*/ 37800 h 37080"/>
            </a:gdLst>
            <a:ahLst/>
            <a:rect l="textAreaLeft" t="textAreaTop" r="textAreaRight" b="textAreaBottom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8720" bIns="187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89" name="Google Shape;2815;p94"/>
          <p:cNvSpPr/>
          <p:nvPr/>
        </p:nvSpPr>
        <p:spPr>
          <a:xfrm>
            <a:off x="10037160" y="2075040"/>
            <a:ext cx="51480" cy="35640"/>
          </a:xfrm>
          <a:custGeom>
            <a:avLst/>
            <a:gdLst>
              <a:gd name="textAreaLeft" fmla="*/ 0 w 51480"/>
              <a:gd name="textAreaRight" fmla="*/ 52200 w 51480"/>
              <a:gd name="textAreaTop" fmla="*/ 0 h 35640"/>
              <a:gd name="textAreaBottom" fmla="*/ 36360 h 35640"/>
            </a:gdLst>
            <a:ahLst/>
            <a:rect l="textAreaLeft" t="textAreaTop" r="textAreaRight" b="textAreaBottom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8000" bIns="18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90" name="Google Shape;2816;p94"/>
          <p:cNvSpPr/>
          <p:nvPr/>
        </p:nvSpPr>
        <p:spPr>
          <a:xfrm>
            <a:off x="10151640" y="1905840"/>
            <a:ext cx="51480" cy="35640"/>
          </a:xfrm>
          <a:custGeom>
            <a:avLst/>
            <a:gdLst>
              <a:gd name="textAreaLeft" fmla="*/ 0 w 51480"/>
              <a:gd name="textAreaRight" fmla="*/ 52200 w 51480"/>
              <a:gd name="textAreaTop" fmla="*/ 0 h 35640"/>
              <a:gd name="textAreaBottom" fmla="*/ 36360 h 35640"/>
            </a:gdLst>
            <a:ahLst/>
            <a:rect l="textAreaLeft" t="textAreaTop" r="textAreaRight" b="textAreaBottom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>
            <a:srgbClr val="e4ea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8000" bIns="18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2400" spc="-1" strike="noStrike">
              <a:solidFill>
                <a:schemeClr val="dk1"/>
              </a:solidFill>
              <a:latin typeface="Montserrat"/>
              <a:ea typeface="Montserrat"/>
            </a:endParaRPr>
          </a:p>
        </p:txBody>
      </p:sp>
      <p:sp>
        <p:nvSpPr>
          <p:cNvPr id="391" name="Скругленный прямоугольник 17"/>
          <p:cNvSpPr/>
          <p:nvPr/>
        </p:nvSpPr>
        <p:spPr>
          <a:xfrm>
            <a:off x="9336960" y="1396440"/>
            <a:ext cx="1503720" cy="14004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0053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 type="title"/>
          </p:nvPr>
        </p:nvSpPr>
        <p:spPr>
          <a:xfrm>
            <a:off x="525960" y="421200"/>
            <a:ext cx="9861840" cy="37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1" lang="ru-RU" sz="2100" spc="-1" strike="noStrike">
                <a:solidFill>
                  <a:srgbClr val="ffffff"/>
                </a:solidFill>
                <a:latin typeface="Montserrat"/>
                <a:ea typeface="Montserrat"/>
              </a:rPr>
              <a:t>ЭКСПЕРИМЕНТЫ</a:t>
            </a:r>
            <a:endParaRPr b="0" lang="ru-RU" sz="21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393" name="Google Shape;2799;p94"/>
          <p:cNvCxnSpPr/>
          <p:nvPr/>
        </p:nvCxnSpPr>
        <p:spPr>
          <a:xfrm flipV="1">
            <a:off x="6842880" y="2118960"/>
            <a:ext cx="2490840" cy="13320"/>
          </a:xfrm>
          <a:prstGeom prst="straightConnector1">
            <a:avLst/>
          </a:prstGeom>
          <a:ln w="12700">
            <a:solidFill>
              <a:srgbClr val="ff0053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Скругленный прямоугольник 7"/>
          <p:cNvSpPr/>
          <p:nvPr/>
        </p:nvSpPr>
        <p:spPr>
          <a:xfrm>
            <a:off x="4419360" y="1522080"/>
            <a:ext cx="3398760" cy="46782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252" name="Скругленный прямоугольник 8"/>
          <p:cNvSpPr/>
          <p:nvPr/>
        </p:nvSpPr>
        <p:spPr>
          <a:xfrm>
            <a:off x="8366040" y="1522080"/>
            <a:ext cx="3247920" cy="46782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253" name="Скругленный прямоугольник 9"/>
          <p:cNvSpPr/>
          <p:nvPr/>
        </p:nvSpPr>
        <p:spPr>
          <a:xfrm>
            <a:off x="623880" y="1522080"/>
            <a:ext cx="3247920" cy="46782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>
            <a:solidFill>
              <a:srgbClr val="5209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1" lang="ru-RU" sz="1800" spc="-1" strike="noStrike">
              <a:solidFill>
                <a:schemeClr val="accent2"/>
              </a:solidFill>
              <a:latin typeface="Montserrat"/>
              <a:ea typeface="Montserrat"/>
            </a:endParaRPr>
          </a:p>
        </p:txBody>
      </p:sp>
      <p:sp>
        <p:nvSpPr>
          <p:cNvPr id="254" name="PlaceHolder 1"/>
          <p:cNvSpPr>
            <a:spLocks noGrp="1"/>
          </p:cNvSpPr>
          <p:nvPr>
            <p:ph type="sldNum" idx="69"/>
          </p:nvPr>
        </p:nvSpPr>
        <p:spPr>
          <a:xfrm>
            <a:off x="11413440" y="6356520"/>
            <a:ext cx="5583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lstStyle>
            <a:lvl1pPr indent="0" algn="ctr" defTabSz="914400">
              <a:lnSpc>
                <a:spcPct val="108000"/>
              </a:lnSpc>
              <a:buNone/>
              <a:tabLst>
                <a:tab algn="l" pos="0"/>
              </a:tabLst>
              <a:defRPr b="0" lang="ru-RU" sz="1130" spc="-1" strike="noStrike">
                <a:solidFill>
                  <a:srgbClr val="520978"/>
                </a:solidFill>
                <a:latin typeface="Montserrat"/>
                <a:ea typeface="Montserrat"/>
              </a:defRPr>
            </a:lvl1pPr>
          </a:lstStyle>
          <a:p>
            <a:pPr indent="0" algn="ctr" defTabSz="914400">
              <a:lnSpc>
                <a:spcPct val="108000"/>
              </a:lnSpc>
              <a:buNone/>
              <a:tabLst>
                <a:tab algn="l" pos="0"/>
              </a:tabLst>
            </a:pPr>
            <a:fld id="{CA19FB5B-6878-4BB0-B3BE-F3D3C195FDDA}" type="slidenum">
              <a:rPr b="0" lang="ru-RU" sz="1130" spc="-1" strike="noStrike">
                <a:solidFill>
                  <a:srgbClr val="520978"/>
                </a:solidFill>
                <a:latin typeface="Montserrat"/>
                <a:ea typeface="Montserrat"/>
              </a:rPr>
              <a:t>6</a:t>
            </a:fld>
            <a:endParaRPr b="0" lang="ru-RU" sz="11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/>
          </p:nvPr>
        </p:nvSpPr>
        <p:spPr>
          <a:xfrm>
            <a:off x="780480" y="2493000"/>
            <a:ext cx="2964960" cy="42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  <a:ea typeface="Montserrat"/>
              </a:rPr>
              <a:t>У ПОЛКИ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/>
          </p:nvPr>
        </p:nvSpPr>
        <p:spPr>
          <a:xfrm>
            <a:off x="780480" y="3128760"/>
            <a:ext cx="2964960" cy="279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Покупатель снимает бутылку телефоном — сервис открывает карточку вина из каталога «Своё Вино».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4"/>
          <p:cNvSpPr>
            <a:spLocks noGrp="1"/>
          </p:cNvSpPr>
          <p:nvPr>
            <p:ph/>
          </p:nvPr>
        </p:nvSpPr>
        <p:spPr>
          <a:xfrm>
            <a:off x="4623120" y="2493000"/>
            <a:ext cx="3034080" cy="40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  <a:ea typeface="Montserrat"/>
              </a:rPr>
              <a:t>ОДНА КАРТОЧКА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5"/>
          <p:cNvSpPr>
            <a:spLocks noGrp="1"/>
          </p:cNvSpPr>
          <p:nvPr>
            <p:ph/>
          </p:nvPr>
        </p:nvSpPr>
        <p:spPr>
          <a:xfrm>
            <a:off x="4623120" y="3128760"/>
            <a:ext cx="3034080" cy="279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Не экран вариантов: уверенный ответ — одна карточка, спорный — карточка с оговоркой и «Не оно?».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6"/>
          <p:cNvSpPr>
            <a:spLocks noGrp="1"/>
          </p:cNvSpPr>
          <p:nvPr>
            <p:ph/>
          </p:nvPr>
        </p:nvSpPr>
        <p:spPr>
          <a:xfrm>
            <a:off x="8547840" y="2493000"/>
            <a:ext cx="2944800" cy="403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rgbClr val="520978"/>
                </a:solidFill>
                <a:latin typeface="Montserrat"/>
                <a:ea typeface="Montserrat"/>
              </a:rPr>
              <a:t>ЧЕСТНЫЙ ОТКАЗ</a:t>
            </a:r>
            <a:endParaRPr b="0" lang="ru-RU" sz="172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7"/>
          <p:cNvSpPr>
            <a:spLocks noGrp="1"/>
          </p:cNvSpPr>
          <p:nvPr>
            <p:ph/>
          </p:nvPr>
        </p:nvSpPr>
        <p:spPr>
          <a:xfrm>
            <a:off x="8547840" y="3128760"/>
            <a:ext cx="2944800" cy="279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8000"/>
              </a:lnSpc>
              <a:buNone/>
              <a:tabLst>
                <a:tab algn="l" pos="0"/>
              </a:tabLst>
            </a:pPr>
            <a:r>
              <a:rPr b="0" lang="ru-RU" sz="1580" spc="-1" strike="noStrike">
                <a:solidFill>
                  <a:srgbClr val="1c1d22"/>
                </a:solidFill>
                <a:latin typeface="Montserrat"/>
                <a:ea typeface="Montserrat"/>
              </a:rPr>
              <a:t>Вина нет в каталоге — «не удалось уверенно определить», вина той же винодельни и аналоги по этикетке.</a:t>
            </a:r>
            <a:endParaRPr b="0" lang="ru-RU" sz="1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8"/>
          <p:cNvSpPr>
            <a:spLocks noGrp="1"/>
          </p:cNvSpPr>
          <p:nvPr>
            <p:ph type="title"/>
          </p:nvPr>
        </p:nvSpPr>
        <p:spPr>
          <a:xfrm>
            <a:off x="525960" y="335520"/>
            <a:ext cx="11330640" cy="37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2000" spc="-1" strike="noStrike">
                <a:solidFill>
                  <a:srgbClr val="310f53"/>
                </a:solidFill>
                <a:latin typeface="Montserrat"/>
                <a:ea typeface="Montserrat"/>
              </a:rPr>
              <a:t>КОНЦЕПЦИЯ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9"/>
          <p:cNvSpPr>
            <a:spLocks noGrp="1"/>
          </p:cNvSpPr>
          <p:nvPr>
            <p:ph/>
          </p:nvPr>
        </p:nvSpPr>
        <p:spPr>
          <a:xfrm>
            <a:off x="780480" y="1772280"/>
            <a:ext cx="1310400" cy="60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  <a:ea typeface="Montserrat"/>
              </a:rPr>
              <a:t>01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10"/>
          <p:cNvSpPr>
            <a:spLocks noGrp="1"/>
          </p:cNvSpPr>
          <p:nvPr>
            <p:ph/>
          </p:nvPr>
        </p:nvSpPr>
        <p:spPr>
          <a:xfrm>
            <a:off x="4615200" y="1772280"/>
            <a:ext cx="1310400" cy="60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  <a:ea typeface="Montserrat"/>
              </a:rPr>
              <a:t>02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11"/>
          <p:cNvSpPr>
            <a:spLocks noGrp="1"/>
          </p:cNvSpPr>
          <p:nvPr>
            <p:ph/>
          </p:nvPr>
        </p:nvSpPr>
        <p:spPr>
          <a:xfrm>
            <a:off x="8543880" y="1772280"/>
            <a:ext cx="2476080" cy="600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2800" spc="-1" strike="noStrike">
                <a:solidFill>
                  <a:srgbClr val="ff0053"/>
                </a:solidFill>
                <a:latin typeface="Montserrat"/>
                <a:ea typeface="Montserrat"/>
              </a:rPr>
              <a:t>03</a:t>
            </a:r>
            <a:endParaRPr b="0" lang="ru-RU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2026-09-28T06:20:45Z</dcterms:created>
  <dc:creator>Walnut Exporter</dc:creator>
  <dc:description/>
  <dc:language>ru-RU</dc:language>
  <cp:lastModifiedBy/>
  <dcterms:modified xsi:type="dcterms:W3CDTF">2026-09-28T11:39:38Z</dcterms:modified>
  <cp:revision>2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